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65" r:id="rId4"/>
    <p:sldId id="257" r:id="rId5"/>
    <p:sldId id="258" r:id="rId6"/>
    <p:sldId id="259" r:id="rId7"/>
    <p:sldId id="260" r:id="rId8"/>
    <p:sldId id="263" r:id="rId9"/>
    <p:sldId id="261" r:id="rId10"/>
    <p:sldId id="262" r:id="rId11"/>
    <p:sldId id="264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4310"/>
    <p:restoredTop sz="94681"/>
  </p:normalViewPr>
  <p:slideViewPr>
    <p:cSldViewPr snapToGrid="0">
      <p:cViewPr>
        <p:scale>
          <a:sx n="70" d="100"/>
          <a:sy n="70" d="100"/>
        </p:scale>
        <p:origin x="288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C64E3-C51E-1B4B-9DBC-843A490E786F}" type="datetimeFigureOut">
              <a:rPr lang="en-CN" smtClean="0"/>
              <a:t>2025/6/3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4AA96-C0D4-0948-AF70-8F38380808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60486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4AA96-C0D4-0948-AF70-8F38380808D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1531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4AA96-C0D4-0948-AF70-8F38380808DE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65814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B596-C028-753E-68D9-81BEA36EE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9732B6-4C9A-7FB6-4E09-F5D6300E6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C405C-2856-2F1C-F437-6ED4DDE1E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E675-B63B-164B-B128-E9615F5E9FA4}" type="datetimeFigureOut">
              <a:rPr lang="en-CN" smtClean="0"/>
              <a:t>2025/6/3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C889A-0CBB-4D61-0E5C-C7D2967D9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C5F22-3A62-BD12-6BB1-240FA8EE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C0ED-C2D4-4140-8086-3A71B35BF71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499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5FC34-5660-6C1B-D2B9-35674C9A8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5EB4D-6E3E-E1A8-0FA1-2FD728371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AAB21-AAD6-B90E-A570-ACA8542EB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E675-B63B-164B-B128-E9615F5E9FA4}" type="datetimeFigureOut">
              <a:rPr lang="en-CN" smtClean="0"/>
              <a:t>2025/6/3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0396A-C0B2-3EEF-B5E5-ED70316B6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64611-5AF1-AAE6-2F92-38F21A9F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C0ED-C2D4-4140-8086-3A71B35BF71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6999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08813-6E14-5D87-F8E5-987EB2547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1E878-C79C-5AA6-F7D0-75B0C781B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59B56-B6EC-D120-128F-FA03ADA8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E675-B63B-164B-B128-E9615F5E9FA4}" type="datetimeFigureOut">
              <a:rPr lang="en-CN" smtClean="0"/>
              <a:t>2025/6/3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04B58-11BE-40CC-59F7-779485971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318D1-D259-7C3E-795F-0F8080E7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C0ED-C2D4-4140-8086-3A71B35BF71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0393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4F60D-334F-65AA-CA1B-56D50EF17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B5234-0F3C-6773-86A9-87321ECE9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2BE8F2-C783-B8BF-144D-848DD66F5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67DC7-ECAF-95A0-C3E2-A897546F7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E675-B63B-164B-B128-E9615F5E9FA4}" type="datetimeFigureOut">
              <a:rPr lang="en-CN" smtClean="0"/>
              <a:t>2025/6/3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7AFD1-28BF-6B1F-BB90-1ABA7B883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40A74-15D0-BB9C-FB8A-E1E3EF0E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C0ED-C2D4-4140-8086-3A71B35BF71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92577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2B030-215E-92C8-C9E5-59913E43C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6ACAE-8600-8AC1-A44E-E18C4CABE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C919E-F814-4670-5F23-14C42E3A8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BD6075-41B9-74C3-2558-479E10561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F88C0-79D6-87A2-ED21-10A6A9CD0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E0C673-1E6D-07D9-01B7-FA61EA112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E675-B63B-164B-B128-E9615F5E9FA4}" type="datetimeFigureOut">
              <a:rPr lang="en-CN" smtClean="0"/>
              <a:t>2025/6/3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C9E1F4-AEC9-A3B9-202C-212BF4BA5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7F5E4-8551-DE09-7EC6-77A3A239E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C0ED-C2D4-4140-8086-3A71B35BF71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67318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352B-A5B1-3F30-C843-D810D316F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09FEA7-ECFE-B4BA-D995-581E4AB66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E675-B63B-164B-B128-E9615F5E9FA4}" type="datetimeFigureOut">
              <a:rPr lang="en-CN" smtClean="0"/>
              <a:t>2025/6/3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C817CD-B8AE-3F7A-53B5-97A4B7E15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B639BF-9684-7D35-00F2-CC8D8C3A5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C0ED-C2D4-4140-8086-3A71B35BF71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95887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F49726-D094-21CA-F7C4-94856FF78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E675-B63B-164B-B128-E9615F5E9FA4}" type="datetimeFigureOut">
              <a:rPr lang="en-CN" smtClean="0"/>
              <a:t>2025/6/3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3345B-C7FC-FCC1-9FDB-BC82D65CB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DB51E-8026-E153-A4BD-5976108F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C0ED-C2D4-4140-8086-3A71B35BF71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6812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40DA3-272B-E336-D1FC-91F5971F2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AA122-0E67-EC7E-FCCC-A1AA4135D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C4895-E859-EAC9-6BBD-133308795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8949C-BD29-B346-6A7F-75D8FBAD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E675-B63B-164B-B128-E9615F5E9FA4}" type="datetimeFigureOut">
              <a:rPr lang="en-CN" smtClean="0"/>
              <a:t>2025/6/3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26B80-228C-BAA4-655D-2AD69974B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A436F-9BBC-4E0A-8250-8BA6E9CE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C0ED-C2D4-4140-8086-3A71B35BF71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2234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15679-5FB5-ECF2-4D43-0B22AE74F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488F8C-AC5D-9614-D090-39DF46DC84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529C0-9176-0C41-34AB-DB8CA2EA8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D97E0-D168-2F67-58DD-BDB6BEB2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E675-B63B-164B-B128-E9615F5E9FA4}" type="datetimeFigureOut">
              <a:rPr lang="en-CN" smtClean="0"/>
              <a:t>2025/6/3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B4377-C9FB-9A58-35F2-1891AFEFD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19EB5-CC1F-930C-8036-6E5F9084F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C0ED-C2D4-4140-8086-3A71B35BF71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23091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F9C40-9A00-33EC-68AE-3E657A8F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D8A866-56C1-80A5-B142-2217B24A0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91DD8-0546-E1B5-84C4-5437B1C7C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E675-B63B-164B-B128-E9615F5E9FA4}" type="datetimeFigureOut">
              <a:rPr lang="en-CN" smtClean="0"/>
              <a:t>2025/6/3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CFC7F-8ECF-415A-3301-7AB54673B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0B849-A4DB-2E58-38FB-355CA510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C0ED-C2D4-4140-8086-3A71B35BF71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57700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C59400-841D-06BD-9652-C9923E8B91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25EFA1-DE75-6553-4E4D-AC90216A6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AF6AB-1EB9-3A8F-83DD-03FF9B9E5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E675-B63B-164B-B128-E9615F5E9FA4}" type="datetimeFigureOut">
              <a:rPr lang="en-CN" smtClean="0"/>
              <a:t>2025/6/3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5ADA7-02D4-3D05-611D-892E748D4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E311C-DB67-AA55-35A6-4EDA7B074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C0ED-C2D4-4140-8086-3A71B35BF71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3552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B9BF64-E61D-41DD-EC65-32B4E87D6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4F363-140A-2664-B2F3-838753D94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67398-DA43-899C-ED18-8AA8F7D32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ACE675-B63B-164B-B128-E9615F5E9FA4}" type="datetimeFigureOut">
              <a:rPr lang="en-CN" smtClean="0"/>
              <a:t>2025/6/3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4F3D7-E01C-CB13-94EB-60DBF1400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63B25-6737-C7EF-33F9-904821C55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55C0ED-C2D4-4140-8086-3A71B35BF71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40103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71F5-3297-2529-5DA6-E813124DE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6756" y="1453243"/>
            <a:ext cx="10258483" cy="1088735"/>
          </a:xfrm>
        </p:spPr>
        <p:txBody>
          <a:bodyPr>
            <a:normAutofit fontScale="90000"/>
          </a:bodyPr>
          <a:lstStyle/>
          <a:p>
            <a:r>
              <a:rPr lang="en-CN" b="1" dirty="0">
                <a:latin typeface="SimHei" panose="02010609060101010101" pitchFamily="49" charset="-122"/>
                <a:ea typeface="SimHei" panose="02010609060101010101" pitchFamily="49" charset="-122"/>
              </a:rPr>
              <a:t>VS 2022 调试工具使用方法报告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280ED5-7D21-389D-4A8F-E6DDECB9C33B}"/>
              </a:ext>
            </a:extLst>
          </p:cNvPr>
          <p:cNvSpPr txBox="1"/>
          <p:nvPr/>
        </p:nvSpPr>
        <p:spPr>
          <a:xfrm>
            <a:off x="3050552" y="3103590"/>
            <a:ext cx="6090893" cy="2669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姓名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r>
              <a:rPr lang="en-CN" altLang="zh-CN" sz="2800" u="sng" dirty="0">
                <a:latin typeface="SimSun" panose="02010600030101010101" pitchFamily="2" charset="-122"/>
                <a:ea typeface="SimSun" panose="02010600030101010101" pitchFamily="2" charset="-122"/>
              </a:rPr>
              <a:t>		</a:t>
            </a:r>
            <a:r>
              <a:rPr lang="zh-CN" altLang="en-CN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汤皓宇</a:t>
            </a:r>
            <a:r>
              <a:rPr lang="en-US" altLang="zh-CN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        </a:t>
            </a:r>
            <a:r>
              <a:rPr lang="en-US" altLang="zh-CN" sz="2800" b="1" u="sng" dirty="0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_</a:t>
            </a:r>
            <a:r>
              <a:rPr lang="en-US" altLang="zh-CN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    </a:t>
            </a:r>
            <a:r>
              <a:rPr lang="zh-CN" altLang="en-US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     </a:t>
            </a:r>
            <a:endParaRPr lang="en-US" altLang="zh-CN" sz="2800" b="1" u="sng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学号：</a:t>
            </a:r>
            <a:r>
              <a:rPr lang="en-US" altLang="zh-CN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		2454307         </a:t>
            </a:r>
            <a:r>
              <a:rPr lang="en-US" altLang="zh-CN" sz="2800" b="1" u="sng" dirty="0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_</a:t>
            </a:r>
            <a:r>
              <a:rPr lang="en-US" altLang="zh-CN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班级：</a:t>
            </a:r>
            <a:r>
              <a:rPr lang="en-US" altLang="zh-CN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      </a:t>
            </a:r>
            <a:r>
              <a:rPr lang="en-CN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500024400160</a:t>
            </a:r>
            <a:r>
              <a:rPr lang="en-US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8</a:t>
            </a:r>
            <a:r>
              <a:rPr lang="en-US" altLang="zh-CN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      </a:t>
            </a:r>
            <a:r>
              <a:rPr lang="en-US" altLang="zh-CN" sz="2800" b="1" u="sng" dirty="0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_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完成日期：</a:t>
            </a:r>
            <a:r>
              <a:rPr lang="en-US" altLang="zh-CN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	   2025</a:t>
            </a:r>
            <a:r>
              <a:rPr lang="zh-CN" altLang="en-US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年</a:t>
            </a:r>
            <a:r>
              <a:rPr lang="en-US" altLang="zh-CN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6</a:t>
            </a:r>
            <a:r>
              <a:rPr lang="zh-CN" altLang="en-US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月</a:t>
            </a:r>
            <a:r>
              <a:rPr lang="en-US" altLang="zh-CN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4</a:t>
            </a:r>
            <a:r>
              <a:rPr lang="zh-CN" altLang="en-US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日</a:t>
            </a:r>
            <a:r>
              <a:rPr lang="en-US" altLang="zh-CN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    </a:t>
            </a:r>
            <a:r>
              <a:rPr lang="en-US" altLang="zh-CN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800" b="1" u="sng" dirty="0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_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238752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3C0160-9F26-A7FE-E5B3-16FB78AAD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1574800"/>
            <a:ext cx="7772400" cy="45705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2D7FBD-CB1D-E1D9-49E6-99B1205CEB42}"/>
              </a:ext>
            </a:extLst>
          </p:cNvPr>
          <p:cNvSpPr txBox="1"/>
          <p:nvPr/>
        </p:nvSpPr>
        <p:spPr>
          <a:xfrm>
            <a:off x="793750" y="457200"/>
            <a:ext cx="110202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在开始之前</a:t>
            </a: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，首先要取消勾选</a:t>
            </a:r>
            <a:r>
              <a:rPr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”Enable Just My Code”</a:t>
            </a: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（仅我的代码）选项，否则调试无法进入系统函数。</a:t>
            </a:r>
            <a:endParaRPr lang="en-CN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44E524-C15B-71E4-CC0E-5458D6A6EB92}"/>
              </a:ext>
            </a:extLst>
          </p:cNvPr>
          <p:cNvCxnSpPr/>
          <p:nvPr/>
        </p:nvCxnSpPr>
        <p:spPr>
          <a:xfrm flipH="1">
            <a:off x="5285232" y="2322576"/>
            <a:ext cx="1078992" cy="310896"/>
          </a:xfrm>
          <a:prstGeom prst="straightConnector1">
            <a:avLst/>
          </a:prstGeom>
          <a:ln w="1270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48C9CB9-528E-1A97-2745-DB5125764351}"/>
              </a:ext>
            </a:extLst>
          </p:cNvPr>
          <p:cNvSpPr txBox="1"/>
          <p:nvPr/>
        </p:nvSpPr>
        <p:spPr>
          <a:xfrm>
            <a:off x="8857488" y="5775990"/>
            <a:ext cx="295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>
                <a:latin typeface="SimSun" panose="02010600030101010101" pitchFamily="2" charset="-122"/>
                <a:ea typeface="SimSun" panose="02010600030101010101" pitchFamily="2" charset="-122"/>
              </a:rPr>
              <a:t>涉及知识点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1.3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1.5</a:t>
            </a:r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2652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215A2CB-BD5A-AB71-7FCB-E86C4D4FA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73" y="120650"/>
            <a:ext cx="5092700" cy="66167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EA8EF1-2FC3-3FDC-A454-7884A47AA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0650"/>
            <a:ext cx="5054600" cy="1003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D588B1-D69C-6B24-92B1-37C4546F5987}"/>
              </a:ext>
            </a:extLst>
          </p:cNvPr>
          <p:cNvSpPr txBox="1"/>
          <p:nvPr/>
        </p:nvSpPr>
        <p:spPr>
          <a:xfrm>
            <a:off x="6096000" y="2967335"/>
            <a:ext cx="505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截图为测试用代码</a:t>
            </a: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，左侧为测试用</a:t>
            </a:r>
            <a:r>
              <a:rPr lang="zh-CN" altLang="en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主代码</a:t>
            </a: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，上方有另一个文件内容，用于展示外部全局变量的变化情况。</a:t>
            </a:r>
            <a:endParaRPr lang="en-CN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472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2DB6052-7866-1961-2BC0-269346D4C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5" y="0"/>
            <a:ext cx="6429375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4D4A8D-6D6B-3283-DAE8-FC35DD023032}"/>
              </a:ext>
            </a:extLst>
          </p:cNvPr>
          <p:cNvSpPr txBox="1"/>
          <p:nvPr/>
        </p:nvSpPr>
        <p:spPr>
          <a:xfrm>
            <a:off x="546266" y="688769"/>
            <a:ext cx="440574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>
                <a:latin typeface="SimSun" panose="02010600030101010101" pitchFamily="2" charset="-122"/>
                <a:ea typeface="SimSun" panose="02010600030101010101" pitchFamily="2" charset="-122"/>
              </a:rPr>
              <a:t>第一步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：点击数字列左侧打好断点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第二部：按下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F5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开始调试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CN" b="1" dirty="0">
                <a:latin typeface="SimSun" panose="02010600030101010101" pitchFamily="2" charset="-122"/>
                <a:ea typeface="SimSun" panose="02010600030101010101" pitchFamily="2" charset="-122"/>
              </a:rPr>
              <a:t>涉及知识点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1.1</a:t>
            </a:r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54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CD1848-11DF-F231-3F87-F4B33A520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794" y="0"/>
            <a:ext cx="5662206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C08256-12BD-3948-DE75-1CC45C4BE399}"/>
              </a:ext>
            </a:extLst>
          </p:cNvPr>
          <p:cNvSpPr txBox="1"/>
          <p:nvPr/>
        </p:nvSpPr>
        <p:spPr>
          <a:xfrm>
            <a:off x="581891" y="641268"/>
            <a:ext cx="501138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>
                <a:latin typeface="SimSun" panose="02010600030101010101" pitchFamily="2" charset="-122"/>
                <a:ea typeface="SimSun" panose="02010600030101010101" pitchFamily="2" charset="-122"/>
              </a:rPr>
              <a:t>接下来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b="1" dirty="0" err="1">
                <a:latin typeface="SimSun" panose="02010600030101010101" pitchFamily="2" charset="-122"/>
                <a:ea typeface="SimSun" panose="02010600030101010101" pitchFamily="2" charset="-122"/>
              </a:rPr>
              <a:t>如果想退出调试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，则按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Shift+F5</a:t>
            </a:r>
          </a:p>
          <a:p>
            <a:r>
              <a:rPr lang="en-US" b="1" dirty="0" err="1">
                <a:latin typeface="SimSun" panose="02010600030101010101" pitchFamily="2" charset="-122"/>
                <a:ea typeface="SimSun" panose="02010600030101010101" pitchFamily="2" charset="-122"/>
              </a:rPr>
              <a:t>如果想跳转到下一个断点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，则按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F5</a:t>
            </a: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遇到系统函数，如</a:t>
            </a:r>
            <a:r>
              <a:rPr lang="en-US" altLang="zh-CN" b="1" dirty="0" err="1">
                <a:latin typeface="SimSun" panose="02010600030101010101" pitchFamily="2" charset="-122"/>
                <a:ea typeface="SimSun" panose="02010600030101010101" pitchFamily="2" charset="-122"/>
              </a:rPr>
              <a:t>cout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sqrt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时：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想进入函数单步调试，则按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F11</a:t>
            </a:r>
          </a:p>
          <a:p>
            <a:r>
              <a:rPr lang="en-US" b="1" dirty="0" err="1">
                <a:latin typeface="SimSun" panose="02010600030101010101" pitchFamily="2" charset="-122"/>
                <a:ea typeface="SimSun" panose="02010600030101010101" pitchFamily="2" charset="-122"/>
              </a:rPr>
              <a:t>如果想单步跳过系统函数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，则按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F10</a:t>
            </a:r>
          </a:p>
          <a:p>
            <a:r>
              <a:rPr lang="en-US" b="1" dirty="0" err="1">
                <a:latin typeface="SimSun" panose="02010600030101010101" pitchFamily="2" charset="-122"/>
                <a:ea typeface="SimSun" panose="02010600030101010101" pitchFamily="2" charset="-122"/>
              </a:rPr>
              <a:t>如果想从系统函数跳出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，则按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Shift+F11</a:t>
            </a: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b="1" dirty="0" err="1">
                <a:latin typeface="SimSun" panose="02010600030101010101" pitchFamily="2" charset="-122"/>
                <a:ea typeface="SimSun" panose="02010600030101010101" pitchFamily="2" charset="-122"/>
              </a:rPr>
              <a:t>涉及知识点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1.1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1.2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1.3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1.4</a:t>
            </a:r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3519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B219E-A5D3-5C75-AA32-E060B84C4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ACDF3C-598D-7AF6-BBC7-404E2CDB7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90030"/>
            <a:ext cx="7772400" cy="29389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2699A4-8370-3D8D-4543-0569861F33E8}"/>
              </a:ext>
            </a:extLst>
          </p:cNvPr>
          <p:cNvSpPr txBox="1"/>
          <p:nvPr/>
        </p:nvSpPr>
        <p:spPr>
          <a:xfrm>
            <a:off x="1054925" y="3782647"/>
            <a:ext cx="100821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>
                <a:latin typeface="SimSun" panose="02010600030101010101" pitchFamily="2" charset="-122"/>
                <a:ea typeface="SimSun" panose="02010600030101010101" pitchFamily="2" charset="-122"/>
              </a:rPr>
              <a:t>遇到自定义函数时候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若想跳过函数执行，按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F10</a:t>
            </a:r>
          </a:p>
          <a:p>
            <a:r>
              <a:rPr lang="en-US" b="1" dirty="0" err="1">
                <a:latin typeface="SimSun" panose="02010600030101010101" pitchFamily="2" charset="-122"/>
                <a:ea typeface="SimSun" panose="02010600030101010101" pitchFamily="2" charset="-122"/>
              </a:rPr>
              <a:t>若想进入函数单步执行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，按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F11</a:t>
            </a:r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CN" b="1" dirty="0">
                <a:latin typeface="SimSun" panose="02010600030101010101" pitchFamily="2" charset="-122"/>
                <a:ea typeface="SimSun" panose="02010600030101010101" pitchFamily="2" charset="-122"/>
              </a:rPr>
              <a:t>涉及知识点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1.5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1.6</a:t>
            </a:r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9624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60BAA-7FD6-1590-1C9D-96BC89A37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4E8213-ACC9-0FCA-65B5-1EB80D759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79" y="0"/>
            <a:ext cx="5655592" cy="43485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B214CA-04FB-2327-5C92-D09AB4040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-1"/>
            <a:ext cx="5710758" cy="43485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B3F6D7-BF09-37AE-86B4-4EA8CD8C1501}"/>
              </a:ext>
            </a:extLst>
          </p:cNvPr>
          <p:cNvSpPr txBox="1"/>
          <p:nvPr/>
        </p:nvSpPr>
        <p:spPr>
          <a:xfrm>
            <a:off x="2171715" y="4340441"/>
            <a:ext cx="1626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i="1" dirty="0">
                <a:latin typeface="SimSun" panose="02010600030101010101" pitchFamily="2" charset="-122"/>
                <a:ea typeface="SimSun" panose="02010600030101010101" pitchFamily="2" charset="-122"/>
              </a:rPr>
              <a:t>未进入函数时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623567-CB0F-45FD-BCEE-72A1FFDBC6C9}"/>
              </a:ext>
            </a:extLst>
          </p:cNvPr>
          <p:cNvSpPr txBox="1"/>
          <p:nvPr/>
        </p:nvSpPr>
        <p:spPr>
          <a:xfrm>
            <a:off x="8137920" y="4366979"/>
            <a:ext cx="1626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i="1" dirty="0">
                <a:latin typeface="SimSun" panose="02010600030101010101" pitchFamily="2" charset="-122"/>
                <a:ea typeface="SimSun" panose="02010600030101010101" pitchFamily="2" charset="-122"/>
              </a:rPr>
              <a:t>进入函数后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6DB32D-4245-54E0-292B-DD002C951432}"/>
              </a:ext>
            </a:extLst>
          </p:cNvPr>
          <p:cNvSpPr txBox="1"/>
          <p:nvPr/>
        </p:nvSpPr>
        <p:spPr>
          <a:xfrm>
            <a:off x="289500" y="4728194"/>
            <a:ext cx="110469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>
                <a:latin typeface="SimSun" panose="02010600030101010101" pitchFamily="2" charset="-122"/>
                <a:ea typeface="SimSun" panose="02010600030101010101" pitchFamily="2" charset="-122"/>
              </a:rPr>
              <a:t>进入函数前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：能够在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Value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栏中观察到自动变量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num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；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	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          静态全局变量</a:t>
            </a:r>
            <a:r>
              <a:rPr lang="en-US" altLang="zh-CN" b="1" dirty="0" err="1">
                <a:latin typeface="SimSun" panose="02010600030101010101" pitchFamily="2" charset="-122"/>
                <a:ea typeface="SimSun" panose="02010600030101010101" pitchFamily="2" charset="-122"/>
              </a:rPr>
              <a:t>s_global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 （</a:t>
            </a:r>
            <a:r>
              <a:rPr lang="zh-CN" altLang="en-CN" b="1" dirty="0">
                <a:latin typeface="SimSun" panose="02010600030101010101" pitchFamily="2" charset="-122"/>
                <a:ea typeface="SimSun" panose="02010600030101010101" pitchFamily="2" charset="-122"/>
              </a:rPr>
              <a:t>参考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P2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中代码，此处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=100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b="1" dirty="0" err="1">
                <a:latin typeface="SimSun" panose="02010600030101010101" pitchFamily="2" charset="-122"/>
                <a:ea typeface="SimSun" panose="02010600030101010101" pitchFamily="2" charset="-122"/>
              </a:rPr>
              <a:t>main.cpp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，并非</a:t>
            </a:r>
            <a:r>
              <a:rPr lang="en-US" altLang="zh-CN" b="1" dirty="0" err="1">
                <a:latin typeface="SimSun" panose="02010600030101010101" pitchFamily="2" charset="-122"/>
                <a:ea typeface="SimSun" panose="02010600030101010101" pitchFamily="2" charset="-122"/>
              </a:rPr>
              <a:t>extern.cpp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	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          能找到外部全局变量</a:t>
            </a:r>
            <a:r>
              <a:rPr lang="en-US" altLang="zh-CN" b="1" dirty="0" err="1">
                <a:latin typeface="SimSun" panose="02010600030101010101" pitchFamily="2" charset="-122"/>
                <a:ea typeface="SimSun" panose="02010600030101010101" pitchFamily="2" charset="-122"/>
              </a:rPr>
              <a:t>g_extern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	          </a:t>
            </a:r>
            <a:r>
              <a:rPr lang="en-US" b="1" dirty="0" err="1">
                <a:latin typeface="SimSun" panose="02010600030101010101" pitchFamily="2" charset="-122"/>
                <a:ea typeface="SimSun" panose="02010600030101010101" pitchFamily="2" charset="-122"/>
              </a:rPr>
              <a:t>能观察到一维数组和单下标二维数组的地址和内容</a:t>
            </a:r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CN" b="1" dirty="0">
                <a:latin typeface="SimSun" panose="02010600030101010101" pitchFamily="2" charset="-122"/>
                <a:ea typeface="SimSun" panose="02010600030101010101" pitchFamily="2" charset="-122"/>
              </a:rPr>
              <a:t>进入函数后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num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arr1D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arr2D[0]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超出作用域，无法查看变化，点击刷新后会显示错误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	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          静态局部变量</a:t>
            </a:r>
            <a:r>
              <a:rPr lang="en-US" altLang="zh-CN" b="1" dirty="0" err="1">
                <a:latin typeface="SimSun" panose="02010600030101010101" pitchFamily="2" charset="-122"/>
                <a:ea typeface="SimSun" panose="02010600030101010101" pitchFamily="2" charset="-122"/>
              </a:rPr>
              <a:t>s_local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进入作用域，此时可以查看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涉及内容：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2.1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2.2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2.3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2.4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3.1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3.3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3.5</a:t>
            </a:r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2458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262DB11-E3EF-140F-509C-2D7DD20D6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43" y="0"/>
            <a:ext cx="8290514" cy="45230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DE5DB2-3165-7842-0526-9DF0E0751AF2}"/>
              </a:ext>
            </a:extLst>
          </p:cNvPr>
          <p:cNvSpPr txBox="1"/>
          <p:nvPr/>
        </p:nvSpPr>
        <p:spPr>
          <a:xfrm>
            <a:off x="1950743" y="4898571"/>
            <a:ext cx="47276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>
                <a:latin typeface="SimSun" panose="02010600030101010101" pitchFamily="2" charset="-122"/>
                <a:ea typeface="SimSun" panose="02010600030101010101" pitchFamily="2" charset="-122"/>
              </a:rPr>
              <a:t>显示了char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/int/float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型简单变量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涉及知识点：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3.1</a:t>
            </a:r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6114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7D46B47-FC04-1DA7-C316-AEB2BF12AA04}"/>
              </a:ext>
            </a:extLst>
          </p:cNvPr>
          <p:cNvSpPr txBox="1"/>
          <p:nvPr/>
        </p:nvSpPr>
        <p:spPr>
          <a:xfrm>
            <a:off x="805542" y="4620985"/>
            <a:ext cx="105809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SimSun" panose="02010600030101010101" pitchFamily="2" charset="-122"/>
                <a:ea typeface="SimSun" panose="02010600030101010101" pitchFamily="2" charset="-122"/>
              </a:rPr>
              <a:t>指针p</a:t>
            </a:r>
            <a:r>
              <a:rPr lang="en-CN" b="1" dirty="0">
                <a:latin typeface="SimSun" panose="02010600030101010101" pitchFamily="2" charset="-122"/>
                <a:ea typeface="SimSun" panose="02010600030101010101" pitchFamily="2" charset="-122"/>
              </a:rPr>
              <a:t>tr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指向简单变量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num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， 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ptr1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显示地址，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*ptr1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显示内容</a:t>
            </a:r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CN" b="1" dirty="0">
                <a:latin typeface="SimSun" panose="02010600030101010101" pitchFamily="2" charset="-122"/>
                <a:ea typeface="SimSun" panose="02010600030101010101" pitchFamily="2" charset="-122"/>
              </a:rPr>
              <a:t>指针ptr指向一维数组的开头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b="1" dirty="0" err="1">
                <a:latin typeface="SimSun" panose="02010600030101010101" pitchFamily="2" charset="-122"/>
                <a:ea typeface="SimSun" panose="02010600030101010101" pitchFamily="2" charset="-122"/>
              </a:rPr>
              <a:t>ptr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显示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arr1D[0]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的地址，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*</a:t>
            </a:r>
            <a:r>
              <a:rPr lang="en-US" altLang="zh-CN" b="1" dirty="0" err="1">
                <a:latin typeface="SimSun" panose="02010600030101010101" pitchFamily="2" charset="-122"/>
                <a:ea typeface="SimSun" panose="02010600030101010101" pitchFamily="2" charset="-122"/>
              </a:rPr>
              <a:t>ptr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显示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arr1D[0]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的地址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b="1" dirty="0" err="1">
                <a:latin typeface="SimSun" panose="02010600030101010101" pitchFamily="2" charset="-122"/>
                <a:ea typeface="SimSun" panose="02010600030101010101" pitchFamily="2" charset="-122"/>
              </a:rPr>
              <a:t>ref为引用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ref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变量地址和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num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地址相同，其本身保存值为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num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，而指针储存的是目标变量的地址</a:t>
            </a:r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CN" b="1" dirty="0">
                <a:latin typeface="SimSun" panose="02010600030101010101" pitchFamily="2" charset="-122"/>
                <a:ea typeface="SimSun" panose="02010600030101010101" pitchFamily="2" charset="-122"/>
              </a:rPr>
              <a:t>涉及知识点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3.2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3.4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3.8</a:t>
            </a:r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7D62E2-1D9E-4D1C-BAC2-909414E96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9" y="0"/>
            <a:ext cx="7772400" cy="445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71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EE3EBC-FA68-81BB-CC49-03A44A0BC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139" y="223857"/>
            <a:ext cx="8003721" cy="42846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319F06-C675-9188-100D-2781A8E99FF3}"/>
              </a:ext>
            </a:extLst>
          </p:cNvPr>
          <p:cNvSpPr txBox="1"/>
          <p:nvPr/>
        </p:nvSpPr>
        <p:spPr>
          <a:xfrm>
            <a:off x="1172936" y="4882242"/>
            <a:ext cx="98461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arr,3表示查看从arr指向内存开始连续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块内存的内容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，可以通过这种方式在函数中查看实参数数组的地址、值</a:t>
            </a:r>
            <a:endParaRPr lang="en-US" altLang="zh-CN" sz="2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sz="2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2000" b="1" dirty="0" err="1">
                <a:latin typeface="SimSun" panose="02010600030101010101" pitchFamily="2" charset="-122"/>
                <a:ea typeface="SimSun" panose="02010600030101010101" pitchFamily="2" charset="-122"/>
              </a:rPr>
              <a:t>涉及知识点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3.6</a:t>
            </a:r>
            <a:endParaRPr lang="en-CN" sz="2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8417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27E0F4-BBA3-481A-40B4-10A059C07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835" y="507811"/>
            <a:ext cx="9361161" cy="36559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87B6FF-3EC5-076A-C6B7-2E14934797C5}"/>
              </a:ext>
            </a:extLst>
          </p:cNvPr>
          <p:cNvSpPr txBox="1"/>
          <p:nvPr/>
        </p:nvSpPr>
        <p:spPr>
          <a:xfrm>
            <a:off x="1314834" y="4383592"/>
            <a:ext cx="93611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>
                <a:latin typeface="SimSun" panose="02010600030101010101" pitchFamily="2" charset="-122"/>
                <a:ea typeface="SimSun" panose="02010600030101010101" pitchFamily="2" charset="-122"/>
              </a:rPr>
              <a:t>添加对str的监视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，能查看到无名字符串常量的内容和地址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使用指针越界时，监视栏值变红，同时跳出报错信息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包含内容：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3.7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3.9</a:t>
            </a:r>
            <a:endParaRPr lang="en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763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452</Words>
  <Application>Microsoft Macintosh PowerPoint</Application>
  <PresentationFormat>Widescreen</PresentationFormat>
  <Paragraphs>91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SimHei</vt:lpstr>
      <vt:lpstr>SimSun</vt:lpstr>
      <vt:lpstr>Aptos</vt:lpstr>
      <vt:lpstr>Aptos Display</vt:lpstr>
      <vt:lpstr>Arial</vt:lpstr>
      <vt:lpstr>Office Theme</vt:lpstr>
      <vt:lpstr>VS 2022 调试工具使用方法报告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Tonhie Xavier</dc:creator>
  <cp:lastModifiedBy>Tonhie Xavier</cp:lastModifiedBy>
  <cp:revision>1</cp:revision>
  <dcterms:created xsi:type="dcterms:W3CDTF">2025-06-03T10:54:26Z</dcterms:created>
  <dcterms:modified xsi:type="dcterms:W3CDTF">2025-06-04T13:00:22Z</dcterms:modified>
</cp:coreProperties>
</file>