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8"/>
  </p:notesMasterIdLst>
  <p:sldIdLst>
    <p:sldId id="1236" r:id="rId2"/>
    <p:sldId id="1279" r:id="rId3"/>
    <p:sldId id="1302" r:id="rId4"/>
    <p:sldId id="1230" r:id="rId5"/>
    <p:sldId id="1281" r:id="rId6"/>
    <p:sldId id="1297" r:id="rId7"/>
    <p:sldId id="1251" r:id="rId8"/>
    <p:sldId id="1282" r:id="rId9"/>
    <p:sldId id="1283" r:id="rId10"/>
    <p:sldId id="1284" r:id="rId11"/>
    <p:sldId id="1298" r:id="rId12"/>
    <p:sldId id="1285" r:id="rId13"/>
    <p:sldId id="1299" r:id="rId14"/>
    <p:sldId id="1286" r:id="rId15"/>
    <p:sldId id="1287" r:id="rId16"/>
    <p:sldId id="1288" r:id="rId17"/>
    <p:sldId id="1289" r:id="rId18"/>
    <p:sldId id="1290" r:id="rId19"/>
    <p:sldId id="1291" r:id="rId20"/>
    <p:sldId id="1300" r:id="rId21"/>
    <p:sldId id="1292" r:id="rId22"/>
    <p:sldId id="1293" r:id="rId23"/>
    <p:sldId id="1294" r:id="rId24"/>
    <p:sldId id="1295" r:id="rId25"/>
    <p:sldId id="1296" r:id="rId26"/>
    <p:sldId id="130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23" autoAdjust="0"/>
    <p:restoredTop sz="86430" autoAdjust="0"/>
  </p:normalViewPr>
  <p:slideViewPr>
    <p:cSldViewPr snapToGrid="0">
      <p:cViewPr varScale="1">
        <p:scale>
          <a:sx n="105" d="100"/>
          <a:sy n="105" d="100"/>
        </p:scale>
        <p:origin x="208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9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本次作业的答案，除特别提示外，上课全讲过，课件上都有</a:t>
            </a:r>
            <a:r>
              <a:rPr lang="en-US" altLang="zh-CN" sz="2800" b="1" dirty="0">
                <a:latin typeface="+mn-ea"/>
              </a:rPr>
              <a:t>!!!</a:t>
            </a:r>
          </a:p>
          <a:p>
            <a:pPr algn="l"/>
            <a:r>
              <a:rPr lang="zh-CN" altLang="en-US" sz="2800" b="1" dirty="0">
                <a:latin typeface="+mn-ea"/>
              </a:rPr>
              <a:t>★ 作业本质就是对上课内容及课件的</a:t>
            </a:r>
            <a:r>
              <a:rPr lang="en-US" altLang="zh-CN" sz="2800" b="1" dirty="0">
                <a:latin typeface="+mn-ea"/>
              </a:rPr>
              <a:t>review(</a:t>
            </a:r>
            <a:r>
              <a:rPr lang="zh-CN" altLang="en-US" sz="2800" b="1" dirty="0">
                <a:latin typeface="+mn-ea"/>
              </a:rPr>
              <a:t>因为读懂程序的逻辑很重要</a:t>
            </a:r>
            <a:r>
              <a:rPr lang="en-US" altLang="zh-CN" sz="2800" b="1" dirty="0">
                <a:latin typeface="+mn-ea"/>
              </a:rPr>
              <a:t>)</a:t>
            </a:r>
          </a:p>
          <a:p>
            <a:pPr algn="l"/>
            <a:r>
              <a:rPr lang="zh-CN" altLang="en-US" sz="2800" b="1" dirty="0">
                <a:latin typeface="+mn-ea"/>
              </a:rPr>
              <a:t>★ 对上课接受程度较好的同学，可能有点重复</a:t>
            </a:r>
            <a:r>
              <a:rPr lang="en-US" altLang="zh-CN" sz="2800" b="1" dirty="0">
                <a:latin typeface="+mn-ea"/>
              </a:rPr>
              <a:t>/</a:t>
            </a:r>
            <a:r>
              <a:rPr lang="zh-CN" altLang="en-US" sz="2800" b="1" dirty="0">
                <a:latin typeface="+mn-ea"/>
              </a:rPr>
              <a:t>多余，但还得做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(”2454307-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汤皓宇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\n");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/*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特别说明：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1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、如果输出维持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"1234567-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张三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"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不变，得分为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2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姓名有错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非其他同学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)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，得分为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、如果是别人的学号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姓名，按抄袭论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4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、后续有改学号姓名的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Page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，要求相同，不再重复说明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*/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、将左侧程序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、将左侧程序贴到</a:t>
            </a:r>
            <a:r>
              <a:rPr kumimoji="1" lang="en-US" altLang="zh-CN" sz="1600" b="1" dirty="0">
                <a:latin typeface="+mn-ea"/>
              </a:rPr>
              <a:t>.</a:t>
            </a:r>
            <a:r>
              <a:rPr kumimoji="1" lang="en-US" altLang="zh-CN" sz="1600" b="1" dirty="0" err="1">
                <a:latin typeface="+mn-ea"/>
              </a:rPr>
              <a:t>cpp</a:t>
            </a:r>
            <a:r>
              <a:rPr kumimoji="1" lang="zh-CN" altLang="en-US" sz="1600" b="1" dirty="0">
                <a:latin typeface="+mn-ea"/>
              </a:rPr>
              <a:t>后缀的源程序中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不会报错输出正常</a:t>
            </a:r>
            <a:r>
              <a:rPr kumimoji="1" lang="en-US" altLang="zh-CN" sz="1600" b="1" dirty="0">
                <a:latin typeface="+mn-ea"/>
              </a:rPr>
              <a:t>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如果</a:t>
            </a:r>
            <a:r>
              <a:rPr kumimoji="1" lang="en-US" altLang="zh-CN" sz="1600" b="1" dirty="0">
                <a:latin typeface="+mn-ea"/>
              </a:rPr>
              <a:t>C++</a:t>
            </a:r>
            <a:r>
              <a:rPr kumimoji="1" lang="zh-CN" altLang="en-US" sz="1600" b="1" dirty="0">
                <a:latin typeface="+mn-ea"/>
              </a:rPr>
              <a:t>程序不写函数的返回类型，则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报错提示</a:t>
            </a:r>
            <a:r>
              <a:rPr kumimoji="1" lang="en-US" altLang="zh-CN" sz="1600" b="1" dirty="0">
                <a:latin typeface="+mn-ea"/>
              </a:rPr>
              <a:t>_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9D7E826-59B4-5C1C-5D61-2B2B2F610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3229864"/>
            <a:ext cx="4902200" cy="812800"/>
          </a:xfrm>
          <a:prstGeom prst="rect">
            <a:avLst/>
          </a:prstGeom>
        </p:spPr>
      </p:pic>
      <p:pic>
        <p:nvPicPr>
          <p:cNvPr id="7" name="Picture 6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BF9D9175-8C27-0B38-36AA-AD187C129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874457"/>
            <a:ext cx="18415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的不写函数返回类型时的差异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将左侧</a:t>
            </a:r>
            <a:r>
              <a:rPr kumimoji="1" lang="zh-CN" altLang="en-US" sz="1600" b="1" dirty="0">
                <a:latin typeface="+mn-ea"/>
              </a:rPr>
              <a:t>的两个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程序</a:t>
            </a:r>
            <a:r>
              <a:rPr kumimoji="1" lang="zh-CN" altLang="en-US" sz="1600" b="1" dirty="0">
                <a:latin typeface="+mn-ea"/>
              </a:rPr>
              <a:t>贴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.c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后缀的</a:t>
            </a:r>
            <a:r>
              <a:rPr kumimoji="1" lang="zh-CN" altLang="en-US" sz="1600" b="1" dirty="0">
                <a:latin typeface="+mn-ea"/>
              </a:rPr>
              <a:t>源程序中编译运行，分析为什么结果不同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C</a:t>
            </a:r>
            <a:r>
              <a:rPr kumimoji="1" lang="zh-CN" altLang="en-US" sz="1600" b="1" dirty="0">
                <a:latin typeface="+mn-ea"/>
              </a:rPr>
              <a:t>语言中对于</a:t>
            </a:r>
            <a:r>
              <a:rPr kumimoji="1" lang="zh-CN" altLang="en-CN" sz="1600" b="1" dirty="0">
                <a:latin typeface="+mn-ea"/>
              </a:rPr>
              <a:t>未</a:t>
            </a:r>
            <a:r>
              <a:rPr kumimoji="1" lang="zh-CN" altLang="en-US" sz="1600" b="1" dirty="0">
                <a:latin typeface="+mn-ea"/>
              </a:rPr>
              <a:t>定义的函数</a:t>
            </a:r>
            <a:r>
              <a:rPr kumimoji="1" lang="zh-CN" altLang="en-CN" sz="1600" b="1" dirty="0">
                <a:latin typeface="+mn-ea"/>
              </a:rPr>
              <a:t>会</a:t>
            </a:r>
            <a:r>
              <a:rPr kumimoji="1" lang="zh-CN" altLang="en-US" sz="1600" b="1" dirty="0">
                <a:latin typeface="+mn-ea"/>
              </a:rPr>
              <a:t>使用隐式声明，只会警告。第二个包含了</a:t>
            </a:r>
            <a:r>
              <a:rPr kumimoji="1" lang="en-US" altLang="zh-CN" sz="1600" b="1" dirty="0" err="1">
                <a:latin typeface="+mn-ea"/>
              </a:rPr>
              <a:t>math.h</a:t>
            </a:r>
            <a:r>
              <a:rPr kumimoji="1" lang="zh-CN" altLang="en-US" sz="1600" b="1" dirty="0">
                <a:latin typeface="+mn-ea"/>
              </a:rPr>
              <a:t>，含对</a:t>
            </a:r>
            <a:r>
              <a:rPr kumimoji="1" lang="en-US" altLang="zh-CN" sz="1600" b="1" dirty="0">
                <a:latin typeface="+mn-ea"/>
              </a:rPr>
              <a:t>sqrt</a:t>
            </a:r>
            <a:r>
              <a:rPr kumimoji="1" lang="zh-CN" altLang="en-US" sz="1600" b="1" dirty="0">
                <a:latin typeface="+mn-ea"/>
              </a:rPr>
              <a:t>函数的定义。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D71480-B1AA-4DA2-B661-29F8822FFC36}"/>
              </a:ext>
            </a:extLst>
          </p:cNvPr>
          <p:cNvSpPr/>
          <p:nvPr/>
        </p:nvSpPr>
        <p:spPr bwMode="auto">
          <a:xfrm>
            <a:off x="592114" y="3845407"/>
            <a:ext cx="4941912" cy="268874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#include &lt;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math.h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&gt;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</a:t>
            </a:r>
            <a:r>
              <a:rPr lang="en-US" altLang="zh-CN" sz="1600" b="1" dirty="0" err="1">
                <a:latin typeface="+mn-ea"/>
              </a:rPr>
              <a:t>lf</a:t>
            </a:r>
            <a:r>
              <a:rPr lang="en-US" altLang="zh-CN" sz="1600" b="1" dirty="0">
                <a:latin typeface="+mn-ea"/>
              </a:rPr>
              <a:t>\n", sqrt(2));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83C937-CBDD-91B5-81AC-6F77C3F82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412" y="2064550"/>
            <a:ext cx="1117600" cy="8001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712EEB-327D-753F-EB41-A49997459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412" y="4478578"/>
            <a:ext cx="1117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“2454307-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6C0AC88-F89C-EE36-BA69-B2A696A2D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2947162"/>
            <a:ext cx="5092700" cy="622300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606E40CA-9DFE-3310-047B-E02BE4C1F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5195697"/>
            <a:ext cx="17780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“2454307-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5D1BEEA2-AF84-D861-BD08-ACB8BE081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406" y="2615565"/>
            <a:ext cx="1701800" cy="787400"/>
          </a:xfrm>
          <a:prstGeom prst="rect">
            <a:avLst/>
          </a:prstGeom>
        </p:spPr>
      </p:pic>
      <p:pic>
        <p:nvPicPr>
          <p:cNvPr id="7" name="Picture 6" descr="A white rectangular object with red text&#10;&#10;AI-generated content may be incorrect.">
            <a:extLst>
              <a:ext uri="{FF2B5EF4-FFF2-40B4-BE49-F238E27FC236}">
                <a16:creationId xmlns:a16="http://schemas.microsoft.com/office/drawing/2014/main" id="{098BB77E-5BF3-AE70-AAAD-ABA3969E8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336" y="4025265"/>
            <a:ext cx="5638800" cy="1130300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37C8F30-30AD-4E25-E7DC-F2933CC7F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206" y="2679065"/>
            <a:ext cx="47371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3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函数的返回值差异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”2454307-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VS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下编译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、在</a:t>
            </a:r>
            <a:r>
              <a:rPr kumimoji="1" lang="en-US" altLang="zh-CN" sz="1600" b="1" dirty="0">
                <a:latin typeface="+mn-ea"/>
              </a:rPr>
              <a:t>Dev</a:t>
            </a:r>
            <a:r>
              <a:rPr kumimoji="1" lang="zh-CN" altLang="en-US" sz="1600" b="1" dirty="0">
                <a:latin typeface="+mn-ea"/>
              </a:rPr>
              <a:t>下编译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、综合</a:t>
            </a:r>
            <a:r>
              <a:rPr kumimoji="1" lang="en-US" altLang="zh-CN" sz="1600" b="1" dirty="0">
                <a:latin typeface="+mn-ea"/>
              </a:rPr>
              <a:t>2.A/2.B/2.C</a:t>
            </a:r>
            <a:r>
              <a:rPr kumimoji="1" lang="zh-CN" altLang="en-US" sz="1600" b="1" dirty="0">
                <a:latin typeface="+mn-ea"/>
              </a:rPr>
              <a:t>三题的结论，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函数的返回类型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应定义为</a:t>
            </a:r>
            <a:r>
              <a:rPr kumimoji="1" lang="en-US" altLang="zh-CN" sz="1600" b="1" dirty="0">
                <a:latin typeface="+mn-ea"/>
              </a:rPr>
              <a:t>__int__</a:t>
            </a:r>
            <a:r>
              <a:rPr kumimoji="1" lang="zh-CN" altLang="en-US" sz="1600" b="1" dirty="0">
                <a:latin typeface="+mn-ea"/>
              </a:rPr>
              <a:t>最合适。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52DC5927-C6A4-24DA-51AF-0712514FB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650" y="2653665"/>
            <a:ext cx="1536700" cy="749300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7BEBECE-3850-4136-A825-592885B71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486" y="2653665"/>
            <a:ext cx="4724400" cy="723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E669CC-9962-1117-CE62-C2DB5C4F0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993" y="3862452"/>
            <a:ext cx="62992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9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、函数的单向传值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"x1="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x=5;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"x2="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 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"k1="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"k2="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、为什么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的改变不会影响到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答：因为这里是把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的值传到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里而非地址，因此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的值不会改变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504004-F20A-E6D2-80F4-23C8C9155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728216"/>
            <a:ext cx="1549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fun(short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k=70000;</a:t>
            </a:r>
          </a:p>
          <a:p>
            <a:r>
              <a:rPr lang="en-US" altLang="zh-CN" sz="1600" b="1" dirty="0">
                <a:latin typeface="+mn-ea"/>
              </a:rPr>
              <a:t>    fun(k);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"k=" &lt;&lt; k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“2454307-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k</a:t>
            </a:r>
            <a:r>
              <a:rPr kumimoji="1" lang="zh-CN" altLang="en-US" sz="1600" b="1" dirty="0">
                <a:latin typeface="+mn-ea"/>
              </a:rPr>
              <a:t>时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型，传递给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里需要把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数据转换成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，两类型</a:t>
            </a:r>
            <a:r>
              <a:rPr kumimoji="1" lang="zh-CN" altLang="en-CN" sz="1600" b="1" dirty="0">
                <a:latin typeface="+mn-ea"/>
              </a:rPr>
              <a:t>字节数不同</a:t>
            </a:r>
            <a:r>
              <a:rPr kumimoji="1" lang="zh-CN" altLang="en-US" sz="1600" b="1" dirty="0">
                <a:latin typeface="+mn-ea"/>
              </a:rPr>
              <a:t>，因此会警告。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5CCD360-3009-61D1-CC9B-ED1CF6030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2869565"/>
            <a:ext cx="5143500" cy="5334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4AEEA9-AE30-3FC4-7902-F675639EE5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736408"/>
            <a:ext cx="15875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short fun3()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a = 70000;</a:t>
            </a:r>
          </a:p>
          <a:p>
            <a:r>
              <a:rPr lang="en-US" altLang="zh-CN" sz="1600" b="1" dirty="0">
                <a:latin typeface="+mn-ea"/>
              </a:rPr>
              <a:t>    return a;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d;</a:t>
            </a:r>
          </a:p>
          <a:p>
            <a:r>
              <a:rPr lang="en-US" altLang="zh-CN" sz="1600" b="1" dirty="0">
                <a:latin typeface="+mn-ea"/>
              </a:rPr>
              <a:t>    d = fun3();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d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、运行结果（含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）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、用第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章的知识分析并解释运行结果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函数预设返回值为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而返回的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类型为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，因此需要把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从</a:t>
            </a:r>
            <a:r>
              <a:rPr kumimoji="1" lang="en-US" altLang="zh-CN" sz="1600" b="1" dirty="0">
                <a:latin typeface="+mn-ea"/>
              </a:rPr>
              <a:t>long</a:t>
            </a:r>
            <a:r>
              <a:rPr kumimoji="1" lang="zh-CN" altLang="en-US" sz="1600" b="1" dirty="0">
                <a:latin typeface="+mn-ea"/>
              </a:rPr>
              <a:t>转换为</a:t>
            </a:r>
            <a:r>
              <a:rPr kumimoji="1" lang="en-US" altLang="zh-CN" sz="1600" b="1" dirty="0">
                <a:latin typeface="+mn-ea"/>
              </a:rPr>
              <a:t>short</a:t>
            </a:r>
            <a:r>
              <a:rPr kumimoji="1" lang="zh-CN" altLang="en-US" sz="1600" b="1" dirty="0">
                <a:latin typeface="+mn-ea"/>
              </a:rPr>
              <a:t>，两种类型字节数不同，因此需要比较。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24C2EF8E-CF31-98D5-084A-3CD253439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746250"/>
            <a:ext cx="1663700" cy="927100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AE91E1F-B74C-F1C2-803E-355C63CFA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2797937"/>
            <a:ext cx="47752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2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”2454307-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//main</a:t>
            </a:r>
            <a:r>
              <a:rPr lang="zh-CN" altLang="en-US" sz="1600" b="1" dirty="0">
                <a:latin typeface="+mn-ea"/>
              </a:rPr>
              <a:t>函数，返回类型为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，无</a:t>
            </a:r>
            <a:r>
              <a:rPr lang="en-US" altLang="zh-CN" sz="1600" b="1" dirty="0">
                <a:latin typeface="+mn-ea"/>
              </a:rPr>
              <a:t>return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fun()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"1234567-</a:t>
            </a:r>
            <a:r>
              <a:rPr kumimoji="1" lang="zh-CN" altLang="en-US" sz="1600" b="1" dirty="0">
                <a:latin typeface="+mn-ea"/>
              </a:rPr>
              <a:t>张三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非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函数，返回类型为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，无</a:t>
            </a:r>
            <a:r>
              <a:rPr kumimoji="1" lang="en-US" altLang="zh-CN" sz="1600" b="1" dirty="0">
                <a:latin typeface="+mn-ea"/>
              </a:rPr>
              <a:t>return</a:t>
            </a:r>
          </a:p>
        </p:txBody>
      </p:sp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7F13ADDA-9B3A-84D1-570E-CD496A61B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840" y="3548062"/>
            <a:ext cx="1790700" cy="762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3FB903-59F8-A9BC-79B3-CCE60DF63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324" y="3429000"/>
            <a:ext cx="30226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64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k=10;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k = k + f();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k,f</a:t>
            </a:r>
            <a:r>
              <a:rPr lang="en-US" altLang="zh-CN" sz="1600" b="1" dirty="0">
                <a:latin typeface="+mn-ea"/>
              </a:rPr>
              <a:t>();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(k, f(), k+2)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、编译结果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、解释报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的两行为什么错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答：加法运算不支持对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类型进行操作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① 返回类型为</a:t>
            </a:r>
            <a:r>
              <a:rPr kumimoji="1" lang="en-US" altLang="zh-CN" sz="1600" b="1" dirty="0">
                <a:latin typeface="+mn-ea"/>
              </a:rPr>
              <a:t>void</a:t>
            </a:r>
            <a:r>
              <a:rPr kumimoji="1" lang="zh-CN" altLang="en-US" sz="1600" b="1" dirty="0">
                <a:latin typeface="+mn-ea"/>
              </a:rPr>
              <a:t>的函数不能出现在除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逗号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表达式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外的任何表达式中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② 若逗号表达式要参与其它运算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输出，则返回类型为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void</a:t>
            </a:r>
            <a:r>
              <a:rPr kumimoji="1" lang="zh-CN" altLang="en-US" sz="1600" b="1" dirty="0">
                <a:latin typeface="+mn-ea"/>
              </a:rPr>
              <a:t>的函数不能做为第</a:t>
            </a:r>
            <a:r>
              <a:rPr kumimoji="1" lang="en-US" altLang="zh-CN" sz="1600" b="1" dirty="0">
                <a:latin typeface="+mn-ea"/>
              </a:rPr>
              <a:t>__n__</a:t>
            </a:r>
            <a:r>
              <a:rPr kumimoji="1" lang="zh-CN" altLang="en-US" sz="1600" b="1" dirty="0">
                <a:latin typeface="+mn-ea"/>
              </a:rPr>
              <a:t>个表达式出现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假设逗号表达式有</a:t>
            </a:r>
            <a:r>
              <a:rPr kumimoji="1" lang="en-US" altLang="zh-CN" sz="1600" b="1" dirty="0">
                <a:latin typeface="+mn-ea"/>
              </a:rPr>
              <a:t>n</a:t>
            </a:r>
            <a:r>
              <a:rPr kumimoji="1" lang="zh-CN" altLang="en-US" sz="1600" b="1" dirty="0">
                <a:latin typeface="+mn-ea"/>
              </a:rPr>
              <a:t>个表达式组成，此处填</a:t>
            </a:r>
            <a:r>
              <a:rPr kumimoji="1" lang="en-US" altLang="zh-CN" sz="1600" b="1" dirty="0">
                <a:latin typeface="+mn-ea"/>
              </a:rPr>
              <a:t>1~n)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2940322-33FC-BACD-DB84-CF256BBA0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550" y="1727200"/>
            <a:ext cx="50419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0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(x&gt;10) {</a:t>
            </a:r>
          </a:p>
          <a:p>
            <a:r>
              <a:rPr lang="en-US" altLang="zh-CN" sz="1600" b="1" dirty="0">
                <a:latin typeface="+mn-ea"/>
              </a:rPr>
              <a:t>        if (x&gt;20)</a:t>
            </a:r>
          </a:p>
          <a:p>
            <a:r>
              <a:rPr lang="en-US" altLang="zh-CN" sz="1600" b="1" dirty="0">
                <a:latin typeface="+mn-ea"/>
              </a:rPr>
              <a:t>            return 1;</a:t>
            </a: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else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”2454307-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fun(5)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fun(15)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fun(25)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</a:t>
            </a:r>
            <a:r>
              <a:rPr kumimoji="1" lang="en-US" altLang="zh-CN" sz="1600" b="1" dirty="0">
                <a:latin typeface="+mn-ea"/>
              </a:rPr>
              <a:t>fun(15)</a:t>
            </a:r>
            <a:r>
              <a:rPr kumimoji="1" lang="zh-CN" altLang="en-US" sz="1600" b="1" dirty="0">
                <a:latin typeface="+mn-ea"/>
              </a:rPr>
              <a:t>没有返回值，因此会警告。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、后三行输出中哪行不可信？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答：第二行不可信，因为</a:t>
            </a:r>
            <a:r>
              <a:rPr kumimoji="1" lang="en-US" altLang="zh-CN" sz="1600" b="1" dirty="0">
                <a:latin typeface="+mn-ea"/>
              </a:rPr>
              <a:t>fun(15)</a:t>
            </a:r>
            <a:r>
              <a:rPr kumimoji="1" lang="zh-CN" altLang="en-US" sz="1600" b="1" dirty="0">
                <a:latin typeface="+mn-ea"/>
              </a:rPr>
              <a:t>无返回值。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2469E6-DC16-F675-6E91-FF76324F1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720" y="1751711"/>
            <a:ext cx="1498600" cy="120650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A904CC0-5F4E-733C-3D32-0ADF63087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035" y="2018411"/>
            <a:ext cx="39497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99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、函数的返回值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F.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if (x&gt;1)</a:t>
            </a:r>
          </a:p>
          <a:p>
            <a:r>
              <a:rPr lang="en-US" altLang="zh-CN" sz="1600" b="1" dirty="0">
                <a:latin typeface="+mn-ea"/>
              </a:rPr>
              <a:t>        return 1;</a:t>
            </a:r>
          </a:p>
          <a:p>
            <a:r>
              <a:rPr lang="en-US" altLang="zh-CN" sz="1600" b="1" dirty="0">
                <a:latin typeface="+mn-ea"/>
              </a:rPr>
              <a:t>    else if (x&lt;=1)</a:t>
            </a:r>
          </a:p>
          <a:p>
            <a:r>
              <a:rPr lang="en-US" altLang="zh-CN" sz="1600" b="1" dirty="0">
                <a:latin typeface="+mn-ea"/>
              </a:rPr>
              <a:t>        return 0;</a:t>
            </a:r>
          </a:p>
          <a:p>
            <a:r>
              <a:rPr lang="en-US" altLang="zh-CN" sz="1600" b="1" dirty="0">
                <a:latin typeface="+mn-ea"/>
              </a:rPr>
              <a:t>}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if+else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if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已覆盖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型的全部表示范围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fun(0) 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fun(2)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的含义（编译器是如何理解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的逻辑的）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答：编译器认为</a:t>
            </a:r>
            <a:r>
              <a:rPr kumimoji="1" lang="en-US" altLang="zh-CN" sz="1600" b="1" dirty="0">
                <a:latin typeface="+mn-ea"/>
              </a:rPr>
              <a:t>fun</a:t>
            </a:r>
            <a:r>
              <a:rPr kumimoji="1" lang="zh-CN" altLang="en-US" sz="1600" b="1" dirty="0">
                <a:latin typeface="+mn-ea"/>
              </a:rPr>
              <a:t>的一级括号内没有</a:t>
            </a:r>
            <a:r>
              <a:rPr kumimoji="1" lang="en-US" altLang="zh-CN" sz="1600" b="1" dirty="0">
                <a:latin typeface="+mn-ea"/>
              </a:rPr>
              <a:t>return</a:t>
            </a:r>
            <a:r>
              <a:rPr kumimoji="1" lang="zh-CN" altLang="en-US" sz="1600" b="1" dirty="0">
                <a:latin typeface="+mn-ea"/>
              </a:rPr>
              <a:t>语句，存在没有返回值的风险，因此会警告。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EF1E21-249E-BE11-1FAC-8FB8DF173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1649984"/>
            <a:ext cx="1524000" cy="11684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91C199-5529-20A4-10CC-FA18D674E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782" y="4522216"/>
            <a:ext cx="3860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7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long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0L;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long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long fun(void)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"</a:t>
            </a:r>
            <a:r>
              <a:rPr lang="en-US" altLang="zh-CN" sz="1600" b="1" dirty="0">
                <a:latin typeface="+mn-ea"/>
              </a:rPr>
              <a:t>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kumimoji="1" lang="en-US" altLang="zh-CN" sz="1600" b="1" dirty="0">
                <a:latin typeface="+mn-ea"/>
              </a:rPr>
              <a:t>"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0L;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long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k = 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long</a:t>
            </a:r>
            <a:r>
              <a:rPr kumimoji="1" lang="en-US" altLang="zh-CN" sz="1600" b="1" dirty="0">
                <a:latin typeface="+mn-ea"/>
              </a:rPr>
              <a:t> fun();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结论：函数调用时，</a:t>
            </a:r>
            <a:r>
              <a:rPr lang="en-US" altLang="zh-CN" sz="2400" b="1" dirty="0">
                <a:latin typeface="+mn-ea"/>
              </a:rPr>
              <a:t>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写返回类型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Picture 5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8BE97688-35C9-81E2-CDE6-A7827F576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40" y="3381629"/>
            <a:ext cx="1651000" cy="7620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C72FE8-0C83-9E35-B568-C029EB2FF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226" y="3345942"/>
            <a:ext cx="29591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29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fun(void)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void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结论：无参函数调用时，参数位置</a:t>
            </a:r>
            <a:r>
              <a:rPr lang="en-US" altLang="zh-CN" sz="2400" b="1" dirty="0">
                <a:latin typeface="+mn-ea"/>
              </a:rPr>
              <a:t>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</a:t>
            </a:r>
            <a:r>
              <a:rPr lang="en-US" altLang="zh-CN" sz="2400" b="1" dirty="0">
                <a:latin typeface="+mn-ea"/>
              </a:rPr>
              <a:t>void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Picture 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736E994C-A9C0-3172-9ED9-8D857C024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440" y="3381629"/>
            <a:ext cx="1689100" cy="723900"/>
          </a:xfrm>
          <a:prstGeom prst="rect">
            <a:avLst/>
          </a:prstGeom>
        </p:spPr>
      </p:pic>
      <p:pic>
        <p:nvPicPr>
          <p:cNvPr id="8" name="Picture 7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60426EF4-FF8D-88AC-0F6C-C4B7E3FBD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338" y="3287832"/>
            <a:ext cx="3523742" cy="80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fun(x,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k, x=10, y=15;</a:t>
            </a:r>
          </a:p>
          <a:p>
            <a:r>
              <a:rPr lang="en-US" altLang="zh-CN" sz="1600" b="1" dirty="0">
                <a:latin typeface="+mn-ea"/>
              </a:rPr>
              <a:t>    k = fun(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x,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</a:t>
            </a:r>
            <a:r>
              <a:rPr lang="en-US" altLang="zh-CN" sz="1600" b="1" dirty="0">
                <a:latin typeface="+mn-ea"/>
              </a:rPr>
              <a:t>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1C4881-8E75-48E5-955D-1CA09F714532}"/>
              </a:ext>
            </a:extLst>
          </p:cNvPr>
          <p:cNvSpPr/>
          <p:nvPr/>
        </p:nvSpPr>
        <p:spPr bwMode="auto">
          <a:xfrm>
            <a:off x="592114" y="6052930"/>
            <a:ext cx="10247336" cy="481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n-ea"/>
              </a:rPr>
              <a:t>结论：有参函数调用时，实参</a:t>
            </a:r>
            <a:r>
              <a:rPr lang="en-US" altLang="zh-CN" sz="2400" b="1" dirty="0">
                <a:latin typeface="+mn-ea"/>
              </a:rPr>
              <a:t>_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_(</a:t>
            </a:r>
            <a:r>
              <a:rPr lang="zh-CN" altLang="en-US" sz="2400" b="1" dirty="0">
                <a:latin typeface="+mn-ea"/>
              </a:rPr>
              <a:t>能</a:t>
            </a:r>
            <a:r>
              <a:rPr lang="en-US" altLang="zh-CN" sz="2400" b="1" dirty="0">
                <a:latin typeface="+mn-ea"/>
              </a:rPr>
              <a:t>/</a:t>
            </a:r>
            <a:r>
              <a:rPr lang="zh-CN" altLang="en-US" sz="2400" b="1" dirty="0">
                <a:latin typeface="+mn-ea"/>
              </a:rPr>
              <a:t>不能</a:t>
            </a:r>
            <a:r>
              <a:rPr lang="en-US" altLang="zh-CN" sz="2400" b="1" dirty="0">
                <a:latin typeface="+mn-ea"/>
              </a:rPr>
              <a:t>)</a:t>
            </a:r>
            <a:r>
              <a:rPr lang="zh-CN" altLang="en-US" sz="2400" b="1" dirty="0">
                <a:latin typeface="+mn-ea"/>
              </a:rPr>
              <a:t>写类型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Picture 5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FB94D0F1-B5B8-4725-6C46-6E3D27D16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140" y="4715129"/>
            <a:ext cx="1549400" cy="736600"/>
          </a:xfrm>
          <a:prstGeom prst="rect">
            <a:avLst/>
          </a:prstGeom>
        </p:spPr>
      </p:pic>
      <p:pic>
        <p:nvPicPr>
          <p:cNvPr id="8" name="Picture 7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9B6B232E-4CF2-FEDE-04AD-48823CCC3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764" y="4632833"/>
            <a:ext cx="2383572" cy="81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49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fun(int x, int y)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"2454307-</a:t>
            </a:r>
            <a:r>
              <a:rPr lang="zh-CN" altLang="en-US" sz="1600" b="1" dirty="0">
                <a:latin typeface="+mn-ea"/>
              </a:rPr>
              <a:t>汤皓宇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"x=" &lt;&lt; x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"y=" &lt;&lt; 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x=10, y=15;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思考题：为什么本程序不报错但也无输出？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答：</a:t>
            </a:r>
            <a:r>
              <a:rPr lang="zh-CN" altLang="en-CN" sz="1600" b="1" dirty="0">
                <a:latin typeface="+mn-ea"/>
              </a:rPr>
              <a:t>主函数里的语句</a:t>
            </a:r>
            <a:r>
              <a:rPr lang="zh-CN" altLang="en-US" sz="1600" b="1" dirty="0">
                <a:latin typeface="+mn-ea"/>
              </a:rPr>
              <a:t>相当于定义一个函数内的</a:t>
            </a:r>
            <a:r>
              <a:rPr lang="en-US" altLang="zh-CN" sz="1600" b="1" dirty="0">
                <a:latin typeface="+mn-ea"/>
              </a:rPr>
              <a:t>fun</a:t>
            </a:r>
            <a:r>
              <a:rPr lang="zh-CN" altLang="en-US" sz="1600" b="1" dirty="0">
                <a:latin typeface="+mn-ea"/>
              </a:rPr>
              <a:t>函数，因此不会执行函数外的</a:t>
            </a:r>
            <a:r>
              <a:rPr lang="en-US" altLang="zh-CN" sz="1600" b="1" dirty="0">
                <a:latin typeface="+mn-ea"/>
              </a:rPr>
              <a:t>fun</a:t>
            </a:r>
            <a:r>
              <a:rPr lang="zh-CN" altLang="en-US" sz="1600" b="1" dirty="0">
                <a:latin typeface="+mn-ea"/>
              </a:rPr>
              <a:t>函数。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23EDAF-4F6B-D791-A76A-D4432E06E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612" y="3704336"/>
            <a:ext cx="15494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8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、函数的调用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int fun(int x, int y);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"2454307-</a:t>
            </a:r>
            <a:r>
              <a:rPr lang="zh-CN" altLang="en-US" sz="1200" b="1" dirty="0">
                <a:latin typeface="+mn-ea"/>
              </a:rPr>
              <a:t>汤皓宇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int fun(int x, int y);</a:t>
            </a:r>
          </a:p>
          <a:p>
            <a:r>
              <a:rPr lang="en-US" altLang="zh-CN" sz="1200" b="1" dirty="0">
                <a:latin typeface="+mn-ea"/>
              </a:rPr>
              <a:t>    int x = 10, y = 15;</a:t>
            </a:r>
          </a:p>
          <a:p>
            <a:r>
              <a:rPr lang="en-US" altLang="zh-CN" sz="1200" b="1" dirty="0">
                <a:latin typeface="+mn-ea"/>
              </a:rPr>
              <a:t>    fun(x, y);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void f()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fun(10, 15);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fun(int x, int y)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"2454307-</a:t>
            </a:r>
            <a:r>
              <a:rPr lang="zh-CN" altLang="en-US" sz="1200" b="1" dirty="0">
                <a:latin typeface="+mn-ea"/>
              </a:rPr>
              <a:t>汤皓宇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"x=" &lt;&lt; x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"y=" &lt;&lt; y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6DC964-B253-4081-B286-AB310AB7A587}"/>
              </a:ext>
            </a:extLst>
          </p:cNvPr>
          <p:cNvSpPr/>
          <p:nvPr/>
        </p:nvSpPr>
        <p:spPr bwMode="auto">
          <a:xfrm>
            <a:off x="592114" y="5426242"/>
            <a:ext cx="10247336" cy="1107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结论：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、函数声明如果放在函数外，则对哪些函数有效？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对申明后面的函数有效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2</a:t>
            </a:r>
            <a:r>
              <a:rPr lang="zh-CN" altLang="en-US" sz="1600" b="1" dirty="0">
                <a:latin typeface="+mn-ea"/>
              </a:rPr>
              <a:t>、函数声明如果放在函数内，则对哪个函数有效？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仅对声明函数内的范围有效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报错显示在函数</a:t>
            </a:r>
            <a:r>
              <a:rPr lang="en-US" altLang="zh-CN" sz="1600" b="1" dirty="0">
                <a:latin typeface="+mn-ea"/>
              </a:rPr>
              <a:t>f</a:t>
            </a:r>
            <a:r>
              <a:rPr lang="zh-CN" altLang="en-US" sz="1600" b="1" dirty="0">
                <a:latin typeface="+mn-ea"/>
              </a:rPr>
              <a:t>中无效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AE560-6514-FA9E-E928-EEF5D2B7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086" y="2031746"/>
            <a:ext cx="2755900" cy="6731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867579-23CE-84CE-8E21-30256AA0F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50" y="2019046"/>
            <a:ext cx="29083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33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函数基础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1709</TotalTime>
  <Words>3842</Words>
  <Application>Microsoft Macintosh PowerPoint</Application>
  <PresentationFormat>Widescreen</PresentationFormat>
  <Paragraphs>603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等线</vt:lpstr>
      <vt:lpstr>Times New Roman</vt:lpstr>
      <vt:lpstr>1_默认设计模板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Tonhie Xavier</cp:lastModifiedBy>
  <cp:revision>258</cp:revision>
  <dcterms:created xsi:type="dcterms:W3CDTF">2020-08-13T13:39:53Z</dcterms:created>
  <dcterms:modified xsi:type="dcterms:W3CDTF">2025-04-08T08:21:40Z</dcterms:modified>
</cp:coreProperties>
</file>