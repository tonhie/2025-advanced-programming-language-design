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6"/>
  </p:notesMasterIdLst>
  <p:sldIdLst>
    <p:sldId id="1236" r:id="rId2"/>
    <p:sldId id="1279" r:id="rId3"/>
    <p:sldId id="1281" r:id="rId4"/>
    <p:sldId id="1230" r:id="rId5"/>
    <p:sldId id="492" r:id="rId6"/>
    <p:sldId id="1276" r:id="rId7"/>
    <p:sldId id="1280" r:id="rId8"/>
    <p:sldId id="1251" r:id="rId9"/>
    <p:sldId id="1239" r:id="rId10"/>
    <p:sldId id="1277" r:id="rId11"/>
    <p:sldId id="1252" r:id="rId12"/>
    <p:sldId id="1242" r:id="rId13"/>
    <p:sldId id="1278" r:id="rId14"/>
    <p:sldId id="1253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>
    <p:extLst>
      <p:ext uri="{19B8F6BF-5375-455C-9EA6-DF929625EA0E}">
        <p15:presenceInfo xmlns:p15="http://schemas.microsoft.com/office/powerpoint/2012/main" userId="Larr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142" autoAdjust="0"/>
    <p:restoredTop sz="86391" autoAdjust="0"/>
  </p:normalViewPr>
  <p:slideViewPr>
    <p:cSldViewPr snapToGrid="0">
      <p:cViewPr>
        <p:scale>
          <a:sx n="114" d="100"/>
          <a:sy n="114" d="100"/>
        </p:scale>
        <p:origin x="-152" y="-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2025/3/30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596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930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109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6460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8223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733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903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9773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383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8583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115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273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75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005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90EEA7F-39F9-4B97-AF58-835331598C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9806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4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31503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F2BCB20-A7D3-4325-B240-F17B741FF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DC82EAA-7133-41BE-BA1F-9E1E13399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49971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编辑窗的右下角是否为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83A95833-2AE8-4AB2-8186-65B0BE7B5B20}"/>
              </a:ext>
            </a:extLst>
          </p:cNvPr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273DA64-1F34-46A4-9B77-30180EAB9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46" y="1623695"/>
            <a:ext cx="9229725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698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特别提示：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★ 本次作业的答案，除特别提示外，上课全讲过，课件上都有</a:t>
            </a:r>
            <a:r>
              <a:rPr lang="en-US" altLang="zh-CN" sz="2800" b="1" dirty="0">
                <a:latin typeface="+mn-ea"/>
              </a:rPr>
              <a:t>!!!</a:t>
            </a:r>
          </a:p>
          <a:p>
            <a:pPr algn="l"/>
            <a:r>
              <a:rPr lang="zh-CN" altLang="en-US" sz="2800" b="1" dirty="0">
                <a:latin typeface="+mn-ea"/>
              </a:rPr>
              <a:t>★ 作业本质就是对上课内容及课件的</a:t>
            </a:r>
            <a:r>
              <a:rPr lang="en-US" altLang="zh-CN" sz="2800" b="1" dirty="0">
                <a:latin typeface="+mn-ea"/>
              </a:rPr>
              <a:t>review(</a:t>
            </a:r>
            <a:r>
              <a:rPr lang="zh-CN" altLang="en-US" sz="2800" b="1" dirty="0">
                <a:latin typeface="+mn-ea"/>
              </a:rPr>
              <a:t>因为读懂程序的逻辑很重要</a:t>
            </a:r>
            <a:r>
              <a:rPr lang="en-US" altLang="zh-CN" sz="2800" b="1" dirty="0">
                <a:latin typeface="+mn-ea"/>
              </a:rPr>
              <a:t>)</a:t>
            </a:r>
          </a:p>
          <a:p>
            <a:pPr algn="l"/>
            <a:r>
              <a:rPr lang="zh-CN" altLang="en-US" sz="2800" b="1" dirty="0">
                <a:latin typeface="+mn-ea"/>
              </a:rPr>
              <a:t>★ 对上课接受程度较好的同学，可能有点重复</a:t>
            </a:r>
            <a:r>
              <a:rPr lang="en-US" altLang="zh-CN" sz="2800" b="1" dirty="0">
                <a:latin typeface="+mn-ea"/>
              </a:rPr>
              <a:t>/</a:t>
            </a:r>
            <a:r>
              <a:rPr lang="zh-CN" altLang="en-US" sz="2800" b="1" dirty="0">
                <a:latin typeface="+mn-ea"/>
              </a:rPr>
              <a:t>多余，但还得做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00352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、循环的嵌套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j, 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count1 = 0, count2 = 0, count3 =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=1;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&lt;=100;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++)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++count1;</a:t>
            </a:r>
            <a:endParaRPr kumimoji="1" lang="en-US" altLang="zh-CN" sz="16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for(j=1; j&lt;=100;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j++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++count2;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for(k=1; k&lt;=100; k++)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    ++count3;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"count1=" &lt;&lt; count1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"count2=" &lt;&lt; count2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"count3=" &lt;&lt; count3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、贴运行结果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、当循环嵌套时，内层循环的执行次数和外层循环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是什么关系？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latin typeface="+mn-ea"/>
              </a:rPr>
              <a:t>答：内层执行次数</a:t>
            </a:r>
            <a:r>
              <a:rPr kumimoji="1" lang="en-US" altLang="zh-CN" sz="1600" b="1" dirty="0">
                <a:latin typeface="+mn-ea"/>
              </a:rPr>
              <a:t>=</a:t>
            </a:r>
            <a:r>
              <a:rPr kumimoji="1" lang="zh-CN" altLang="en-US" sz="1600" b="1" dirty="0">
                <a:latin typeface="+mn-ea"/>
              </a:rPr>
              <a:t>外城循环次数*内层循环次数。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9C26F5-7939-75EA-6283-A951F322DC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782" y="1695450"/>
            <a:ext cx="1663700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054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、循环的嵌套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j, 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count1 = 0, count2 = 0, count3 =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=1;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&lt;=100;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++)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++count1;</a:t>
            </a:r>
            <a:endParaRPr kumimoji="1" lang="en-US" altLang="zh-CN" sz="1600" b="1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for(j=</a:t>
            </a:r>
            <a:r>
              <a:rPr kumimoji="1" lang="en-US" altLang="zh-CN" sz="1600" b="1" dirty="0" err="1">
                <a:solidFill>
                  <a:srgbClr val="FF0000"/>
                </a:solidFill>
                <a:highlight>
                  <a:srgbClr val="FFFF00"/>
                </a:highlight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 j&lt;=100;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j++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++count2;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for(k=</a:t>
            </a:r>
            <a:r>
              <a:rPr kumimoji="1"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宋体" pitchFamily="2" charset="-122"/>
                <a:ea typeface="宋体" pitchFamily="2" charset="-122"/>
              </a:rPr>
              <a:t>j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 k&lt;=100; k++)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    ++count3;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"count1=" &lt;&lt; count1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"count2=" &lt;&lt; count2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"count3=" &lt;&lt; count3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、贴运行结果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、当循环嵌套时，内层循环的执行次数和外层循环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是什么关系？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latin typeface="+mn-ea"/>
              </a:rPr>
              <a:t>答：最外层每执行一次，内层执行次数按照外面执行次数的增加递减，每次减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，内层执行次数为每次执行次数之和。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5240894-706E-53A0-BC60-CF33BE5F97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782" y="1682750"/>
            <a:ext cx="1460500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886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、循环的嵌套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conio.h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j,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count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=1;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&lt;=100;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++)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for(j=1; </a:t>
            </a:r>
            <a:r>
              <a:rPr kumimoji="1" lang="en-US" altLang="zh-CN" sz="1600" b="1" dirty="0" err="1">
                <a:solidFill>
                  <a:srgbClr val="FF0000"/>
                </a:solidFill>
                <a:highlight>
                  <a:srgbClr val="FFFF00"/>
                </a:highlight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&lt;=100;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j++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++count;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if (count % 1000 == 0)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"*";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    _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getch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 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"count = " &lt;&lt; count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注意：这个程序无法通过按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CTRL+C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终止，要关窗口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、贴运行结果（能表现出要表达的意思即可）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、按内外</a:t>
            </a:r>
            <a:r>
              <a:rPr kumimoji="1" lang="en-US" altLang="zh-CN" sz="1600" b="1" dirty="0">
                <a:latin typeface="+mn-ea"/>
              </a:rPr>
              <a:t>for</a:t>
            </a:r>
            <a:r>
              <a:rPr kumimoji="1" lang="zh-CN" altLang="en-US" sz="1600" b="1" dirty="0">
                <a:latin typeface="+mn-ea"/>
              </a:rPr>
              <a:t>循环的执行步骤依次分析，为什么会得到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这个结果？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latin typeface="+mn-ea"/>
              </a:rPr>
              <a:t>答：第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步 </a:t>
            </a:r>
            <a:r>
              <a:rPr kumimoji="1" lang="en-US" altLang="zh-CN" sz="1600" b="1" dirty="0">
                <a:latin typeface="+mn-ea"/>
              </a:rPr>
              <a:t>- </a:t>
            </a:r>
            <a:r>
              <a:rPr kumimoji="1" lang="zh-CN" altLang="en-US" sz="1600" b="1" dirty="0">
                <a:latin typeface="+mn-ea"/>
              </a:rPr>
              <a:t>外循环表达式</a:t>
            </a:r>
            <a:r>
              <a:rPr kumimoji="1" lang="en-US" altLang="zh-CN" sz="1600" b="1" dirty="0">
                <a:latin typeface="+mn-ea"/>
              </a:rPr>
              <a:t>1 - </a:t>
            </a:r>
            <a:r>
              <a:rPr kumimoji="1" lang="en-US" altLang="zh-CN" sz="1600" b="1" dirty="0" err="1">
                <a:latin typeface="+mn-ea"/>
              </a:rPr>
              <a:t>i</a:t>
            </a:r>
            <a:r>
              <a:rPr kumimoji="1" lang="en-US" altLang="zh-CN" sz="1600" b="1" dirty="0">
                <a:latin typeface="+mn-ea"/>
              </a:rPr>
              <a:t> = 1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第</a:t>
            </a: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步 </a:t>
            </a:r>
            <a:r>
              <a:rPr kumimoji="1" lang="en-US" altLang="zh-CN" sz="1600" b="1" dirty="0">
                <a:latin typeface="+mn-ea"/>
              </a:rPr>
              <a:t>- </a:t>
            </a:r>
            <a:r>
              <a:rPr kumimoji="1" lang="zh-CN" altLang="en-US" sz="1600" b="1" dirty="0">
                <a:latin typeface="+mn-ea"/>
              </a:rPr>
              <a:t>外循环表达式</a:t>
            </a:r>
            <a:r>
              <a:rPr kumimoji="1" lang="en-US" altLang="zh-CN" sz="1600" b="1" dirty="0">
                <a:latin typeface="+mn-ea"/>
              </a:rPr>
              <a:t>2 - </a:t>
            </a:r>
            <a:r>
              <a:rPr kumimoji="1" lang="zh-CN" altLang="en-US" sz="1600" b="1" dirty="0">
                <a:latin typeface="+mn-ea"/>
              </a:rPr>
              <a:t>判断 </a:t>
            </a:r>
            <a:r>
              <a:rPr kumimoji="1" lang="en-US" altLang="zh-CN" sz="1600" b="1" dirty="0" err="1">
                <a:latin typeface="+mn-ea"/>
              </a:rPr>
              <a:t>i</a:t>
            </a:r>
            <a:r>
              <a:rPr kumimoji="1" lang="en-US" altLang="zh-CN" sz="1600" b="1" dirty="0">
                <a:latin typeface="+mn-ea"/>
              </a:rPr>
              <a:t> &lt;= 100 </a:t>
            </a:r>
            <a:r>
              <a:rPr kumimoji="1" lang="zh-CN" altLang="en-US" sz="1600" b="1" dirty="0">
                <a:latin typeface="+mn-ea"/>
              </a:rPr>
              <a:t>为真，进入循环体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第</a:t>
            </a: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步 </a:t>
            </a:r>
            <a:r>
              <a:rPr kumimoji="1" lang="en-US" altLang="zh-CN" sz="1600" b="1" dirty="0">
                <a:latin typeface="+mn-ea"/>
              </a:rPr>
              <a:t>- </a:t>
            </a:r>
            <a:r>
              <a:rPr kumimoji="1" lang="zh-CN" altLang="en-US" sz="1600" b="1" dirty="0">
                <a:latin typeface="+mn-ea"/>
              </a:rPr>
              <a:t>内循环表达式</a:t>
            </a:r>
            <a:r>
              <a:rPr kumimoji="1" lang="en-US" altLang="zh-CN" sz="1600" b="1" dirty="0">
                <a:latin typeface="+mn-ea"/>
              </a:rPr>
              <a:t>1 - j = 1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第</a:t>
            </a: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步 </a:t>
            </a:r>
            <a:r>
              <a:rPr kumimoji="1" lang="en-US" altLang="zh-CN" sz="1600" b="1" dirty="0">
                <a:latin typeface="+mn-ea"/>
              </a:rPr>
              <a:t>- </a:t>
            </a:r>
            <a:r>
              <a:rPr kumimoji="1" lang="zh-CN" altLang="en-US" sz="1600" b="1" dirty="0">
                <a:latin typeface="+mn-ea"/>
              </a:rPr>
              <a:t>内循环表达式</a:t>
            </a:r>
            <a:r>
              <a:rPr kumimoji="1" lang="en-US" altLang="zh-CN" sz="1600" b="1" dirty="0">
                <a:latin typeface="+mn-ea"/>
              </a:rPr>
              <a:t>2 - </a:t>
            </a:r>
            <a:r>
              <a:rPr kumimoji="1" lang="zh-CN" altLang="en-US" sz="1600" b="1" dirty="0">
                <a:latin typeface="+mn-ea"/>
              </a:rPr>
              <a:t>判断 </a:t>
            </a:r>
            <a:r>
              <a:rPr kumimoji="1" lang="en-US" altLang="zh-CN" sz="1600" b="1" dirty="0">
                <a:latin typeface="+mn-ea"/>
              </a:rPr>
              <a:t>i &lt;= 100 </a:t>
            </a:r>
            <a:r>
              <a:rPr kumimoji="1" lang="zh-CN" altLang="en-US" sz="1600" b="1" dirty="0">
                <a:latin typeface="+mn-ea"/>
              </a:rPr>
              <a:t>为真，进入循环体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第</a:t>
            </a: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步 </a:t>
            </a:r>
            <a:r>
              <a:rPr kumimoji="1" lang="en-US" altLang="zh-CN" sz="1600" b="1" dirty="0">
                <a:latin typeface="+mn-ea"/>
              </a:rPr>
              <a:t>- </a:t>
            </a:r>
            <a:r>
              <a:rPr kumimoji="1" lang="zh-CN" altLang="en-US" sz="1600" b="1" dirty="0">
                <a:latin typeface="+mn-ea"/>
              </a:rPr>
              <a:t>内循环表达式</a:t>
            </a:r>
            <a:r>
              <a:rPr kumimoji="1" lang="en-US" altLang="zh-CN" sz="1600" b="1" dirty="0">
                <a:latin typeface="+mn-ea"/>
              </a:rPr>
              <a:t>3 - ++count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count = 1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第</a:t>
            </a:r>
            <a:r>
              <a:rPr kumimoji="1" lang="en-US" altLang="zh-CN" sz="1600" b="1" dirty="0">
                <a:latin typeface="+mn-ea"/>
              </a:rPr>
              <a:t>6</a:t>
            </a:r>
            <a:r>
              <a:rPr kumimoji="1" lang="zh-CN" altLang="en-US" sz="1600" b="1" dirty="0">
                <a:latin typeface="+mn-ea"/>
              </a:rPr>
              <a:t>步 </a:t>
            </a:r>
            <a:r>
              <a:rPr kumimoji="1" lang="en-US" altLang="zh-CN" sz="1600" b="1" dirty="0">
                <a:latin typeface="+mn-ea"/>
              </a:rPr>
              <a:t>- </a:t>
            </a:r>
            <a:r>
              <a:rPr kumimoji="1" lang="zh-CN" altLang="en-US" sz="1600" b="1" dirty="0">
                <a:latin typeface="+mn-ea"/>
              </a:rPr>
              <a:t>判断 </a:t>
            </a:r>
            <a:r>
              <a:rPr kumimoji="1" lang="en-US" altLang="zh-CN" sz="1600" b="1" dirty="0">
                <a:latin typeface="+mn-ea"/>
              </a:rPr>
              <a:t>count % 1000 == 0 </a:t>
            </a:r>
            <a:r>
              <a:rPr kumimoji="1" lang="zh-CN" altLang="en-US" sz="1600" b="1" dirty="0">
                <a:latin typeface="+mn-ea"/>
              </a:rPr>
              <a:t>为假，跳过 </a:t>
            </a:r>
            <a:r>
              <a:rPr kumimoji="1" lang="en-US" altLang="zh-CN" sz="1600" b="1" dirty="0">
                <a:latin typeface="+mn-ea"/>
              </a:rPr>
              <a:t>if </a:t>
            </a:r>
            <a:r>
              <a:rPr kumimoji="1" lang="zh-CN" altLang="en-US" sz="1600" b="1" dirty="0">
                <a:latin typeface="+mn-ea"/>
              </a:rPr>
              <a:t>语句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第</a:t>
            </a:r>
            <a:r>
              <a:rPr kumimoji="1" lang="en-US" altLang="zh-CN" sz="1600" b="1" dirty="0">
                <a:latin typeface="+mn-ea"/>
              </a:rPr>
              <a:t>7</a:t>
            </a:r>
            <a:r>
              <a:rPr kumimoji="1" lang="zh-CN" altLang="en-US" sz="1600" b="1" dirty="0">
                <a:latin typeface="+mn-ea"/>
              </a:rPr>
              <a:t>步 </a:t>
            </a:r>
            <a:r>
              <a:rPr kumimoji="1" lang="en-US" altLang="zh-CN" sz="1600" b="1" dirty="0">
                <a:latin typeface="+mn-ea"/>
              </a:rPr>
              <a:t>- </a:t>
            </a:r>
            <a:r>
              <a:rPr kumimoji="1" lang="zh-CN" altLang="en-US" sz="1600" b="1" dirty="0">
                <a:latin typeface="+mn-ea"/>
              </a:rPr>
              <a:t>内循环表达式</a:t>
            </a:r>
            <a:r>
              <a:rPr kumimoji="1" lang="en-US" altLang="zh-CN" sz="1600" b="1" dirty="0">
                <a:latin typeface="+mn-ea"/>
              </a:rPr>
              <a:t>4 - </a:t>
            </a:r>
            <a:r>
              <a:rPr kumimoji="1" lang="en-US" altLang="zh-CN" sz="1600" b="1" dirty="0" err="1">
                <a:latin typeface="+mn-ea"/>
              </a:rPr>
              <a:t>j++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j = 2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重复步骤</a:t>
            </a: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到</a:t>
            </a:r>
            <a:r>
              <a:rPr kumimoji="1" lang="en-US" altLang="zh-CN" sz="1600" b="1" dirty="0">
                <a:latin typeface="+mn-ea"/>
              </a:rPr>
              <a:t>7</a:t>
            </a:r>
            <a:r>
              <a:rPr kumimoji="1" lang="zh-CN" altLang="en-US" sz="1600" b="1" dirty="0">
                <a:latin typeface="+mn-ea"/>
              </a:rPr>
              <a:t>，直到 </a:t>
            </a:r>
            <a:r>
              <a:rPr kumimoji="1" lang="en-US" altLang="zh-CN" sz="1600" b="1" dirty="0">
                <a:latin typeface="+mn-ea"/>
              </a:rPr>
              <a:t>j = 100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count = 100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第</a:t>
            </a:r>
            <a:r>
              <a:rPr kumimoji="1" lang="en-US" altLang="zh-CN" sz="1600" b="1" dirty="0">
                <a:latin typeface="+mn-ea"/>
              </a:rPr>
              <a:t>8</a:t>
            </a:r>
            <a:r>
              <a:rPr kumimoji="1" lang="zh-CN" altLang="en-US" sz="1600" b="1" dirty="0">
                <a:latin typeface="+mn-ea"/>
              </a:rPr>
              <a:t>步 </a:t>
            </a:r>
            <a:r>
              <a:rPr kumimoji="1" lang="en-US" altLang="zh-CN" sz="1600" b="1" dirty="0">
                <a:latin typeface="+mn-ea"/>
              </a:rPr>
              <a:t>- </a:t>
            </a:r>
            <a:r>
              <a:rPr kumimoji="1" lang="zh-CN" altLang="en-US" sz="1600" b="1" dirty="0">
                <a:latin typeface="+mn-ea"/>
              </a:rPr>
              <a:t>内循环表达式</a:t>
            </a:r>
            <a:r>
              <a:rPr kumimoji="1" lang="en-US" altLang="zh-CN" sz="1600" b="1" dirty="0">
                <a:latin typeface="+mn-ea"/>
              </a:rPr>
              <a:t>2 - </a:t>
            </a:r>
            <a:r>
              <a:rPr kumimoji="1" lang="zh-CN" altLang="en-US" sz="1600" b="1" dirty="0">
                <a:latin typeface="+mn-ea"/>
              </a:rPr>
              <a:t>判断 </a:t>
            </a:r>
            <a:r>
              <a:rPr kumimoji="1" lang="en-US" altLang="zh-CN" sz="1600" b="1" dirty="0">
                <a:latin typeface="+mn-ea"/>
              </a:rPr>
              <a:t>i &lt;= 100 </a:t>
            </a:r>
            <a:r>
              <a:rPr kumimoji="1" lang="zh-CN" altLang="en-US" sz="1600" b="1" dirty="0">
                <a:latin typeface="+mn-ea"/>
              </a:rPr>
              <a:t>为真，进入循环体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第</a:t>
            </a:r>
            <a:r>
              <a:rPr kumimoji="1" lang="en-US" altLang="zh-CN" sz="1600" b="1" dirty="0">
                <a:latin typeface="+mn-ea"/>
              </a:rPr>
              <a:t>9</a:t>
            </a:r>
            <a:r>
              <a:rPr kumimoji="1" lang="zh-CN" altLang="en-US" sz="1600" b="1" dirty="0">
                <a:latin typeface="+mn-ea"/>
              </a:rPr>
              <a:t>步 </a:t>
            </a:r>
            <a:r>
              <a:rPr kumimoji="1" lang="en-US" altLang="zh-CN" sz="1600" b="1" dirty="0">
                <a:latin typeface="+mn-ea"/>
              </a:rPr>
              <a:t>–</a:t>
            </a:r>
            <a:r>
              <a:rPr kumimoji="1" lang="zh-CN" altLang="en-US" sz="1600" b="1" dirty="0">
                <a:latin typeface="+mn-ea"/>
              </a:rPr>
              <a:t>判断 </a:t>
            </a:r>
            <a:r>
              <a:rPr kumimoji="1" lang="en-US" altLang="zh-CN" sz="1600" b="1" dirty="0">
                <a:latin typeface="+mn-ea"/>
              </a:rPr>
              <a:t>count % 1000 == 0 </a:t>
            </a:r>
            <a:r>
              <a:rPr kumimoji="1" lang="zh-CN" altLang="en-US" sz="1600" b="1" dirty="0">
                <a:latin typeface="+mn-ea"/>
              </a:rPr>
              <a:t>为真，进入 </a:t>
            </a:r>
            <a:r>
              <a:rPr kumimoji="1" lang="en-US" altLang="zh-CN" sz="1600" b="1" dirty="0">
                <a:latin typeface="+mn-ea"/>
              </a:rPr>
              <a:t>if </a:t>
            </a:r>
            <a:r>
              <a:rPr kumimoji="1" lang="zh-CN" altLang="en-US" sz="1600" b="1" dirty="0">
                <a:latin typeface="+mn-ea"/>
              </a:rPr>
              <a:t>语句 </a:t>
            </a:r>
            <a:r>
              <a:rPr kumimoji="1" lang="en-US" altLang="zh-CN" sz="1600" b="1" dirty="0" err="1">
                <a:latin typeface="+mn-ea"/>
              </a:rPr>
              <a:t>cout</a:t>
            </a:r>
            <a:r>
              <a:rPr kumimoji="1" lang="en-US" altLang="zh-CN" sz="1600" b="1" dirty="0">
                <a:latin typeface="+mn-ea"/>
              </a:rPr>
              <a:t> &lt;&lt; "*"; </a:t>
            </a:r>
            <a:r>
              <a:rPr kumimoji="1" lang="zh-CN" altLang="en-US" sz="1600" b="1" dirty="0">
                <a:latin typeface="+mn-ea"/>
              </a:rPr>
              <a:t>并等待用户按键 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en-US" altLang="zh-CN" sz="1600" b="1" dirty="0" err="1">
                <a:latin typeface="+mn-ea"/>
              </a:rPr>
              <a:t>getch</a:t>
            </a:r>
            <a:r>
              <a:rPr kumimoji="1" lang="en-US" altLang="zh-CN" sz="1600" b="1" dirty="0">
                <a:latin typeface="+mn-ea"/>
              </a:rPr>
              <a:t>()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latin typeface="+mn-ea"/>
              </a:rPr>
              <a:t>    第</a:t>
            </a:r>
            <a:r>
              <a:rPr kumimoji="1" lang="en-US" altLang="zh-CN" sz="1600" b="1" dirty="0">
                <a:latin typeface="+mn-ea"/>
              </a:rPr>
              <a:t>10</a:t>
            </a:r>
            <a:r>
              <a:rPr kumimoji="1" lang="zh-CN" altLang="en-US" sz="1600" b="1" dirty="0">
                <a:latin typeface="+mn-ea"/>
              </a:rPr>
              <a:t>步 </a:t>
            </a:r>
            <a:r>
              <a:rPr kumimoji="1" lang="en-US" altLang="zh-CN" sz="1600" b="1" dirty="0">
                <a:latin typeface="+mn-ea"/>
              </a:rPr>
              <a:t>–</a:t>
            </a:r>
            <a:r>
              <a:rPr kumimoji="1" lang="zh-CN" altLang="en-US" sz="1600" b="1" dirty="0">
                <a:latin typeface="+mn-ea"/>
              </a:rPr>
              <a:t> 重复</a:t>
            </a:r>
            <a:r>
              <a:rPr kumimoji="1" lang="en-US" altLang="zh-CN" sz="1600" b="1" dirty="0">
                <a:latin typeface="+mn-ea"/>
              </a:rPr>
              <a:t>7-9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latin typeface="+mn-ea"/>
              </a:rPr>
              <a:t>由于内层循环不会对</a:t>
            </a:r>
            <a:r>
              <a:rPr kumimoji="1" lang="en-US" altLang="zh-CN" sz="1600" b="1" dirty="0">
                <a:latin typeface="+mn-ea"/>
              </a:rPr>
              <a:t>j</a:t>
            </a:r>
            <a:r>
              <a:rPr kumimoji="1" lang="zh-CN" altLang="en-US" sz="1600" b="1" dirty="0">
                <a:latin typeface="+mn-ea"/>
              </a:rPr>
              <a:t>的大小进行限制，因此所有输入的</a:t>
            </a:r>
            <a:r>
              <a:rPr kumimoji="1" lang="en-US" altLang="zh-CN" sz="1600" b="1" dirty="0">
                <a:latin typeface="+mn-ea"/>
              </a:rPr>
              <a:t>CTRL+C</a:t>
            </a:r>
            <a:r>
              <a:rPr kumimoji="1" lang="zh-CN" altLang="en-US" sz="1600" b="1" dirty="0">
                <a:latin typeface="+mn-ea"/>
              </a:rPr>
              <a:t>都被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en-US" altLang="zh-CN" sz="1600" b="1" dirty="0" err="1">
                <a:latin typeface="+mn-ea"/>
              </a:rPr>
              <a:t>getch</a:t>
            </a:r>
            <a:r>
              <a:rPr kumimoji="1" lang="en-US" altLang="zh-CN" sz="1600" b="1" dirty="0">
                <a:latin typeface="+mn-ea"/>
              </a:rPr>
              <a:t>()</a:t>
            </a:r>
            <a:r>
              <a:rPr kumimoji="1" lang="zh-CN" altLang="en-US" sz="1600" b="1" dirty="0">
                <a:latin typeface="+mn-ea"/>
              </a:rPr>
              <a:t>了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注：具体内容瞎写的，不要信；步骤写到能得到结论即可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2F6F48D-11BE-66C7-A5C1-46DDF95A69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890" y="1568450"/>
            <a:ext cx="1511300" cy="77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976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7481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break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>
                <a:latin typeface="+mn-ea"/>
              </a:rPr>
              <a:t>continue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已知代码如下，回答问题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while(1)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①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②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if (X)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continue;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③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④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当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X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为真时，重复执行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__①②_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①②③④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）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当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X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为假时，重复执行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 ①②③④ 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①②③④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）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267324" y="1323975"/>
            <a:ext cx="557212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for(1; 1; ④)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①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②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if (X)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continue;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③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当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X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为真时，重复执行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_①②_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①②③④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）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当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X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为假时，重复执行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 ①②③④ 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①②③④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）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2447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break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>
                <a:latin typeface="+mn-ea"/>
              </a:rPr>
              <a:t>continue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=0,sum=0;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3333CC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itchFamily="2" charset="-122"/>
                <a:ea typeface="宋体" pitchFamily="2" charset="-122"/>
              </a:rPr>
              <a:t>    while(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 pitchFamily="2" charset="-122"/>
                <a:ea typeface="宋体" pitchFamily="2" charset="-122"/>
              </a:rPr>
              <a:t>&lt;1000)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itchFamily="2" charset="-122"/>
                <a:ea typeface="宋体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 pitchFamily="2" charset="-122"/>
                <a:ea typeface="宋体" pitchFamily="2" charset="-122"/>
              </a:rPr>
              <a:t>++;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itchFamily="2" charset="-122"/>
                <a:ea typeface="宋体" pitchFamily="2" charset="-122"/>
              </a:rPr>
              <a:t>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itchFamily="2" charset="-122"/>
                <a:ea typeface="宋体" pitchFamily="2" charset="-122"/>
              </a:rPr>
              <a:t>        sum=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 pitchFamily="2" charset="-122"/>
                <a:ea typeface="宋体" pitchFamily="2" charset="-122"/>
              </a:rPr>
              <a:t>sum+i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itchFamily="2" charset="-122"/>
                <a:ea typeface="宋体" pitchFamily="2" charset="-122"/>
              </a:rPr>
              <a:t>     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 sum=" &lt;&lt; sum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问题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：循环执行了多少次？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1000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问题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sum=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sum+i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执行了多少次？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1000</a:t>
            </a:r>
            <a:endParaRPr kumimoji="1" lang="en-US" altLang="zh-CN" sz="1600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267324" y="1323975"/>
            <a:ext cx="557212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=0,sum=0;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3333CC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itchFamily="2" charset="-122"/>
                <a:ea typeface="宋体" pitchFamily="2" charset="-122"/>
              </a:rPr>
              <a:t>    while(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 pitchFamily="2" charset="-122"/>
                <a:ea typeface="宋体" pitchFamily="2" charset="-122"/>
              </a:rPr>
              <a:t>&lt;1000)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itchFamily="2" charset="-122"/>
                <a:ea typeface="宋体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 pitchFamily="2" charset="-122"/>
                <a:ea typeface="宋体" pitchFamily="2" charset="-122"/>
              </a:rPr>
              <a:t>++;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itchFamily="2" charset="-122"/>
                <a:ea typeface="宋体" pitchFamily="2" charset="-122"/>
              </a:rPr>
              <a:t>        continue;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itchFamily="2" charset="-122"/>
                <a:ea typeface="宋体" pitchFamily="2" charset="-122"/>
              </a:rPr>
              <a:t>        sum=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 pitchFamily="2" charset="-122"/>
                <a:ea typeface="宋体" pitchFamily="2" charset="-122"/>
              </a:rPr>
              <a:t>sum+i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itchFamily="2" charset="-122"/>
                <a:ea typeface="宋体" pitchFamily="2" charset="-122"/>
              </a:rPr>
              <a:t>     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 sum=" &lt;&lt; sum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问题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：循环执行了多少次？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1000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问题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sum=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sum+i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执行了多少次？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0</a:t>
            </a:r>
            <a:endParaRPr kumimoji="1" lang="en-US" altLang="zh-CN" sz="1600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93644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83110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、观察程序运行结果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000" b="1" dirty="0">
                <a:latin typeface="+mn-ea"/>
              </a:rPr>
              <a:t>#include &lt;iostream&gt;</a:t>
            </a:r>
          </a:p>
          <a:p>
            <a:r>
              <a:rPr lang="en-US" altLang="zh-CN" sz="1000" b="1" dirty="0">
                <a:latin typeface="+mn-ea"/>
              </a:rPr>
              <a:t>#include &lt;</a:t>
            </a:r>
            <a:r>
              <a:rPr lang="en-US" altLang="zh-CN" sz="1000" b="1" dirty="0" err="1">
                <a:latin typeface="+mn-ea"/>
              </a:rPr>
              <a:t>iomanip</a:t>
            </a:r>
            <a:r>
              <a:rPr lang="en-US" altLang="zh-CN" sz="1000" b="1" dirty="0">
                <a:latin typeface="+mn-ea"/>
              </a:rPr>
              <a:t>&gt;    //</a:t>
            </a:r>
            <a:r>
              <a:rPr lang="zh-CN" altLang="en-US" sz="1000" b="1" dirty="0">
                <a:latin typeface="+mn-ea"/>
              </a:rPr>
              <a:t>格式输出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#include &lt;</a:t>
            </a:r>
            <a:r>
              <a:rPr lang="en-US" altLang="zh-CN" sz="1000" b="1" dirty="0" err="1">
                <a:latin typeface="+mn-ea"/>
              </a:rPr>
              <a:t>cmath</a:t>
            </a:r>
            <a:r>
              <a:rPr lang="en-US" altLang="zh-CN" sz="1000" b="1" dirty="0">
                <a:latin typeface="+mn-ea"/>
              </a:rPr>
              <a:t>&gt;      //fabs</a:t>
            </a:r>
          </a:p>
          <a:p>
            <a:r>
              <a:rPr lang="en-US" altLang="zh-CN" sz="1000" b="1" dirty="0">
                <a:latin typeface="+mn-ea"/>
              </a:rPr>
              <a:t>#include &lt;</a:t>
            </a:r>
            <a:r>
              <a:rPr lang="en-US" altLang="zh-CN" sz="1000" b="1" dirty="0" err="1">
                <a:latin typeface="+mn-ea"/>
              </a:rPr>
              <a:t>windows.h</a:t>
            </a:r>
            <a:r>
              <a:rPr lang="en-US" altLang="zh-CN" sz="1000" b="1" dirty="0">
                <a:latin typeface="+mn-ea"/>
              </a:rPr>
              <a:t>&gt;  //</a:t>
            </a:r>
            <a:r>
              <a:rPr lang="zh-CN" altLang="en-US" sz="1000" b="1" dirty="0">
                <a:latin typeface="+mn-ea"/>
              </a:rPr>
              <a:t>取系统时间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using namespace std;</a:t>
            </a:r>
          </a:p>
          <a:p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int main()</a:t>
            </a:r>
          </a:p>
          <a:p>
            <a:r>
              <a:rPr lang="en-US" altLang="zh-CN" sz="1000" b="1" dirty="0">
                <a:latin typeface="+mn-ea"/>
              </a:rPr>
              <a:t>{</a:t>
            </a:r>
          </a:p>
          <a:p>
            <a:r>
              <a:rPr lang="en-US" altLang="zh-CN" sz="1000" b="1" dirty="0">
                <a:latin typeface="+mn-ea"/>
              </a:rPr>
              <a:t>    int s=1;</a:t>
            </a:r>
          </a:p>
          <a:p>
            <a:r>
              <a:rPr lang="en-US" altLang="zh-CN" sz="1000" b="1" dirty="0">
                <a:latin typeface="+mn-ea"/>
              </a:rPr>
              <a:t>    double n=1, t=1, pi=0;</a:t>
            </a:r>
          </a:p>
          <a:p>
            <a:endParaRPr lang="en-US" altLang="zh-CN" sz="10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   LARGE_INTEGER tick, begin, end;</a:t>
            </a:r>
          </a:p>
          <a:p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QueryPerformanceFrequency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(&amp;tick);	//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</a:rPr>
              <a:t>取计数器频率</a:t>
            </a:r>
          </a:p>
          <a:p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QueryPerformanceCounter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(&amp;begin);	//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</a:rPr>
              <a:t>取初始硬件定时器计数</a:t>
            </a:r>
          </a:p>
          <a:p>
            <a:endParaRPr lang="en-US" altLang="zh-CN" sz="1000" b="1" dirty="0">
              <a:latin typeface="+mn-ea"/>
            </a:endParaRPr>
          </a:p>
          <a:p>
            <a:r>
              <a:rPr lang="zh-CN" altLang="en-US" sz="1000" b="1" dirty="0">
                <a:latin typeface="+mn-ea"/>
              </a:rPr>
              <a:t>    </a:t>
            </a:r>
            <a:r>
              <a:rPr lang="en-US" altLang="zh-CN" sz="1000" b="1" dirty="0">
                <a:latin typeface="+mn-ea"/>
              </a:rPr>
              <a:t>while(fabs(t)&gt;1e-6) {</a:t>
            </a:r>
          </a:p>
          <a:p>
            <a:r>
              <a:rPr lang="en-US" altLang="zh-CN" sz="1000" b="1" dirty="0">
                <a:latin typeface="+mn-ea"/>
              </a:rPr>
              <a:t>       pi=</a:t>
            </a:r>
            <a:r>
              <a:rPr lang="en-US" altLang="zh-CN" sz="1000" b="1" dirty="0" err="1">
                <a:latin typeface="+mn-ea"/>
              </a:rPr>
              <a:t>pi+t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r>
              <a:rPr lang="en-US" altLang="zh-CN" sz="1000" b="1" dirty="0">
                <a:latin typeface="+mn-ea"/>
              </a:rPr>
              <a:t>       n=n+2;</a:t>
            </a:r>
          </a:p>
          <a:p>
            <a:r>
              <a:rPr lang="en-US" altLang="zh-CN" sz="1000" b="1" dirty="0">
                <a:latin typeface="+mn-ea"/>
              </a:rPr>
              <a:t>       s=-s;</a:t>
            </a:r>
          </a:p>
          <a:p>
            <a:r>
              <a:rPr lang="en-US" altLang="zh-CN" sz="1000" b="1" dirty="0">
                <a:latin typeface="+mn-ea"/>
              </a:rPr>
              <a:t>       t=s/n;</a:t>
            </a:r>
          </a:p>
          <a:p>
            <a:r>
              <a:rPr lang="en-US" altLang="zh-CN" sz="1000" b="1" dirty="0">
                <a:latin typeface="+mn-ea"/>
              </a:rPr>
              <a:t>       }</a:t>
            </a:r>
          </a:p>
          <a:p>
            <a:endParaRPr lang="en-US" altLang="zh-CN" sz="10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QueryPerformanceCounter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(&amp;end);//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</a:rPr>
              <a:t>获得终止硬件定时器计数</a:t>
            </a:r>
            <a:endParaRPr lang="en-US" altLang="zh-CN" sz="1000" b="1" dirty="0">
              <a:solidFill>
                <a:srgbClr val="FF0000"/>
              </a:solidFill>
              <a:latin typeface="+mn-ea"/>
            </a:endParaRPr>
          </a:p>
          <a:p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pi=pi*4;</a:t>
            </a: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"n=" 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(10) &lt;&lt; n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&lt;&lt;"pi="&lt;&lt;</a:t>
            </a:r>
            <a:r>
              <a:rPr lang="en-US" altLang="zh-CN" sz="1000" b="1" dirty="0" err="1">
                <a:latin typeface="+mn-ea"/>
              </a:rPr>
              <a:t>setiosflags</a:t>
            </a:r>
            <a:r>
              <a:rPr lang="en-US" altLang="zh-CN" sz="1000" b="1" dirty="0">
                <a:latin typeface="+mn-ea"/>
              </a:rPr>
              <a:t>(</a:t>
            </a:r>
            <a:r>
              <a:rPr lang="en-US" altLang="zh-CN" sz="1000" b="1" dirty="0" err="1">
                <a:latin typeface="+mn-ea"/>
              </a:rPr>
              <a:t>ios</a:t>
            </a:r>
            <a:r>
              <a:rPr lang="en-US" altLang="zh-CN" sz="1000" b="1" dirty="0">
                <a:latin typeface="+mn-ea"/>
              </a:rPr>
              <a:t>::fixed)&lt;&lt;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(9)&lt;&lt;pi&lt;&lt;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endParaRPr lang="zh-CN" altLang="en-US" sz="1000" b="1" dirty="0">
              <a:latin typeface="+mn-ea"/>
            </a:endParaRPr>
          </a:p>
          <a:p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cout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&lt;&lt; "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</a:rPr>
              <a:t>计数器频率：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" &lt;&lt;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tick.QuadPart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&lt;&lt; "Hz" &lt;&lt;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endl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;</a:t>
            </a:r>
          </a:p>
          <a:p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cout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&lt;&lt; "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</a:rPr>
              <a:t>时钟计数  ：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" &lt;&lt;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end.QuadPart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-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begin.QuadPart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&lt;&lt;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endl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;</a:t>
            </a:r>
          </a:p>
          <a:p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cout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&lt;&lt;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setprecision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(6) &lt;&lt; (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end.QuadPart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-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begin.QuadPart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)/double(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tick.QuadPart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) &lt;&lt; "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</a:rPr>
              <a:t>秒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" &lt;&lt;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endl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;</a:t>
            </a:r>
          </a:p>
          <a:p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return 0;</a:t>
            </a:r>
          </a:p>
          <a:p>
            <a:r>
              <a:rPr lang="en-US" altLang="zh-CN" sz="10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065986" y="2154621"/>
            <a:ext cx="5773464" cy="306902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(1) n</a:t>
            </a:r>
            <a:r>
              <a:rPr lang="zh-CN" altLang="en-US" sz="1200" b="1" dirty="0">
                <a:latin typeface="+mn-ea"/>
              </a:rPr>
              <a:t>，</a:t>
            </a:r>
            <a:r>
              <a:rPr lang="en-US" altLang="zh-CN" sz="1200" b="1" dirty="0">
                <a:latin typeface="+mn-ea"/>
              </a:rPr>
              <a:t>t</a:t>
            </a:r>
            <a:r>
              <a:rPr lang="zh-CN" altLang="en-US" sz="1200" b="1" dirty="0">
                <a:latin typeface="+mn-ea"/>
              </a:rPr>
              <a:t>，</a:t>
            </a:r>
            <a:r>
              <a:rPr lang="en-US" altLang="zh-CN" sz="1200" b="1" dirty="0">
                <a:latin typeface="+mn-ea"/>
              </a:rPr>
              <a:t>pi</a:t>
            </a:r>
            <a:r>
              <a:rPr lang="zh-CN" altLang="en-US" sz="1200" b="1" dirty="0">
                <a:latin typeface="+mn-ea"/>
              </a:rPr>
              <a:t>为</a:t>
            </a:r>
            <a:r>
              <a:rPr lang="en-US" altLang="zh-CN" sz="1200" b="1" dirty="0">
                <a:latin typeface="+mn-ea"/>
              </a:rPr>
              <a:t>double</a:t>
            </a:r>
            <a:r>
              <a:rPr lang="zh-CN" altLang="en-US" sz="1200" b="1" dirty="0">
                <a:latin typeface="+mn-ea"/>
              </a:rPr>
              <a:t>型</a:t>
            </a:r>
          </a:p>
          <a:p>
            <a:r>
              <a:rPr lang="zh-CN" altLang="en-US" sz="1200" b="1" dirty="0">
                <a:latin typeface="+mn-ea"/>
              </a:rPr>
              <a:t>  精度为</a:t>
            </a:r>
            <a:r>
              <a:rPr lang="en-US" altLang="zh-CN" sz="1200" b="1" dirty="0">
                <a:latin typeface="+mn-ea"/>
              </a:rPr>
              <a:t>1e-6</a:t>
            </a:r>
            <a:r>
              <a:rPr lang="zh-CN" altLang="en-US" sz="1200" b="1" dirty="0">
                <a:latin typeface="+mn-ea"/>
              </a:rPr>
              <a:t>：</a:t>
            </a:r>
            <a:r>
              <a:rPr lang="en-US" altLang="zh-CN" sz="1200" b="1" dirty="0">
                <a:latin typeface="+mn-ea"/>
              </a:rPr>
              <a:t>n=___1000001____  pi=_3.141590654_ </a:t>
            </a:r>
            <a:r>
              <a:rPr lang="zh-CN" altLang="en-US" sz="1200" b="1" dirty="0">
                <a:latin typeface="+mn-ea"/>
              </a:rPr>
              <a:t>时间</a:t>
            </a:r>
            <a:r>
              <a:rPr lang="en-US" altLang="zh-CN" sz="1200" b="1" dirty="0">
                <a:latin typeface="+mn-ea"/>
              </a:rPr>
              <a:t>=__0.005912_(</a:t>
            </a:r>
            <a:r>
              <a:rPr lang="zh-CN" altLang="en-US" sz="1200" b="1" dirty="0">
                <a:latin typeface="+mn-ea"/>
              </a:rPr>
              <a:t>秒</a:t>
            </a:r>
            <a:r>
              <a:rPr lang="en-US" altLang="zh-CN" sz="1200" b="1" dirty="0">
                <a:latin typeface="+mn-ea"/>
              </a:rPr>
              <a:t>)</a:t>
            </a:r>
          </a:p>
          <a:p>
            <a:r>
              <a:rPr lang="en-US" altLang="zh-CN" sz="1200" b="1" dirty="0">
                <a:latin typeface="+mn-ea"/>
              </a:rPr>
              <a:t>        1e-7</a:t>
            </a:r>
            <a:r>
              <a:rPr lang="zh-CN" altLang="en-US" sz="1200" b="1" dirty="0">
                <a:latin typeface="+mn-ea"/>
              </a:rPr>
              <a:t>：</a:t>
            </a:r>
            <a:r>
              <a:rPr lang="en-US" altLang="zh-CN" sz="1200" b="1" dirty="0">
                <a:latin typeface="+mn-ea"/>
              </a:rPr>
              <a:t>n=___10000001___  pi=_3.141592454 </a:t>
            </a:r>
            <a:r>
              <a:rPr lang="zh-CN" altLang="en-US" sz="1200" b="1" dirty="0">
                <a:latin typeface="+mn-ea"/>
              </a:rPr>
              <a:t>时间</a:t>
            </a:r>
            <a:r>
              <a:rPr lang="en-US" altLang="zh-CN" sz="1200" b="1" dirty="0">
                <a:latin typeface="+mn-ea"/>
              </a:rPr>
              <a:t>=_0.043133_(</a:t>
            </a:r>
            <a:r>
              <a:rPr lang="zh-CN" altLang="en-US" sz="1200" b="1" dirty="0">
                <a:latin typeface="+mn-ea"/>
              </a:rPr>
              <a:t>秒</a:t>
            </a:r>
            <a:r>
              <a:rPr lang="en-US" altLang="zh-CN" sz="1200" b="1" dirty="0">
                <a:latin typeface="+mn-ea"/>
              </a:rPr>
              <a:t>)</a:t>
            </a:r>
          </a:p>
          <a:p>
            <a:r>
              <a:rPr lang="en-US" altLang="zh-CN" sz="1200" b="1" dirty="0">
                <a:latin typeface="+mn-ea"/>
              </a:rPr>
              <a:t>        1e-8</a:t>
            </a:r>
            <a:r>
              <a:rPr lang="zh-CN" altLang="en-US" sz="1200" b="1" dirty="0">
                <a:latin typeface="+mn-ea"/>
              </a:rPr>
              <a:t>：</a:t>
            </a:r>
            <a:r>
              <a:rPr lang="en-US" altLang="zh-CN" sz="1200" b="1" dirty="0">
                <a:latin typeface="+mn-ea"/>
              </a:rPr>
              <a:t>n=___100000001____  pi=_3.141592634 </a:t>
            </a:r>
            <a:r>
              <a:rPr lang="zh-CN" altLang="en-US" sz="1200" b="1" dirty="0">
                <a:latin typeface="+mn-ea"/>
              </a:rPr>
              <a:t>时间</a:t>
            </a:r>
            <a:r>
              <a:rPr lang="en-US" altLang="zh-CN" sz="1200" b="1" dirty="0">
                <a:latin typeface="+mn-ea"/>
              </a:rPr>
              <a:t>=0.404576(</a:t>
            </a:r>
            <a:r>
              <a:rPr lang="zh-CN" altLang="en-US" sz="1200" b="1" dirty="0">
                <a:latin typeface="+mn-ea"/>
              </a:rPr>
              <a:t>秒</a:t>
            </a:r>
            <a:r>
              <a:rPr lang="en-US" altLang="zh-CN" sz="1200" b="1" dirty="0">
                <a:latin typeface="+mn-ea"/>
              </a:rPr>
              <a:t>)</a:t>
            </a:r>
          </a:p>
          <a:p>
            <a:r>
              <a:rPr lang="en-US" altLang="zh-CN" sz="1200" b="1" dirty="0">
                <a:latin typeface="+mn-ea"/>
              </a:rPr>
              <a:t>        1e-9</a:t>
            </a:r>
            <a:r>
              <a:rPr lang="zh-CN" altLang="en-US" sz="1200" b="1" dirty="0">
                <a:latin typeface="+mn-ea"/>
              </a:rPr>
              <a:t>：</a:t>
            </a:r>
            <a:r>
              <a:rPr lang="en-US" altLang="zh-CN" sz="1200" b="1" dirty="0">
                <a:latin typeface="+mn-ea"/>
              </a:rPr>
              <a:t>n=__ 1000000001 ____  pi=_ 3.141592652 _ </a:t>
            </a:r>
            <a:r>
              <a:rPr lang="zh-CN" altLang="en-US" sz="1200" b="1" dirty="0">
                <a:latin typeface="+mn-ea"/>
              </a:rPr>
              <a:t>时间</a:t>
            </a:r>
            <a:r>
              <a:rPr lang="en-US" altLang="zh-CN" sz="1200" b="1" dirty="0">
                <a:latin typeface="+mn-ea"/>
              </a:rPr>
              <a:t>=_4.178361 (</a:t>
            </a:r>
            <a:r>
              <a:rPr lang="zh-CN" altLang="en-US" sz="1200" b="1" dirty="0">
                <a:latin typeface="+mn-ea"/>
              </a:rPr>
              <a:t>秒</a:t>
            </a:r>
            <a:r>
              <a:rPr lang="en-US" altLang="zh-CN" sz="1200" b="1" dirty="0">
                <a:latin typeface="+mn-ea"/>
              </a:rPr>
              <a:t>)</a:t>
            </a: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         (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因为机器配置不同，时间值可能不同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(2) n</a:t>
            </a:r>
            <a:r>
              <a:rPr lang="zh-CN" altLang="en-US" sz="1200" b="1" dirty="0">
                <a:latin typeface="+mn-ea"/>
              </a:rPr>
              <a:t>，</a:t>
            </a:r>
            <a:r>
              <a:rPr lang="en-US" altLang="zh-CN" sz="1200" b="1" dirty="0">
                <a:latin typeface="+mn-ea"/>
              </a:rPr>
              <a:t>t</a:t>
            </a:r>
            <a:r>
              <a:rPr lang="zh-CN" altLang="en-US" sz="1200" b="1" dirty="0">
                <a:latin typeface="+mn-ea"/>
              </a:rPr>
              <a:t>，</a:t>
            </a:r>
            <a:r>
              <a:rPr lang="en-US" altLang="zh-CN" sz="1200" b="1" dirty="0">
                <a:latin typeface="+mn-ea"/>
              </a:rPr>
              <a:t>pi</a:t>
            </a:r>
            <a:r>
              <a:rPr lang="zh-CN" altLang="en-US" sz="1200" b="1" dirty="0">
                <a:latin typeface="+mn-ea"/>
              </a:rPr>
              <a:t>为</a:t>
            </a:r>
            <a:r>
              <a:rPr lang="en-US" altLang="zh-CN" sz="1200" b="1" dirty="0">
                <a:latin typeface="+mn-ea"/>
              </a:rPr>
              <a:t>float</a:t>
            </a:r>
            <a:r>
              <a:rPr lang="zh-CN" altLang="en-US" sz="1200" b="1" dirty="0">
                <a:latin typeface="+mn-ea"/>
              </a:rPr>
              <a:t>型</a:t>
            </a:r>
          </a:p>
          <a:p>
            <a:r>
              <a:rPr lang="zh-CN" altLang="en-US" sz="1200" b="1" dirty="0">
                <a:latin typeface="+mn-ea"/>
              </a:rPr>
              <a:t>  精度为</a:t>
            </a:r>
            <a:r>
              <a:rPr lang="en-US" altLang="zh-CN" sz="1200" b="1" dirty="0">
                <a:latin typeface="+mn-ea"/>
              </a:rPr>
              <a:t>1e-6</a:t>
            </a:r>
            <a:r>
              <a:rPr lang="zh-CN" altLang="en-US" sz="1200" b="1" dirty="0">
                <a:latin typeface="+mn-ea"/>
              </a:rPr>
              <a:t>：</a:t>
            </a:r>
            <a:r>
              <a:rPr lang="en-US" altLang="zh-CN" sz="1200" b="1" dirty="0">
                <a:latin typeface="+mn-ea"/>
              </a:rPr>
              <a:t>n=_1000001_  pi=_ 3.141593933 _ </a:t>
            </a:r>
            <a:r>
              <a:rPr lang="zh-CN" altLang="en-US" sz="1200" b="1" dirty="0">
                <a:latin typeface="+mn-ea"/>
              </a:rPr>
              <a:t>时间</a:t>
            </a:r>
            <a:r>
              <a:rPr lang="en-US" altLang="zh-CN" sz="1200" b="1" dirty="0">
                <a:latin typeface="+mn-ea"/>
              </a:rPr>
              <a:t>=_0.009454_(</a:t>
            </a:r>
            <a:r>
              <a:rPr lang="zh-CN" altLang="en-US" sz="1200" b="1" dirty="0">
                <a:latin typeface="+mn-ea"/>
              </a:rPr>
              <a:t>秒</a:t>
            </a:r>
            <a:r>
              <a:rPr lang="en-US" altLang="zh-CN" sz="1200" b="1" dirty="0">
                <a:latin typeface="+mn-ea"/>
              </a:rPr>
              <a:t>)</a:t>
            </a:r>
          </a:p>
          <a:p>
            <a:r>
              <a:rPr lang="en-US" altLang="zh-CN" sz="1200" b="1" dirty="0">
                <a:latin typeface="+mn-ea"/>
              </a:rPr>
              <a:t>        1e-7</a:t>
            </a:r>
            <a:r>
              <a:rPr lang="zh-CN" altLang="en-US" sz="1200" b="1" dirty="0">
                <a:latin typeface="+mn-ea"/>
              </a:rPr>
              <a:t>：</a:t>
            </a:r>
            <a:r>
              <a:rPr lang="en-US" altLang="zh-CN" sz="1200" b="1" dirty="0">
                <a:latin typeface="+mn-ea"/>
              </a:rPr>
              <a:t>n=_10000001_  pi=_ 3.141596556 _ </a:t>
            </a:r>
            <a:r>
              <a:rPr lang="zh-CN" altLang="en-US" sz="1200" b="1" dirty="0">
                <a:latin typeface="+mn-ea"/>
              </a:rPr>
              <a:t>时间</a:t>
            </a:r>
            <a:r>
              <a:rPr lang="en-US" altLang="zh-CN" sz="1200" b="1" dirty="0">
                <a:latin typeface="+mn-ea"/>
              </a:rPr>
              <a:t>=_ 0.079769 _(</a:t>
            </a:r>
            <a:r>
              <a:rPr lang="zh-CN" altLang="en-US" sz="1200" b="1" dirty="0">
                <a:latin typeface="+mn-ea"/>
              </a:rPr>
              <a:t>秒</a:t>
            </a:r>
            <a:r>
              <a:rPr lang="en-US" altLang="zh-CN" sz="1200" b="1" dirty="0">
                <a:latin typeface="+mn-ea"/>
              </a:rPr>
              <a:t>)</a:t>
            </a:r>
          </a:p>
          <a:p>
            <a:r>
              <a:rPr lang="en-US" altLang="zh-CN" sz="1200" b="1" dirty="0">
                <a:latin typeface="+mn-ea"/>
              </a:rPr>
              <a:t>        1e-8</a:t>
            </a:r>
            <a:r>
              <a:rPr lang="zh-CN" altLang="en-US" sz="1200" b="1" dirty="0">
                <a:latin typeface="+mn-ea"/>
              </a:rPr>
              <a:t>：</a:t>
            </a:r>
            <a:r>
              <a:rPr lang="en-US" altLang="zh-CN" sz="1200" b="1" dirty="0">
                <a:latin typeface="+mn-ea"/>
              </a:rPr>
              <a:t>n=________________  pi=___________ </a:t>
            </a:r>
            <a:r>
              <a:rPr lang="zh-CN" altLang="en-US" sz="1200" b="1" dirty="0">
                <a:latin typeface="+mn-ea"/>
              </a:rPr>
              <a:t>时间</a:t>
            </a:r>
            <a:r>
              <a:rPr lang="en-US" altLang="zh-CN" sz="1200" b="1" dirty="0">
                <a:latin typeface="+mn-ea"/>
              </a:rPr>
              <a:t>=________(</a:t>
            </a:r>
            <a:r>
              <a:rPr lang="zh-CN" altLang="en-US" sz="1200" b="1" dirty="0">
                <a:latin typeface="+mn-ea"/>
              </a:rPr>
              <a:t>秒</a:t>
            </a:r>
            <a:r>
              <a:rPr lang="en-US" altLang="zh-CN" sz="1200" b="1" dirty="0">
                <a:latin typeface="+mn-ea"/>
              </a:rPr>
              <a:t>)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问：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、</a:t>
            </a:r>
            <a:r>
              <a:rPr lang="en-US" altLang="zh-CN" sz="1200" b="1" dirty="0">
                <a:latin typeface="+mn-ea"/>
              </a:rPr>
              <a:t>7</a:t>
            </a:r>
            <a:r>
              <a:rPr lang="zh-CN" altLang="en-US" sz="1200" b="1" dirty="0">
                <a:latin typeface="+mn-ea"/>
              </a:rPr>
              <a:t>项中哪个没结果？为什么？</a:t>
            </a:r>
            <a:r>
              <a:rPr lang="en-US" altLang="zh-CN" sz="1200" b="1" dirty="0">
                <a:latin typeface="+mn-ea"/>
              </a:rPr>
              <a:t>float</a:t>
            </a:r>
            <a:r>
              <a:rPr lang="zh-CN" altLang="en-US" sz="1200" b="1" dirty="0">
                <a:latin typeface="+mn-ea"/>
              </a:rPr>
              <a:t>型精度为</a:t>
            </a:r>
            <a:r>
              <a:rPr lang="en-US" altLang="zh-CN" sz="1200" b="1" dirty="0">
                <a:latin typeface="+mn-ea"/>
              </a:rPr>
              <a:t>1e-8</a:t>
            </a:r>
          </a:p>
          <a:p>
            <a:r>
              <a:rPr lang="en-US" altLang="zh-CN" sz="1200" b="1" dirty="0">
                <a:latin typeface="+mn-ea"/>
              </a:rPr>
              <a:t>    2</a:t>
            </a:r>
            <a:r>
              <a:rPr lang="zh-CN" altLang="en-US" sz="1200" b="1" dirty="0">
                <a:latin typeface="+mn-ea"/>
              </a:rPr>
              <a:t>、</a:t>
            </a:r>
            <a:r>
              <a:rPr lang="en-US" altLang="zh-CN" sz="1200" b="1" dirty="0">
                <a:latin typeface="+mn-ea"/>
              </a:rPr>
              <a:t>float</a:t>
            </a:r>
            <a:r>
              <a:rPr lang="zh-CN" altLang="en-US" sz="1200" b="1" dirty="0">
                <a:latin typeface="+mn-ea"/>
              </a:rPr>
              <a:t>和</a:t>
            </a:r>
            <a:r>
              <a:rPr lang="en-US" altLang="zh-CN" sz="1200" b="1" dirty="0">
                <a:latin typeface="+mn-ea"/>
              </a:rPr>
              <a:t>double</a:t>
            </a:r>
            <a:r>
              <a:rPr lang="zh-CN" altLang="en-US" sz="1200" b="1" dirty="0">
                <a:latin typeface="+mn-ea"/>
              </a:rPr>
              <a:t>同进度下那个时间快？（观察现象即可，不需要解释原因）</a:t>
            </a:r>
            <a:endParaRPr lang="en-US" altLang="zh-CN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答：</a:t>
            </a:r>
            <a:r>
              <a:rPr lang="en-US" altLang="zh-CN" sz="1200" b="1" dirty="0">
                <a:latin typeface="+mn-ea"/>
              </a:rPr>
              <a:t>double</a:t>
            </a:r>
            <a:r>
              <a:rPr lang="zh-CN" altLang="en-US" sz="1200" b="1" dirty="0">
                <a:latin typeface="+mn-ea"/>
              </a:rPr>
              <a:t>更快</a:t>
            </a:r>
            <a:endParaRPr lang="en-US" altLang="zh-CN" sz="1200" b="1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3">
                <a:extLst>
                  <a:ext uri="{FF2B5EF4-FFF2-40B4-BE49-F238E27FC236}">
                    <a16:creationId xmlns:a16="http://schemas.microsoft.com/office/drawing/2014/main" id="{9B2EB83C-CE09-48D2-9A9E-16B0E2C33F3D}"/>
                  </a:ext>
                </a:extLst>
              </p:cNvPr>
              <p:cNvSpPr txBox="1"/>
              <p:nvPr/>
            </p:nvSpPr>
            <p:spPr bwMode="auto">
              <a:xfrm>
                <a:off x="7296641" y="1323975"/>
                <a:ext cx="3542809" cy="83064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norm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100" b="1" dirty="0">
                    <a:solidFill>
                      <a:srgbClr val="000000"/>
                    </a:solidFill>
                    <a:latin typeface="+mn-ea"/>
                  </a:rPr>
                  <a:t>用下面的迭代公式求</a:t>
                </a:r>
                <a:r>
                  <a:rPr kumimoji="1" lang="en-US" altLang="zh-CN" sz="2100" b="1" dirty="0">
                    <a:solidFill>
                      <a:srgbClr val="000000"/>
                    </a:solidFill>
                    <a:latin typeface="+mn-ea"/>
                  </a:rPr>
                  <a:t>Pi</a:t>
                </a:r>
                <a:r>
                  <a:rPr kumimoji="1" lang="zh-CN" altLang="en-US" sz="2100" b="1" dirty="0">
                    <a:solidFill>
                      <a:srgbClr val="000000"/>
                    </a:solidFill>
                    <a:latin typeface="+mn-ea"/>
                  </a:rPr>
                  <a:t>的值</a:t>
                </a:r>
                <a:endParaRPr kumimoji="1" lang="en-US" altLang="zh-CN" sz="2100" b="1" dirty="0">
                  <a:solidFill>
                    <a:srgbClr val="000000"/>
                  </a:solidFill>
                  <a:latin typeface="+mn-ea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kumimoji="1" lang="en-US" altLang="zh-CN" sz="1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kumimoji="1" lang="en-US" altLang="zh-CN" sz="1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kumimoji="1" lang="en-US" altLang="zh-CN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f>
                      <m:fPr>
                        <m:ctrlPr>
                          <a:rPr kumimoji="1" lang="zh-CN" altLang="en-US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zh-CN" altLang="en-US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kumimoji="1" lang="zh-CN" altLang="en-US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kumimoji="1" lang="en-US" altLang="zh-CN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f>
                      <m:fPr>
                        <m:ctrlPr>
                          <a:rPr kumimoji="1" lang="zh-CN" altLang="en-US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zh-CN" altLang="en-US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kumimoji="1" lang="zh-CN" altLang="en-US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  <m:r>
                      <a:rPr kumimoji="1" lang="en-US" altLang="zh-CN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f>
                      <m:fPr>
                        <m:ctrlPr>
                          <a:rPr kumimoji="1" lang="zh-CN" altLang="en-US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zh-CN" altLang="en-US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kumimoji="1" lang="zh-CN" altLang="en-US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den>
                    </m:f>
                    <m:r>
                      <a:rPr kumimoji="1" lang="en-US" altLang="zh-CN" sz="1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zh-CN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kumimoji="1" lang="en-US" altLang="zh-CN" sz="1600" b="1" dirty="0">
                    <a:solidFill>
                      <a:srgbClr val="000000"/>
                    </a:solidFill>
                    <a:latin typeface="+mn-ea"/>
                  </a:rPr>
                  <a:t>…</a:t>
                </a:r>
                <a:endParaRPr kumimoji="1" lang="zh-CN" altLang="en-US" sz="1600" b="1" dirty="0">
                  <a:solidFill>
                    <a:srgbClr val="000000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5" name="Object 3">
                <a:extLst>
                  <a:ext uri="{FF2B5EF4-FFF2-40B4-BE49-F238E27FC236}">
                    <a16:creationId xmlns:a16="http://schemas.microsoft.com/office/drawing/2014/main" id="{9B2EB83C-CE09-48D2-9A9E-16B0E2C33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96641" y="1323975"/>
                <a:ext cx="3542809" cy="830646"/>
              </a:xfrm>
              <a:prstGeom prst="rect">
                <a:avLst/>
              </a:prstGeom>
              <a:blipFill>
                <a:blip r:embed="rId2"/>
                <a:stretch>
                  <a:fillRect l="-1887" t="-4348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2F9F08DC-E4A0-4751-BC64-8D94A5DCC93C}"/>
              </a:ext>
            </a:extLst>
          </p:cNvPr>
          <p:cNvSpPr/>
          <p:nvPr/>
        </p:nvSpPr>
        <p:spPr bwMode="auto">
          <a:xfrm>
            <a:off x="7918882" y="4913259"/>
            <a:ext cx="2920568" cy="31038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本页结果不要截图，手填即可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7" name="Picture 6" descr="A black and white text with white text&#10;&#10;AI-generated content may be incorrect.">
            <a:extLst>
              <a:ext uri="{FF2B5EF4-FFF2-40B4-BE49-F238E27FC236}">
                <a16:creationId xmlns:a16="http://schemas.microsoft.com/office/drawing/2014/main" id="{DCED2CDD-A927-5D48-A006-F6FED89754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8964" y="1323974"/>
            <a:ext cx="2447022" cy="1517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118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、观察程序运行结果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int n = 0,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, m, k;</a:t>
            </a:r>
          </a:p>
          <a:p>
            <a:r>
              <a:rPr lang="en-US" altLang="zh-CN" sz="1200" b="1" dirty="0">
                <a:latin typeface="+mn-ea"/>
              </a:rPr>
              <a:t>    bool prime;</a:t>
            </a:r>
          </a:p>
          <a:p>
            <a:r>
              <a:rPr lang="en-US" altLang="zh-CN" sz="1200" b="1" dirty="0">
                <a:latin typeface="+mn-ea"/>
              </a:rPr>
              <a:t>    for(m=101; m&lt;=200; m+=2) { //</a:t>
            </a:r>
            <a:r>
              <a:rPr lang="zh-CN" altLang="en-US" sz="1200" b="1" dirty="0">
                <a:latin typeface="+mn-ea"/>
              </a:rPr>
              <a:t>偶数没必要判断</a:t>
            </a:r>
          </a:p>
          <a:p>
            <a:r>
              <a:rPr lang="zh-CN" altLang="en-US" sz="1200" b="1" dirty="0">
                <a:latin typeface="+mn-ea"/>
              </a:rPr>
              <a:t>        </a:t>
            </a:r>
            <a:r>
              <a:rPr lang="en-US" altLang="zh-CN" sz="1200" b="1" dirty="0">
                <a:latin typeface="+mn-ea"/>
              </a:rPr>
              <a:t>prime=true;            //</a:t>
            </a:r>
            <a:r>
              <a:rPr lang="zh-CN" altLang="en-US" sz="1200" b="1" dirty="0">
                <a:latin typeface="+mn-ea"/>
              </a:rPr>
              <a:t>对每个数，先认为是素数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k=int(sqrt(m));</a:t>
            </a: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   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for(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=2;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&lt;=k;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++)</a:t>
            </a: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        if (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m%i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==0) {</a:t>
            </a:r>
            <a:endParaRPr lang="zh-CN" altLang="en-US" sz="1200" b="1" dirty="0">
              <a:solidFill>
                <a:srgbClr val="FF0000"/>
              </a:solidFill>
              <a:latin typeface="+mn-ea"/>
            </a:endParaRPr>
          </a:p>
          <a:p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                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prime=false;</a:t>
            </a:r>
            <a:endParaRPr lang="zh-CN" altLang="en-US" sz="1200" b="1" dirty="0">
              <a:solidFill>
                <a:srgbClr val="FF0000"/>
              </a:solidFill>
              <a:latin typeface="+mn-ea"/>
            </a:endParaRPr>
          </a:p>
          <a:p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                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break;</a:t>
            </a:r>
            <a:endParaRPr lang="zh-CN" altLang="en-US" sz="1200" b="1" dirty="0">
              <a:solidFill>
                <a:srgbClr val="FF0000"/>
              </a:solidFill>
              <a:latin typeface="+mn-ea"/>
            </a:endParaRPr>
          </a:p>
          <a:p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                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}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if (prime) {</a:t>
            </a:r>
          </a:p>
          <a:p>
            <a:r>
              <a:rPr lang="en-US" altLang="zh-CN" sz="1200" b="1" dirty="0">
                <a:latin typeface="+mn-ea"/>
              </a:rPr>
              <a:t>    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(5) &lt;&lt; m;</a:t>
            </a:r>
          </a:p>
          <a:p>
            <a:r>
              <a:rPr lang="en-US" altLang="zh-CN" sz="1200" b="1" dirty="0">
                <a:latin typeface="+mn-ea"/>
              </a:rPr>
              <a:t>            n=n+1;      //</a:t>
            </a:r>
            <a:r>
              <a:rPr lang="zh-CN" altLang="en-US" sz="1200" b="1" dirty="0">
                <a:latin typeface="+mn-ea"/>
              </a:rPr>
              <a:t>计数器，只为了加输出换行</a:t>
            </a:r>
          </a:p>
          <a:p>
            <a:r>
              <a:rPr lang="zh-CN" altLang="en-US" sz="1200" b="1" dirty="0">
                <a:latin typeface="+mn-ea"/>
              </a:rPr>
              <a:t>            </a:t>
            </a:r>
            <a:r>
              <a:rPr lang="en-US" altLang="zh-CN" sz="1200" b="1" dirty="0">
                <a:latin typeface="+mn-ea"/>
              </a:rPr>
              <a:t>}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if (n%10==0)    //</a:t>
            </a:r>
            <a:r>
              <a:rPr lang="zh-CN" altLang="en-US" sz="1200" b="1" dirty="0">
                <a:latin typeface="+mn-ea"/>
              </a:rPr>
              <a:t>每</a:t>
            </a:r>
            <a:r>
              <a:rPr lang="en-US" altLang="zh-CN" sz="1200" b="1" dirty="0">
                <a:latin typeface="+mn-ea"/>
              </a:rPr>
              <a:t>10</a:t>
            </a:r>
            <a:r>
              <a:rPr lang="zh-CN" altLang="en-US" sz="1200" b="1" dirty="0">
                <a:latin typeface="+mn-ea"/>
              </a:rPr>
              <a:t>个数输出一行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&lt;&lt;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    } //end of for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9B2EB83C-CE09-48D2-9A9E-16B0E2C33F3D}"/>
              </a:ext>
            </a:extLst>
          </p:cNvPr>
          <p:cNvSpPr txBox="1"/>
          <p:nvPr/>
        </p:nvSpPr>
        <p:spPr bwMode="auto">
          <a:xfrm>
            <a:off x="2325249" y="1323975"/>
            <a:ext cx="3035028" cy="4417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normAutofit fontScale="92500"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100" b="1" dirty="0">
                <a:solidFill>
                  <a:srgbClr val="000000"/>
                </a:solidFill>
                <a:latin typeface="+mn-ea"/>
              </a:rPr>
              <a:t>打印</a:t>
            </a:r>
            <a:r>
              <a:rPr kumimoji="1" lang="en-US" altLang="zh-CN" sz="2100" b="1" dirty="0">
                <a:solidFill>
                  <a:srgbClr val="000000"/>
                </a:solidFill>
                <a:latin typeface="+mn-ea"/>
              </a:rPr>
              <a:t>100-200</a:t>
            </a:r>
            <a:r>
              <a:rPr kumimoji="1" lang="zh-CN" altLang="en-US" sz="2100" b="1" dirty="0">
                <a:solidFill>
                  <a:srgbClr val="000000"/>
                </a:solidFill>
                <a:latin typeface="+mn-ea"/>
              </a:rPr>
              <a:t>之间的素数</a:t>
            </a:r>
            <a:endParaRPr kumimoji="1" lang="en-US" altLang="zh-CN" sz="21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0D19910-FE7A-40B7-B8D7-CE7C19C6CAFD}"/>
              </a:ext>
            </a:extLst>
          </p:cNvPr>
          <p:cNvSpPr/>
          <p:nvPr/>
        </p:nvSpPr>
        <p:spPr bwMode="auto">
          <a:xfrm>
            <a:off x="5360276" y="1323975"/>
            <a:ext cx="547917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(1) </a:t>
            </a:r>
            <a:r>
              <a:rPr lang="zh-CN" altLang="en-US" sz="1600" b="1" dirty="0">
                <a:latin typeface="+mn-ea"/>
              </a:rPr>
              <a:t>目前输出结果：一共</a:t>
            </a:r>
            <a:r>
              <a:rPr lang="en-US" altLang="zh-CN" sz="1600" b="1" dirty="0">
                <a:latin typeface="+mn-ea"/>
              </a:rPr>
              <a:t>21</a:t>
            </a:r>
            <a:r>
              <a:rPr lang="zh-CN" altLang="en-US" sz="1600" b="1" dirty="0">
                <a:latin typeface="+mn-ea"/>
              </a:rPr>
              <a:t>个，每</a:t>
            </a:r>
            <a:r>
              <a:rPr lang="en-US" altLang="zh-CN" sz="1600" b="1" dirty="0">
                <a:latin typeface="+mn-ea"/>
              </a:rPr>
              <a:t>10</a:t>
            </a:r>
            <a:r>
              <a:rPr lang="zh-CN" altLang="en-US" sz="1600" b="1" dirty="0">
                <a:latin typeface="+mn-ea"/>
              </a:rPr>
              <a:t>个一行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(2) </a:t>
            </a:r>
            <a:r>
              <a:rPr lang="zh-CN" altLang="en-US" sz="1600" b="1" dirty="0">
                <a:latin typeface="+mn-ea"/>
              </a:rPr>
              <a:t>将</a:t>
            </a:r>
            <a:r>
              <a:rPr lang="en-US" altLang="zh-CN" sz="1600" b="1" dirty="0">
                <a:latin typeface="+mn-ea"/>
              </a:rPr>
              <a:t>m</a:t>
            </a:r>
            <a:r>
              <a:rPr lang="zh-CN" altLang="en-US" sz="1600" b="1" dirty="0">
                <a:latin typeface="+mn-ea"/>
              </a:rPr>
              <a:t>的初值从</a:t>
            </a:r>
            <a:r>
              <a:rPr lang="en-US" altLang="zh-CN" sz="1600" b="1" dirty="0">
                <a:latin typeface="+mn-ea"/>
              </a:rPr>
              <a:t>101</a:t>
            </a:r>
            <a:r>
              <a:rPr lang="zh-CN" altLang="en-US" sz="1600" b="1" dirty="0">
                <a:latin typeface="+mn-ea"/>
              </a:rPr>
              <a:t>改为</a:t>
            </a:r>
            <a:r>
              <a:rPr lang="en-US" altLang="zh-CN" sz="1600" b="1" dirty="0">
                <a:latin typeface="+mn-ea"/>
              </a:rPr>
              <a:t>103</a:t>
            </a:r>
            <a:r>
              <a:rPr lang="zh-CN" altLang="en-US" sz="1600" b="1" dirty="0">
                <a:latin typeface="+mn-ea"/>
              </a:rPr>
              <a:t>，应该是</a:t>
            </a:r>
            <a:r>
              <a:rPr lang="en-US" altLang="zh-CN" sz="1600" b="1" dirty="0">
                <a:latin typeface="+mn-ea"/>
              </a:rPr>
              <a:t>20</a:t>
            </a:r>
            <a:r>
              <a:rPr lang="zh-CN" altLang="en-US" sz="1600" b="1" dirty="0">
                <a:latin typeface="+mn-ea"/>
              </a:rPr>
              <a:t>个，共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实际呢？为什么？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因为</a:t>
            </a:r>
            <a:r>
              <a:rPr lang="en-US" altLang="zh-CN" sz="1600" b="1" dirty="0">
                <a:latin typeface="+mn-ea"/>
              </a:rPr>
              <a:t>151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>
                <a:latin typeface="+mn-ea"/>
              </a:rPr>
              <a:t>157</a:t>
            </a:r>
            <a:r>
              <a:rPr lang="zh-CN" altLang="en-US" sz="1600" b="1" dirty="0">
                <a:latin typeface="+mn-ea"/>
              </a:rPr>
              <a:t>之间的</a:t>
            </a:r>
            <a:r>
              <a:rPr lang="en-US" altLang="zh-CN" sz="1600" b="1" dirty="0">
                <a:latin typeface="+mn-ea"/>
              </a:rPr>
              <a:t>153</a:t>
            </a:r>
            <a:r>
              <a:rPr lang="zh-CN" altLang="en-US" sz="1600" b="1" dirty="0">
                <a:latin typeface="+mn-ea"/>
              </a:rPr>
              <a:t>，</a:t>
            </a:r>
            <a:r>
              <a:rPr lang="en-US" altLang="zh-CN" sz="1600" b="1" dirty="0">
                <a:latin typeface="+mn-ea"/>
              </a:rPr>
              <a:t>155</a:t>
            </a:r>
            <a:r>
              <a:rPr lang="zh-CN" altLang="en-US" sz="1600" b="1" dirty="0">
                <a:latin typeface="+mn-ea"/>
              </a:rPr>
              <a:t>不是素数，此时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仍为</a:t>
            </a:r>
            <a:r>
              <a:rPr lang="en-US" altLang="zh-CN" sz="1600" b="1" dirty="0">
                <a:latin typeface="+mn-ea"/>
              </a:rPr>
              <a:t>10</a:t>
            </a:r>
            <a:r>
              <a:rPr lang="zh-CN" altLang="en-US" sz="1600" b="1" dirty="0">
                <a:latin typeface="+mn-ea"/>
              </a:rPr>
              <a:t>，因此会输出两次换行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(3) </a:t>
            </a:r>
            <a:r>
              <a:rPr lang="zh-CN" altLang="en-US" sz="1600" b="1" dirty="0">
                <a:latin typeface="+mn-ea"/>
              </a:rPr>
              <a:t>将左侧程序改正确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(</a:t>
            </a:r>
            <a:r>
              <a:rPr lang="zh-CN" altLang="en-US" sz="1600" b="1" dirty="0">
                <a:latin typeface="+mn-ea"/>
              </a:rPr>
              <a:t>正确程序贴图在左侧，覆盖现有内容即可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8F79395-204F-48FA-9B96-3F713549F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2702" y="1900446"/>
            <a:ext cx="6819048" cy="11142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E6D382B-4424-2411-B6C0-C017427391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2702" y="3843269"/>
            <a:ext cx="4025542" cy="1026314"/>
          </a:xfrm>
          <a:prstGeom prst="rect">
            <a:avLst/>
          </a:prstGeom>
        </p:spPr>
      </p:pic>
      <p:pic>
        <p:nvPicPr>
          <p:cNvPr id="9" name="Picture 8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634438DA-DBE3-0A54-9159-1424A59906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71" y="1323975"/>
            <a:ext cx="4423344" cy="4667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608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44991981"/>
      </p:ext>
    </p:extLst>
  </p:cSld>
  <p:clrMapOvr>
    <a:masterClrMapping/>
  </p:clrMapOvr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1453</TotalTime>
  <Words>2558</Words>
  <Application>Microsoft Macintosh PowerPoint</Application>
  <PresentationFormat>Widescreen</PresentationFormat>
  <Paragraphs>322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等线</vt:lpstr>
      <vt:lpstr>宋体</vt:lpstr>
      <vt:lpstr>Cambria Math</vt:lpstr>
      <vt:lpstr>Times New Roman</vt:lpstr>
      <vt:lpstr>1_默认设计模板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Tonhie Xavier</cp:lastModifiedBy>
  <cp:revision>217</cp:revision>
  <dcterms:created xsi:type="dcterms:W3CDTF">2020-08-13T13:39:53Z</dcterms:created>
  <dcterms:modified xsi:type="dcterms:W3CDTF">2025-03-30T03:46:50Z</dcterms:modified>
</cp:coreProperties>
</file>