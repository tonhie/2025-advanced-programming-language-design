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3"/>
  </p:notesMasterIdLst>
  <p:sldIdLst>
    <p:sldId id="1236" r:id="rId2"/>
    <p:sldId id="1279" r:id="rId3"/>
    <p:sldId id="1309" r:id="rId4"/>
    <p:sldId id="1281" r:id="rId5"/>
    <p:sldId id="1297" r:id="rId6"/>
    <p:sldId id="1302" r:id="rId7"/>
    <p:sldId id="1303" r:id="rId8"/>
    <p:sldId id="1251" r:id="rId9"/>
    <p:sldId id="1282" r:id="rId10"/>
    <p:sldId id="1304" r:id="rId11"/>
    <p:sldId id="1305" r:id="rId12"/>
    <p:sldId id="1298" r:id="rId13"/>
    <p:sldId id="1285" r:id="rId14"/>
    <p:sldId id="1306" r:id="rId15"/>
    <p:sldId id="1307" r:id="rId16"/>
    <p:sldId id="1299" r:id="rId17"/>
    <p:sldId id="1308" r:id="rId18"/>
    <p:sldId id="1286" r:id="rId19"/>
    <p:sldId id="1300" r:id="rId20"/>
    <p:sldId id="1293" r:id="rId21"/>
    <p:sldId id="1301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86" autoAdjust="0"/>
    <p:restoredTop sz="86364" autoAdjust="0"/>
  </p:normalViewPr>
  <p:slideViewPr>
    <p:cSldViewPr snapToGrid="0">
      <p:cViewPr>
        <p:scale>
          <a:sx n="123" d="100"/>
          <a:sy n="123" d="100"/>
        </p:scale>
        <p:origin x="144" y="-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y;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&amp;x &lt;&lt; ' ' &lt;&lt; &amp;y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f2(long p)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q;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&amp;p &lt;&lt; ' ' &lt;&lt; &amp;q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f2(15L);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1.1 __x_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_p__</a:t>
            </a:r>
            <a:r>
              <a:rPr kumimoji="1" lang="zh-CN" altLang="en-US" sz="1600" b="1" dirty="0">
                <a:highlight>
                  <a:srgbClr val="FFFF00"/>
                </a:highlight>
                <a:latin typeface="+mn-ea"/>
              </a:rPr>
              <a:t>共用了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_004FFA6C_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1.2 __y_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_q_</a:t>
            </a:r>
            <a:r>
              <a:rPr kumimoji="1" lang="zh-CN" altLang="en-US" sz="1600" b="1" dirty="0">
                <a:highlight>
                  <a:srgbClr val="FFFF00"/>
                </a:highlight>
                <a:latin typeface="+mn-ea"/>
              </a:rPr>
              <a:t>共用了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_004FFA58_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、把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float q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short q</a:t>
            </a:r>
            <a:r>
              <a:rPr kumimoji="1" lang="zh-CN" altLang="en-US" sz="1600" b="1" dirty="0">
                <a:latin typeface="+mn-ea"/>
              </a:rPr>
              <a:t>，运行结果截图及结论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q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_y__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__28FFC48_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_2_</a:t>
            </a:r>
            <a:r>
              <a:rPr kumimoji="1" lang="zh-CN" altLang="en-US" sz="1600" b="1" dirty="0">
                <a:latin typeface="+mn-ea"/>
              </a:rPr>
              <a:t>个字节空间</a:t>
            </a:r>
            <a:r>
              <a:rPr kumimoji="1" lang="en-US" altLang="zh-CN" sz="1600" b="1" dirty="0">
                <a:latin typeface="+mn-ea"/>
              </a:rPr>
              <a:t>  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551D32-6376-B953-1F75-E1DA98DB7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224" y="1636522"/>
            <a:ext cx="1930400" cy="9271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E52679-F97F-390F-CE6E-4F290B873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978" y="4757928"/>
            <a:ext cx="18288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kumimoji="1" lang="en-US" altLang="zh-CN" sz="1600" b="1" dirty="0">
                <a:latin typeface="+mn-ea"/>
              </a:rPr>
              <a:t>void f1(int x)</a:t>
            </a:r>
          </a:p>
          <a:p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int y;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&amp;x &lt;&lt; ' '&lt;&lt; &amp;y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注意：必须改为自己学号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姓名，否则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 *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”2454307-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汤皓宇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" &lt;&lt;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</a:t>
            </a:r>
            <a:r>
              <a:rPr kumimoji="1" lang="zh-CN" altLang="en-US" sz="1600" b="1" dirty="0">
                <a:latin typeface="+mn-ea"/>
              </a:rPr>
              <a:t>本示例中，三次调用时分配的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空间，三次调用时分配的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总结形参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和自动变量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的分配和释放规则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	</a:t>
            </a:r>
            <a:r>
              <a:rPr kumimoji="1" lang="zh-CN" altLang="en-US" sz="1600" b="1" dirty="0">
                <a:latin typeface="+mn-ea"/>
              </a:rPr>
              <a:t>答：调用时先为</a:t>
            </a:r>
            <a:r>
              <a:rPr kumimoji="1" lang="zh-CN" altLang="en-CN" sz="1600" b="1" dirty="0">
                <a:latin typeface="+mn-ea"/>
              </a:rPr>
              <a:t>形参</a:t>
            </a:r>
            <a:r>
              <a:rPr kumimoji="1" lang="zh-CN" altLang="en-US" sz="1600" b="1" dirty="0">
                <a:latin typeface="+mn-ea"/>
              </a:rPr>
              <a:t>变量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分配相应内存，在其中定义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时对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分配内存，在函数结束时，会将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释放。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694A836-17B5-E17A-F538-967A13865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506" y="1409700"/>
            <a:ext cx="19431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8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f2();</a:t>
            </a:r>
          </a:p>
          <a:p>
            <a:r>
              <a:rPr lang="en-US" altLang="zh-CN" sz="1200" b="1" dirty="0">
                <a:latin typeface="+mn-ea"/>
              </a:rPr>
              <a:t>    f3();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f1/f2/f3</a:t>
            </a:r>
            <a:r>
              <a:rPr kumimoji="1" lang="zh-CN" altLang="en-US" sz="1600" b="1" dirty="0">
                <a:latin typeface="+mn-ea"/>
              </a:rPr>
              <a:t>中的三个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如果当前正在执行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函数，则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 f3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2F4762-18CB-4B45-1D88-01CB4947C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80" y="1767078"/>
            <a:ext cx="15240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"f3  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f3();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f2();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注意：必须改为自己学号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姓名，否则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 *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"2454307-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汤皓宇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" &lt;&lt; </a:t>
            </a:r>
            <a:r>
              <a:rPr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494998" y="1323975"/>
            <a:ext cx="634445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、运行结果截图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2.1 f1/f2/f3</a:t>
            </a:r>
            <a:r>
              <a:rPr kumimoji="1" lang="zh-CN" altLang="en-US" sz="1200" b="1" dirty="0">
                <a:latin typeface="+mn-ea"/>
              </a:rPr>
              <a:t>中的三个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占用</a:t>
            </a:r>
            <a:r>
              <a:rPr kumimoji="1" lang="en-US" altLang="zh-CN" sz="1200" b="1" dirty="0">
                <a:latin typeface="+mn-ea"/>
              </a:rPr>
              <a:t>_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相同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空间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2.2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CN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2.3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2.4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2.5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   </a:t>
            </a:r>
            <a:r>
              <a:rPr kumimoji="1" lang="en-US" altLang="zh-CN" sz="1200" b="1" dirty="0">
                <a:latin typeface="+mn-ea"/>
              </a:rPr>
              <a:t>2.6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f3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zh-CN" altLang="en-US" sz="1200" b="1" dirty="0">
                <a:latin typeface="+mn-ea"/>
              </a:rPr>
              <a:t>语句，  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2.7 </a:t>
            </a:r>
            <a:r>
              <a:rPr kumimoji="1" lang="zh-CN" altLang="en-US" sz="1200" b="1" dirty="0">
                <a:latin typeface="+mn-ea"/>
              </a:rPr>
              <a:t>上述</a:t>
            </a:r>
            <a:r>
              <a:rPr kumimoji="1" lang="en-US" altLang="zh-CN" sz="1200" b="1" dirty="0">
                <a:latin typeface="+mn-ea"/>
              </a:rPr>
              <a:t>2.2~2.6</a:t>
            </a:r>
            <a:r>
              <a:rPr kumimoji="1" lang="zh-CN" altLang="en-US" sz="1200" b="1" dirty="0">
                <a:latin typeface="+mn-ea"/>
              </a:rPr>
              <a:t>问题中如果某个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是已分配状态，则此时这个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在何处？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答：动态存储区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97B660-A31E-F2C7-E183-C0A3B3AFA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782" y="1557482"/>
            <a:ext cx="1669845" cy="141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7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97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i,a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a=15;</a:t>
            </a:r>
          </a:p>
          <a:p>
            <a:r>
              <a:rPr lang="en-US" altLang="zh-CN" sz="1600" b="1" dirty="0">
                <a:latin typeface="+mn-ea"/>
              </a:rPr>
              <a:t>    for(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=0;i&lt;10;i++) {</a:t>
            </a:r>
          </a:p>
          <a:p>
            <a:r>
              <a:rPr lang="en-US" altLang="zh-CN" sz="1600" b="1" dirty="0">
                <a:latin typeface="+mn-ea"/>
              </a:rPr>
              <a:t>        int y;</a:t>
            </a:r>
          </a:p>
          <a:p>
            <a:r>
              <a:rPr lang="en-US" altLang="zh-CN" sz="1600" b="1" dirty="0">
                <a:latin typeface="+mn-ea"/>
              </a:rPr>
              <a:t>        y=11;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a=16;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 y=12;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a=17;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注意：必须改为自己学号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姓名，否则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 *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"2454307-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汤皓宇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" &lt;&lt;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是定义在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循环内部的局部变量，每次循环结束后会释放，因此在循环外部调用会显示未定义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1F2159F-0729-B56E-294F-68AE38729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686" y="2645641"/>
            <a:ext cx="29337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1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void fun()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i,a</a:t>
            </a:r>
            <a:r>
              <a:rPr lang="en-US" altLang="zh-CN" sz="1200" b="1" dirty="0">
                <a:latin typeface="+mn-ea"/>
              </a:rPr>
              <a:t>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int y;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y=11;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a=16;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Wingdings 2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int w=10;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y=12;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a=13;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w=14;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}</a:t>
            </a: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w=15;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}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y=12;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a=17;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fun();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答：大括号框定了局部的范围，越过大括号时自动变量</a:t>
            </a:r>
            <a:r>
              <a:rPr kumimoji="1" lang="en-US" altLang="zh-CN" sz="1600" b="1" dirty="0">
                <a:latin typeface="+mn-ea"/>
              </a:rPr>
              <a:t>w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会被释放，因此出现未定义。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65FA3DE-6EAC-3D79-6090-4A9C1F9FF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595" y="2311400"/>
            <a:ext cx="29337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22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600" b="1" dirty="0"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void fun()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a=14;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注意：必须改为自己学号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姓名，否则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 *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"2454307-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汤皓宇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" &lt;&lt;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fun();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、结论：在某个函数</a:t>
            </a:r>
            <a:r>
              <a:rPr kumimoji="1" lang="en-US" altLang="zh-CN" sz="1600" b="1" dirty="0">
                <a:latin typeface="+mn-ea"/>
              </a:rPr>
              <a:t>(main)</a:t>
            </a:r>
            <a:r>
              <a:rPr kumimoji="1" lang="zh-CN" altLang="en-US" sz="1600" b="1" dirty="0">
                <a:latin typeface="+mn-ea"/>
              </a:rPr>
              <a:t>中定义的自动变量，在它的调用函数</a:t>
            </a:r>
            <a:r>
              <a:rPr kumimoji="1" lang="en-US" altLang="zh-CN" sz="1600" b="1" dirty="0">
                <a:latin typeface="+mn-ea"/>
              </a:rPr>
              <a:t>(fun)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允许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访问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84FD85A-3743-77E4-8F27-4713468DC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23" y="2482273"/>
            <a:ext cx="29337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83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67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f1()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f2()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a=17;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中调用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时变量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还没有声明。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5D9A58-C8C1-93EB-2303-540B5504B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295" y="2653665"/>
            <a:ext cx="28067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void f1()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a=15;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"fa="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int main()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注意：必须改为自己学号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姓名，否则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 *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cout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&lt;&lt; "2454307-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汤皓宇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" &lt;&lt; 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endl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;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200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"ma1="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f1();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"ma2="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return 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BC04BDE-9470-CF6B-9EB7-4AF0CEB43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38" y="2230582"/>
            <a:ext cx="17145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67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f1(int a)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a=15;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"fa="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 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"ma1="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a = f1(a);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"ma2="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不是全局变量，解释为什么</a:t>
            </a:r>
            <a:r>
              <a:rPr kumimoji="1" lang="en-US" altLang="zh-CN" sz="1600" b="1" dirty="0">
                <a:latin typeface="+mn-ea"/>
              </a:rPr>
              <a:t>ma1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ma2</a:t>
            </a:r>
            <a:r>
              <a:rPr kumimoji="1" lang="zh-CN" altLang="en-US" sz="1600" b="1" dirty="0">
                <a:latin typeface="+mn-ea"/>
              </a:rPr>
              <a:t>两句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输出的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值不相同？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是如何被改变的？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答：因为两个输出语句中间把函数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的返回值赋值给了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里的自动变量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BEC6E22-5F34-4715-81C2-2F963466D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038" y="2244436"/>
            <a:ext cx="17907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1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23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a=10, b;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a=5, b;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"a1=" &lt;&lt; a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&amp;a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"b1=" &lt;&lt; b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"a2="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"b2="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f2();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可知，局部变量不初始化，初值为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不可信值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；全局变量不初始化，初值为</a:t>
            </a:r>
            <a:r>
              <a:rPr kumimoji="1" lang="en-US" altLang="zh-CN" sz="1600" b="1" dirty="0">
                <a:latin typeface="+mn-ea"/>
              </a:rPr>
              <a:t>_0_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、由截图可知，全局变量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的起始地址差</a:t>
            </a:r>
            <a:r>
              <a:rPr kumimoji="1" lang="en-US" altLang="zh-CN" sz="1600" b="1" dirty="0">
                <a:latin typeface="+mn-ea"/>
              </a:rPr>
              <a:t>__344_</a:t>
            </a:r>
            <a:r>
              <a:rPr kumimoji="1" lang="zh-CN" altLang="en-US" sz="1600" b="1" dirty="0">
                <a:latin typeface="+mn-ea"/>
              </a:rPr>
              <a:t>个字节；局部变量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之间差</a:t>
            </a:r>
            <a:r>
              <a:rPr kumimoji="1" lang="en-US" altLang="zh-CN" sz="1600" b="1" dirty="0">
                <a:latin typeface="+mn-ea"/>
              </a:rPr>
              <a:t>_12_</a:t>
            </a:r>
            <a:r>
              <a:rPr kumimoji="1" lang="zh-CN" altLang="en-US" sz="1600" b="1" dirty="0">
                <a:latin typeface="+mn-ea"/>
              </a:rPr>
              <a:t>个字节；全局和局部之前差</a:t>
            </a:r>
            <a:r>
              <a:rPr kumimoji="1" lang="en-US" altLang="zh-CN" sz="1600" b="1" dirty="0">
                <a:latin typeface="+mn-ea"/>
              </a:rPr>
              <a:t>_39.336008MB_(</a:t>
            </a:r>
            <a:r>
              <a:rPr kumimoji="1" lang="zh-CN" altLang="en-US" sz="1600" b="1" dirty="0">
                <a:latin typeface="+mn-ea"/>
              </a:rPr>
              <a:t>单位</a:t>
            </a:r>
            <a:r>
              <a:rPr kumimoji="1" lang="en-US" altLang="zh-CN" sz="1600" b="1" dirty="0">
                <a:latin typeface="+mn-ea"/>
              </a:rPr>
              <a:t>KB/MB</a:t>
            </a:r>
            <a:r>
              <a:rPr kumimoji="1" lang="zh-CN" altLang="en-US" sz="1600" b="1" dirty="0">
                <a:latin typeface="+mn-ea"/>
              </a:rPr>
              <a:t>均可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，说明这是两个不同的存储区，全局变量在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静态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存储区，局部变量在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动态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存储区。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2F16D08-0588-57E6-1ED1-41768B079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572" y="2171700"/>
            <a:ext cx="23876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2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a=10;</a:t>
            </a: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short a;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x=5;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double x=1.2;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short p=1, p=2;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24401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4.A/4.B</a:t>
            </a:r>
            <a:r>
              <a:rPr kumimoji="1" lang="zh-CN" altLang="en-US" sz="1600" b="1" dirty="0">
                <a:latin typeface="+mn-ea"/>
              </a:rPr>
              <a:t>可以得知：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级别的变量允许同名；</a:t>
            </a:r>
            <a:r>
              <a:rPr kumimoji="1" lang="en-US" altLang="zh-CN" sz="1600" b="1" dirty="0">
                <a:latin typeface="+mn-ea"/>
              </a:rPr>
              <a:t> 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级别的变量不允许同名；变量同名是的使用规则是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作用范围越窄优先级越高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6B708A-3187-17EA-E766-B3543C215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463" y="2717800"/>
            <a:ext cx="37973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018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、自动变量与静态局部变量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a++;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static int b=1;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b++;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各自的地址和值，得到结论为：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自动变量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静态局部变量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根据上面的分析结果，自动变量应该放在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动态数据去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，静态局部变量应该放在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109B3F-EF74-0FB3-E81A-CFC4D4A91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50" y="2163762"/>
            <a:ext cx="1231310" cy="151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5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709101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1916</TotalTime>
  <Words>3699</Words>
  <Application>Microsoft Macintosh PowerPoint</Application>
  <PresentationFormat>Widescreen</PresentationFormat>
  <Paragraphs>530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等线</vt:lpstr>
      <vt:lpstr>宋体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260</cp:revision>
  <dcterms:created xsi:type="dcterms:W3CDTF">2020-08-13T13:39:53Z</dcterms:created>
  <dcterms:modified xsi:type="dcterms:W3CDTF">2025-04-13T08:37:01Z</dcterms:modified>
</cp:coreProperties>
</file>