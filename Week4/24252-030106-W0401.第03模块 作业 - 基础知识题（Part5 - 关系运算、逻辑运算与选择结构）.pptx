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45"/>
  </p:notesMasterIdLst>
  <p:sldIdLst>
    <p:sldId id="1236" r:id="rId2"/>
    <p:sldId id="1276" r:id="rId3"/>
    <p:sldId id="1278" r:id="rId4"/>
    <p:sldId id="1230" r:id="rId5"/>
    <p:sldId id="492" r:id="rId6"/>
    <p:sldId id="1238" r:id="rId7"/>
    <p:sldId id="1251" r:id="rId8"/>
    <p:sldId id="1240" r:id="rId9"/>
    <p:sldId id="1241" r:id="rId10"/>
    <p:sldId id="1252" r:id="rId11"/>
    <p:sldId id="1242" r:id="rId12"/>
    <p:sldId id="1243" r:id="rId13"/>
    <p:sldId id="1245" r:id="rId14"/>
    <p:sldId id="1246" r:id="rId15"/>
    <p:sldId id="1247" r:id="rId16"/>
    <p:sldId id="1253" r:id="rId17"/>
    <p:sldId id="1248" r:id="rId18"/>
    <p:sldId id="1249" r:id="rId19"/>
    <p:sldId id="1277" r:id="rId20"/>
    <p:sldId id="1254" r:id="rId21"/>
    <p:sldId id="1250" r:id="rId22"/>
    <p:sldId id="1255" r:id="rId23"/>
    <p:sldId id="1256" r:id="rId24"/>
    <p:sldId id="1257" r:id="rId25"/>
    <p:sldId id="1259" r:id="rId26"/>
    <p:sldId id="1258" r:id="rId27"/>
    <p:sldId id="1260" r:id="rId28"/>
    <p:sldId id="1261" r:id="rId29"/>
    <p:sldId id="1262" r:id="rId30"/>
    <p:sldId id="1263" r:id="rId31"/>
    <p:sldId id="1200" r:id="rId32"/>
    <p:sldId id="1264" r:id="rId33"/>
    <p:sldId id="1266" r:id="rId34"/>
    <p:sldId id="1265" r:id="rId35"/>
    <p:sldId id="1268" r:id="rId36"/>
    <p:sldId id="1269" r:id="rId37"/>
    <p:sldId id="1270" r:id="rId38"/>
    <p:sldId id="1271" r:id="rId39"/>
    <p:sldId id="1272" r:id="rId40"/>
    <p:sldId id="1273" r:id="rId41"/>
    <p:sldId id="1274" r:id="rId42"/>
    <p:sldId id="1275" r:id="rId43"/>
    <p:sldId id="1267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50" autoAdjust="0"/>
    <p:restoredTop sz="86377" autoAdjust="0"/>
  </p:normalViewPr>
  <p:slideViewPr>
    <p:cSldViewPr snapToGrid="0">
      <p:cViewPr>
        <p:scale>
          <a:sx n="98" d="100"/>
          <a:sy n="98" d="100"/>
        </p:scale>
        <p:origin x="144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26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b=2, c=3,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下为什么会有三个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？说说你的理解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？？？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18BF87-AFB5-7891-83E2-AEA308CD7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340" y="1715861"/>
            <a:ext cx="1397000" cy="114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F7BCC1-102D-A5C3-2BA0-224449FB8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163" y="1823811"/>
            <a:ext cx="38862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5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、关系运算符的求值顺序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a=3, b=2, c=1,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&gt; b 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a &lt; b 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d = b &gt; a 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799268" y="1323975"/>
            <a:ext cx="70401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a&gt;b&gt;c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这个式子，按人的常规理解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(3&gt;2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且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2&gt;1)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是正确的，为什么结果是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？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3&gt;2</a:t>
            </a:r>
            <a:r>
              <a:rPr kumimoji="1" lang="zh-CN" altLang="en-US" sz="1600" b="1" dirty="0">
                <a:latin typeface="+mn-ea"/>
              </a:rPr>
              <a:t>是真，值为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1&gt;1 </a:t>
            </a:r>
            <a:r>
              <a:rPr kumimoji="1" lang="zh-CN" altLang="en-US" sz="1600" b="1" dirty="0">
                <a:latin typeface="+mn-ea"/>
              </a:rPr>
              <a:t>为假，故结果为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a&lt;b&lt;c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(3&lt;2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2&lt;1)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 答：</a:t>
            </a:r>
            <a:r>
              <a:rPr kumimoji="1" lang="en-US" altLang="zh-CN" sz="1600" b="1" dirty="0">
                <a:latin typeface="+mn-ea"/>
              </a:rPr>
              <a:t>3&lt;2</a:t>
            </a:r>
            <a:r>
              <a:rPr kumimoji="1" lang="zh-CN" altLang="en-US" sz="1600" b="1" dirty="0">
                <a:latin typeface="+mn-ea"/>
              </a:rPr>
              <a:t>是假，值为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0&lt;1</a:t>
            </a:r>
            <a:r>
              <a:rPr kumimoji="1" lang="zh-CN" altLang="en-US" sz="1600" b="1" dirty="0">
                <a:latin typeface="+mn-ea"/>
              </a:rPr>
              <a:t> 为真，故结果为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b&gt;a&lt;c</a:t>
            </a:r>
            <a:r>
              <a:rPr kumimoji="1" lang="zh-CN" altLang="en-US" sz="1600" b="1" dirty="0">
                <a:latin typeface="+mn-ea"/>
              </a:rPr>
              <a:t>这个式子，按人的常规理解</a:t>
            </a:r>
            <a:r>
              <a:rPr kumimoji="1" lang="en-US" altLang="zh-CN" sz="1600" b="1" dirty="0">
                <a:latin typeface="+mn-ea"/>
              </a:rPr>
              <a:t>(2&gt;3</a:t>
            </a:r>
            <a:r>
              <a:rPr kumimoji="1" lang="zh-CN" altLang="en-US" sz="1600" b="1" dirty="0">
                <a:latin typeface="+mn-ea"/>
              </a:rPr>
              <a:t>且</a:t>
            </a:r>
            <a:r>
              <a:rPr kumimoji="1" lang="en-US" altLang="zh-CN" sz="1600" b="1" dirty="0">
                <a:latin typeface="+mn-ea"/>
              </a:rPr>
              <a:t>3&lt;1)</a:t>
            </a:r>
            <a:r>
              <a:rPr kumimoji="1" lang="zh-CN" altLang="en-US" sz="1600" b="1" dirty="0">
                <a:latin typeface="+mn-ea"/>
              </a:rPr>
              <a:t>是错误的，为什么结果是</a:t>
            </a:r>
            <a:r>
              <a:rPr kumimoji="1" lang="en-US" altLang="zh-CN" sz="1600" b="1" dirty="0">
                <a:latin typeface="+mn-ea"/>
              </a:rPr>
              <a:t>1 </a:t>
            </a:r>
            <a:r>
              <a:rPr kumimoji="1" lang="zh-CN" altLang="en-US" sz="1600" b="1" dirty="0">
                <a:latin typeface="+mn-ea"/>
              </a:rPr>
              <a:t>？ 答：</a:t>
            </a:r>
            <a:r>
              <a:rPr kumimoji="1" lang="en-US" altLang="zh-CN" sz="1600" b="1" dirty="0">
                <a:latin typeface="+mn-ea"/>
              </a:rPr>
              <a:t>2&gt;3</a:t>
            </a:r>
            <a:r>
              <a:rPr kumimoji="1" lang="zh-CN" altLang="en-US" sz="1600" b="1" dirty="0">
                <a:latin typeface="+mn-ea"/>
              </a:rPr>
              <a:t>是假，值为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0&lt;1</a:t>
            </a:r>
            <a:r>
              <a:rPr kumimoji="1" lang="zh-CN" altLang="en-US" sz="1600" b="1" dirty="0">
                <a:latin typeface="+mn-ea"/>
              </a:rPr>
              <a:t> 为真，故结果为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文字简单说明即可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E48632-3686-CDD6-48AB-374FBA593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082" y="1734457"/>
            <a:ext cx="9525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35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481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f1 = 100.25;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(f1 - 100.25)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(f1 == 100.25)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fabs(f1-100.25)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float f2 = 1.2;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(f2 - 1.2)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(f2 == 1.2)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fabs(f2-1.2) &lt; 1e-6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404337" y="1323975"/>
            <a:ext cx="5435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VS+Dev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下的运行结果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、删除第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#include&lt;</a:t>
            </a:r>
            <a:r>
              <a:rPr kumimoji="1" lang="en-US" altLang="zh-CN" sz="1600" b="1" dirty="0" err="1">
                <a:latin typeface="+mn-ea"/>
              </a:rPr>
              <a:t>cmath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后，再次贴</a:t>
            </a:r>
            <a:r>
              <a:rPr kumimoji="1" lang="en-US" altLang="zh-CN" sz="1600" b="1" dirty="0" err="1">
                <a:latin typeface="+mn-ea"/>
              </a:rPr>
              <a:t>VS+Dev</a:t>
            </a:r>
            <a:r>
              <a:rPr kumimoji="1" lang="zh-CN" altLang="en-US" sz="1600" b="1" dirty="0">
                <a:latin typeface="+mn-ea"/>
              </a:rPr>
              <a:t>的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、由本例得出的结论，实数进行相等比较时的通用方法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 _</a:t>
            </a:r>
            <a:r>
              <a:rPr kumimoji="1" lang="zh-CN" altLang="en-US" sz="1600" b="1" dirty="0">
                <a:latin typeface="+mn-ea"/>
              </a:rPr>
              <a:t>判断他们的差是否小于一个很小的范围</a:t>
            </a:r>
            <a:r>
              <a:rPr kumimoji="1" lang="en-US" altLang="zh-CN" sz="1600" b="1" dirty="0">
                <a:latin typeface="+mn-ea"/>
              </a:rPr>
              <a:t>_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06D65C-516A-5CA1-4A55-B90D453BE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689100"/>
            <a:ext cx="1257300" cy="17399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0430D9-B0E5-F148-4099-D3780D547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527" y="1689100"/>
            <a:ext cx="1308100" cy="170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39C49B-4DE8-786A-1AAD-CA91AE35E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793" y="4689475"/>
            <a:ext cx="4394200" cy="2921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16485A-20EF-8769-E143-44286A2D9C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882" y="4145280"/>
            <a:ext cx="999615" cy="139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56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、关系运算符与实数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&lt;iostream&gt;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cmath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&gt;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可不加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using namespace std;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double d1=123.456789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double d2=123.456789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(d1==d2)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fabs(d1-d2)&lt;1e-6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fabs(d1-d2)&lt;1e-7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float f1=123.456789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012345678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float f2=123.456789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123456789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(f1==f2)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fabs(f1-f2)&lt;1e-6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fabs(f1-f2)&lt;1e-7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return 0;</a:t>
            </a:r>
          </a:p>
          <a:p>
            <a:pPr fontAlgn="base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有两个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warning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、观察</a:t>
            </a:r>
            <a:r>
              <a:rPr kumimoji="1" lang="en-US" altLang="zh-CN" sz="1600" b="1" dirty="0">
                <a:latin typeface="+mn-ea"/>
              </a:rPr>
              <a:t>fabs(**)&lt;1e-6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fabs(**)&lt;1e-7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下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的表现，哪个相同？哪个不同？为什么？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答：在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中相同，在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中不同，因为前者精度不够，输入数的精度会被转换为七位有效数字精度，导致精度损失，而后者在</a:t>
            </a:r>
            <a:r>
              <a:rPr kumimoji="1" lang="en-US" altLang="zh-CN" sz="1600" b="1" dirty="0">
                <a:latin typeface="+mn-ea"/>
              </a:rPr>
              <a:t>10e-7</a:t>
            </a:r>
            <a:r>
              <a:rPr kumimoji="1" lang="zh-CN" altLang="en-US" sz="1600" b="1" dirty="0">
                <a:latin typeface="+mn-ea"/>
              </a:rPr>
              <a:t>量级不会出现这种情况。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2157F04F-D7A7-1457-39E0-DF8BC809D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00" y="1727200"/>
            <a:ext cx="723900" cy="1701800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476EDA5-C70D-F7E3-6EEB-881844762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119" y="2266950"/>
            <a:ext cx="42291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311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true 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"true"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false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"false"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 </a:t>
            </a:r>
            <a:r>
              <a:rPr kumimoji="1" lang="en-US" altLang="zh-CN" sz="1600" b="1" dirty="0">
                <a:latin typeface="+mn-ea"/>
              </a:rPr>
              <a:t>true </a:t>
            </a:r>
            <a:r>
              <a:rPr kumimoji="1" lang="zh-CN" altLang="en-US" sz="1600" b="1" dirty="0">
                <a:latin typeface="+mn-ea"/>
              </a:rPr>
              <a:t>和 </a:t>
            </a:r>
            <a:r>
              <a:rPr kumimoji="1" lang="en-US" altLang="zh-CN" sz="1600" b="1" dirty="0">
                <a:latin typeface="+mn-ea"/>
              </a:rPr>
              <a:t>"true" </a:t>
            </a:r>
            <a:r>
              <a:rPr kumimoji="1" lang="zh-CN" altLang="en-US" sz="1600" b="1" dirty="0">
                <a:latin typeface="+mn-ea"/>
              </a:rPr>
              <a:t>的区别（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"false"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表示真，存储为</a:t>
            </a:r>
            <a:r>
              <a:rPr kumimoji="1" lang="en-US" altLang="zh-CN" sz="1600" b="1" dirty="0">
                <a:latin typeface="+mn-ea"/>
              </a:rPr>
              <a:t>00000001</a:t>
            </a:r>
            <a:r>
              <a:rPr kumimoji="1" lang="zh-CN" altLang="en-US" sz="1600" b="1" dirty="0">
                <a:latin typeface="+mn-ea"/>
              </a:rPr>
              <a:t>，而“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”则是字符串。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与“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”同理。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、进阶思考：目前直接输出逻辑常量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，在屏幕上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输出的输出是</a:t>
            </a:r>
            <a:r>
              <a:rPr kumimoji="1" lang="en-US" altLang="zh-CN" sz="1600" b="1" dirty="0">
                <a:latin typeface="+mn-ea"/>
              </a:rPr>
              <a:t>1/0</a:t>
            </a:r>
            <a:r>
              <a:rPr kumimoji="1" lang="zh-CN" altLang="en-US" sz="1600" b="1" dirty="0">
                <a:latin typeface="+mn-ea"/>
              </a:rPr>
              <a:t>，如果想输出为</a:t>
            </a:r>
            <a:r>
              <a:rPr kumimoji="1" lang="en-US" altLang="zh-CN" sz="1600" b="1" dirty="0">
                <a:latin typeface="+mn-ea"/>
              </a:rPr>
              <a:t>true/false</a:t>
            </a:r>
            <a:r>
              <a:rPr kumimoji="1" lang="zh-CN" altLang="en-US" sz="1600" b="1" dirty="0">
                <a:latin typeface="+mn-ea"/>
              </a:rPr>
              <a:t>，应该怎么做？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答：添加前到符号</a:t>
            </a:r>
            <a:r>
              <a:rPr kumimoji="1" lang="en-US" altLang="zh-CN" sz="1600" b="1" dirty="0" err="1">
                <a:latin typeface="+mn-ea"/>
              </a:rPr>
              <a:t>boolalpha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、不允许用分支语句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条件运算符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zh-CN" altLang="en-US" sz="1600" b="1" dirty="0">
                <a:latin typeface="+mn-ea"/>
              </a:rPr>
              <a:t>、提示：去网上查一个前导格式控制符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课件无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6C48ACF-34E2-5D43-C39E-1B3C10D5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232" y="1693998"/>
            <a:ext cx="499054" cy="113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18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bool k1 = true;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(true)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k1 &lt;&lt; ' ' &lt;&lt; int(k1)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bool k2 = false;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(false)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k2 &lt;&lt; ' ' &lt;&lt; int(k2)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变量在内存中占用</a:t>
            </a:r>
            <a:r>
              <a:rPr kumimoji="1" lang="en-US" altLang="zh-CN" sz="1600" b="1" dirty="0">
                <a:latin typeface="+mn-ea"/>
              </a:rPr>
              <a:t>_1_</a:t>
            </a:r>
            <a:r>
              <a:rPr kumimoji="1" lang="zh-CN" altLang="en-US" sz="1600" b="1" dirty="0">
                <a:latin typeface="+mn-ea"/>
              </a:rPr>
              <a:t>字节，值是</a:t>
            </a:r>
            <a:r>
              <a:rPr kumimoji="1" lang="en-US" altLang="zh-CN" sz="1600" b="1" dirty="0">
                <a:latin typeface="+mn-ea"/>
              </a:rPr>
              <a:t>__0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1__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总结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型常量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变量在输出时的规则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（限制：在无</a:t>
            </a:r>
            <a:r>
              <a:rPr kumimoji="1" lang="en-US" altLang="zh-CN" sz="1600" b="1" dirty="0">
                <a:latin typeface="+mn-ea"/>
              </a:rPr>
              <a:t>3.A</a:t>
            </a:r>
            <a:r>
              <a:rPr kumimoji="1" lang="zh-CN" altLang="en-US" sz="1600" b="1" dirty="0">
                <a:latin typeface="+mn-ea"/>
              </a:rPr>
              <a:t>的前导格式控制符的前提下）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直接输出对应的整数，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输出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输出</a:t>
            </a:r>
            <a:r>
              <a:rPr kumimoji="1" lang="en-US" altLang="zh-CN" sz="1600" b="1" dirty="0">
                <a:latin typeface="+mn-ea"/>
              </a:rPr>
              <a:t>0.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9E1CAD-DD42-693E-ABD7-A44A104E6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720" y="1323974"/>
            <a:ext cx="663103" cy="168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74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bool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k &lt;&lt; ' ' &lt;&lt; int(k)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，输出是：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123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，输出是：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型变量在输入时的规则：取输入的第一个字符，若是数字，则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，非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</a:t>
            </a:r>
            <a:r>
              <a:rPr kumimoji="1" lang="en-US" altLang="zh-CN" sz="1600" b="1" dirty="0">
                <a:latin typeface="+mn-ea"/>
              </a:rPr>
              <a:t>true</a:t>
            </a:r>
            <a:r>
              <a:rPr kumimoji="1" lang="zh-CN" altLang="en-US" sz="1600" b="1" dirty="0">
                <a:latin typeface="+mn-ea"/>
              </a:rPr>
              <a:t>，若是字符，则为</a:t>
            </a:r>
            <a:r>
              <a:rPr kumimoji="1" lang="en-US" altLang="zh-CN" sz="1600" b="1" dirty="0">
                <a:latin typeface="+mn-ea"/>
              </a:rPr>
              <a:t>false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4411B6AF-CA2E-F19E-E923-FBA09D2CF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882" y="1323975"/>
            <a:ext cx="447947" cy="78103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39BB1F-AACC-E197-FC57-F6DFC4297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882" y="2105011"/>
            <a:ext cx="495300" cy="77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EDAE68-8750-0F7A-252E-B8C67EDDA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182" y="2616200"/>
            <a:ext cx="469900" cy="812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794264-07DB-6C86-9A53-D4679F9BF2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625" y="3331119"/>
            <a:ext cx="584200" cy="812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6DE8D1-51D7-304F-1E75-54BF6D8B1F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29" y="4313230"/>
            <a:ext cx="7493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10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bool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k='A';</a:t>
            </a:r>
            <a:endParaRPr kumimoji="1" lang="en-US" altLang="zh-CN" sz="1600" b="1" dirty="0">
              <a:solidFill>
                <a:srgbClr val="FF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k=0;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k=256;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k &lt;&lt; ' ' &lt;&lt; (int)k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char c = 256;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(int)c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VS</a:t>
            </a:r>
            <a:r>
              <a:rPr kumimoji="1" lang="zh-CN" altLang="en-US" sz="1600" b="1" dirty="0">
                <a:latin typeface="+mn-ea"/>
              </a:rPr>
              <a:t>下</a:t>
            </a:r>
            <a:r>
              <a:rPr kumimoji="1" lang="en-US" altLang="zh-CN" sz="1600" b="1" dirty="0">
                <a:latin typeface="+mn-ea"/>
              </a:rPr>
              <a:t>waring</a:t>
            </a:r>
            <a:r>
              <a:rPr kumimoji="1" lang="zh-CN" altLang="en-US" sz="1600" b="1" dirty="0">
                <a:latin typeface="+mn-ea"/>
              </a:rPr>
              <a:t>的意思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答：将非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类型转换为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类型会警告。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k='A'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字节赋值给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字节，为什么还有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答：因为</a:t>
            </a:r>
            <a:r>
              <a:rPr kumimoji="1" lang="en-US" altLang="zh-CN" sz="1600" b="1" dirty="0"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并非只有</a:t>
            </a:r>
            <a:r>
              <a:rPr kumimoji="1" lang="en-US" altLang="zh-CN" sz="1600" b="1" dirty="0">
                <a:latin typeface="+mn-ea"/>
              </a:rPr>
              <a:t>00000000</a:t>
            </a:r>
            <a:r>
              <a:rPr kumimoji="1" lang="zh-CN" altLang="en-US" sz="1600" b="1" dirty="0">
                <a:latin typeface="+mn-ea"/>
              </a:rPr>
              <a:t>与</a:t>
            </a:r>
            <a:r>
              <a:rPr kumimoji="1" lang="en-US" altLang="zh-CN" sz="1600" b="1" dirty="0">
                <a:latin typeface="+mn-ea"/>
              </a:rPr>
              <a:t>00000001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k=256</a:t>
            </a:r>
            <a:r>
              <a:rPr kumimoji="1" lang="zh-CN" altLang="en-US" sz="1600" b="1" dirty="0">
                <a:latin typeface="+mn-ea"/>
              </a:rPr>
              <a:t>如果按整型的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字节赋给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字节，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应该是多少？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现在实际是多少？为什么？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应该是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，但实际是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，因为赋值给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时会判断</a:t>
            </a:r>
            <a:r>
              <a:rPr kumimoji="1" lang="zh-CN" altLang="en-CN" sz="1600" b="1" dirty="0">
                <a:latin typeface="+mn-ea"/>
              </a:rPr>
              <a:t>原数字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即为</a:t>
            </a:r>
            <a:r>
              <a:rPr kumimoji="1" lang="en-US" altLang="zh-CN" sz="1600" b="1" dirty="0">
                <a:latin typeface="+mn-ea"/>
              </a:rPr>
              <a:t>true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、为什么不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c</a:t>
            </a:r>
            <a:r>
              <a:rPr kumimoji="1" lang="zh-CN" altLang="en-US" sz="1600" b="1" dirty="0">
                <a:latin typeface="+mn-ea"/>
              </a:rPr>
              <a:t>，而是 </a:t>
            </a:r>
            <a:r>
              <a:rPr kumimoji="1" lang="en-US" altLang="zh-CN" sz="1600" b="1" dirty="0">
                <a:latin typeface="+mn-ea"/>
              </a:rPr>
              <a:t>(int)c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因为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对应的字符无法看到输出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为真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为假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这句话如何解释？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将整型赋值给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时，非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最后得出的就是真值。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29103-296E-11F0-B5B6-47145BD59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908" y="1356632"/>
            <a:ext cx="359167" cy="785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00D270-34D0-6C52-36E9-CFFA05DD8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103" y="1214755"/>
            <a:ext cx="3269339" cy="87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34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、逻辑常量与逻辑变量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bool f=true;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int  a=10;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a=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a+f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997002" y="1323975"/>
            <a:ext cx="584244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</a:t>
            </a:r>
            <a:r>
              <a:rPr kumimoji="1" lang="en-US" altLang="zh-CN" sz="1600" b="1" dirty="0">
                <a:latin typeface="+mn-ea"/>
              </a:rPr>
              <a:t>bool</a:t>
            </a:r>
            <a:r>
              <a:rPr kumimoji="1" lang="zh-CN" altLang="en-US" sz="1600" b="1" dirty="0">
                <a:latin typeface="+mn-ea"/>
              </a:rPr>
              <a:t>参与表达式计算时，当做</a:t>
            </a:r>
            <a:r>
              <a:rPr kumimoji="1" lang="en-US" altLang="zh-CN" sz="1600" b="1" dirty="0">
                <a:latin typeface="+mn-ea"/>
              </a:rPr>
              <a:t>___1</a:t>
            </a:r>
            <a:r>
              <a:rPr kumimoji="1" lang="zh-CN" altLang="en-US" sz="1600" b="1" dirty="0">
                <a:latin typeface="+mn-ea"/>
              </a:rPr>
              <a:t>来计算</a:t>
            </a:r>
            <a:r>
              <a:rPr kumimoji="1" lang="en-US" altLang="zh-CN" sz="1600" b="1" dirty="0">
                <a:latin typeface="+mn-ea"/>
              </a:rPr>
              <a:t>____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9E1875-A21C-406D-CBD2-7C0B4DA5F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733" y="1323975"/>
            <a:ext cx="6477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66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44991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完成下列两个表格的填写（</a:t>
            </a:r>
            <a:r>
              <a:rPr lang="en-US" altLang="zh-CN" sz="1600" b="1" dirty="0">
                <a:latin typeface="+mn-ea"/>
              </a:rPr>
              <a:t>a/b</a:t>
            </a:r>
            <a:r>
              <a:rPr lang="zh-CN" altLang="en-US" sz="1600" b="1" dirty="0">
                <a:latin typeface="+mn-ea"/>
              </a:rPr>
              <a:t>是两个逻辑值，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填写的内容不要用黑色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897D35E-9AA3-449D-BFEC-CD2DF0670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336847"/>
              </p:ext>
            </p:extLst>
          </p:nvPr>
        </p:nvGraphicFramePr>
        <p:xfrm>
          <a:off x="830420" y="1455811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879044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48199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47403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185601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018494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19596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75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079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9786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45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28220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378E78A-9144-4B62-BF7A-D44CD7ED3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295385"/>
              </p:ext>
            </p:extLst>
          </p:nvPr>
        </p:nvGraphicFramePr>
        <p:xfrm>
          <a:off x="830420" y="3758189"/>
          <a:ext cx="8128002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5879044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048199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47403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185601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018494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19596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!a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a||b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75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079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9786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45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282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317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a=1, b=2, c=3, d=4, m=1, n=1;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(m=a&gt;b)&amp;&amp;(n=c&gt;d);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"m=" &lt;&lt; m &lt;&lt; " n=" &lt;&lt; n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(m=a&gt;b)&amp;&amp;(n=c&gt;d)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的求值过程（标出步骤顺序）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答：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）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a&gt;b = false;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2) m = false;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、短路运算的意思是：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对于逻辑运算符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&amp;&amp;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，从左往右遇到第一个非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true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表达式，后面都不会执行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__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CE2157-BACF-F51C-A6E9-CE9AA78B6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723" y="1323975"/>
            <a:ext cx="889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51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、逻辑运算符与逻辑运算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41607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a = 1, b = 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5 &gt; 3 &amp;&amp; 2 || (8 &lt; 4 - !0, a = 2), b = 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a &lt;&lt; ' '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752870" y="1323975"/>
            <a:ext cx="608658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有以下逗号表达式，其表达式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是逻辑表达式，表达式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按需构造</a:t>
            </a:r>
            <a:endParaRPr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ea"/>
              </a:rPr>
              <a:t>  5&gt;3 &amp;&amp; 2 || 8&lt;4 - !0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***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、构造一个测试程序，在不改变该表达式目前求值顺序的情况下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（允许插入新的运算，但目前这几个运算符的顺序不要变）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证明两点：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8&lt;4 - !0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存在短路运算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***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不存在短路运算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、用栈方式画包含短路运算的表达式，则从分析到短路运算符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进栈开始（本例中为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||</a:t>
            </a:r>
            <a:r>
              <a:rPr kumimoji="1" lang="zh-CN" altLang="en-US" sz="1600" b="1" dirty="0">
                <a:latin typeface="+mn-ea"/>
              </a:rPr>
              <a:t>）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忽略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比</a:t>
            </a:r>
            <a:r>
              <a:rPr kumimoji="1" lang="en-US" altLang="zh-CN" sz="1600" b="1" dirty="0">
                <a:latin typeface="+mn-ea"/>
              </a:rPr>
              <a:t>||</a:t>
            </a:r>
            <a:r>
              <a:rPr kumimoji="1" lang="zh-CN" altLang="en-US" sz="1600" b="1" dirty="0">
                <a:latin typeface="+mn-ea"/>
              </a:rPr>
              <a:t>优先级高的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运算符。（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所有 </a:t>
            </a:r>
            <a:r>
              <a:rPr kumimoji="1" lang="en-US" altLang="zh-CN" sz="1600" b="1" dirty="0">
                <a:latin typeface="+mn-ea"/>
              </a:rPr>
              <a:t>/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||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优先级高的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E6CAECE-5B9C-47E3-BD13-BD467E997C83}"/>
              </a:ext>
            </a:extLst>
          </p:cNvPr>
          <p:cNvCxnSpPr/>
          <p:nvPr/>
        </p:nvCxnSpPr>
        <p:spPr bwMode="auto">
          <a:xfrm flipH="1" flipV="1">
            <a:off x="7201912" y="1853076"/>
            <a:ext cx="237220" cy="26703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" name="Picture 5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58091D22-EC3A-737E-736E-4B7074B61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4326346"/>
            <a:ext cx="5715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27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9565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输入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74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、画出程序对应的流程框图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624E686-6F74-0959-1947-28E3D8400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326" y="1323975"/>
            <a:ext cx="1262524" cy="891713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70EE321-FCF1-3CC5-C47F-449209149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850" y="1323975"/>
            <a:ext cx="1482732" cy="891713"/>
          </a:xfrm>
          <a:prstGeom prst="rect">
            <a:avLst/>
          </a:prstGeom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A071BBED-93C7-E82C-CB30-6DF2D4737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945" y="2215688"/>
            <a:ext cx="1880620" cy="431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27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74</a:t>
            </a:r>
            <a:r>
              <a:rPr kumimoji="1" lang="zh-CN" altLang="en-US" sz="1600" b="1" dirty="0">
                <a:latin typeface="+mn-ea"/>
              </a:rPr>
              <a:t>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、画出程序对应的流程框图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、程序标注</a:t>
            </a:r>
            <a:r>
              <a:rPr kumimoji="1" lang="en-US" altLang="zh-CN" sz="1600" b="1" dirty="0">
                <a:latin typeface="+mn-ea"/>
              </a:rPr>
              <a:t>“</a:t>
            </a:r>
            <a:r>
              <a:rPr kumimoji="1" lang="zh-CN" altLang="en-US" sz="1600" b="1" dirty="0">
                <a:latin typeface="+mn-ea"/>
              </a:rPr>
              <a:t>未缩进</a:t>
            </a:r>
            <a:r>
              <a:rPr kumimoji="1" lang="en-US" altLang="zh-CN" sz="1600" b="1" dirty="0">
                <a:latin typeface="+mn-ea"/>
              </a:rPr>
              <a:t>”</a:t>
            </a:r>
            <a:r>
              <a:rPr kumimoji="1" lang="zh-CN" altLang="en-US" sz="1600" b="1" dirty="0">
                <a:latin typeface="+mn-ea"/>
              </a:rPr>
              <a:t>的行，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应该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（应该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不应该）缩进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1C0C948-6F91-83D5-7CA5-273C27256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269" y="1323975"/>
            <a:ext cx="1356037" cy="939540"/>
          </a:xfrm>
          <a:prstGeom prst="rect">
            <a:avLst/>
          </a:prstGeom>
        </p:spPr>
      </p:pic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CE90FDE-26FD-820E-0B02-F1C731A7E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306" y="1336613"/>
            <a:ext cx="1580796" cy="806980"/>
          </a:xfrm>
          <a:prstGeom prst="rect">
            <a:avLst/>
          </a:prstGeom>
        </p:spPr>
      </p:pic>
      <p:pic>
        <p:nvPicPr>
          <p:cNvPr id="6" name="Picture 5" descr="A diagram of a work flow&#10;&#10;AI-generated content may be incorrect.">
            <a:extLst>
              <a:ext uri="{FF2B5EF4-FFF2-40B4-BE49-F238E27FC236}">
                <a16:creationId xmlns:a16="http://schemas.microsoft.com/office/drawing/2014/main" id="{9BAC206D-10C3-0CA6-D2B0-643068505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57538"/>
            <a:ext cx="155529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52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&lt;&lt;"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请输入成绩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[0-100]"&lt;&lt;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if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&lt;60;)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不及格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程序结束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未缩进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423338" y="1323975"/>
            <a:ext cx="5416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贴编译错误并给出解释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C2429</a:t>
            </a:r>
            <a:r>
              <a:rPr kumimoji="1" lang="zh-CN" altLang="en-US" sz="1600" b="1" dirty="0">
                <a:latin typeface="+mn-ea"/>
              </a:rPr>
              <a:t>：在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中执行语句要求</a:t>
            </a:r>
            <a:r>
              <a:rPr kumimoji="1" lang="en-US" altLang="zh-CN" sz="1600" b="1" dirty="0" err="1">
                <a:latin typeface="+mn-ea"/>
              </a:rPr>
              <a:t>c++</a:t>
            </a:r>
            <a:r>
              <a:rPr kumimoji="1" lang="en-US" altLang="zh-CN" sz="1600" b="1" dirty="0">
                <a:latin typeface="+mn-ea"/>
              </a:rPr>
              <a:t>17</a:t>
            </a:r>
            <a:r>
              <a:rPr kumimoji="1" lang="zh-CN" altLang="en-US" sz="1600" b="1" dirty="0">
                <a:latin typeface="+mn-ea"/>
              </a:rPr>
              <a:t>标准的编译；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C2059</a:t>
            </a:r>
            <a:r>
              <a:rPr kumimoji="1" lang="zh-CN" altLang="en-US" sz="1600" b="1" dirty="0">
                <a:latin typeface="+mn-ea"/>
              </a:rPr>
              <a:t>：括号匹配不成功；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C2143</a:t>
            </a:r>
            <a:r>
              <a:rPr kumimoji="1" lang="zh-CN" altLang="en-US" sz="1600" b="1" dirty="0">
                <a:latin typeface="+mn-ea"/>
              </a:rPr>
              <a:t>：</a:t>
            </a:r>
            <a:r>
              <a:rPr kumimoji="1" lang="zh-CN" altLang="en-CN" sz="1600" b="1" dirty="0">
                <a:latin typeface="+mn-ea"/>
              </a:rPr>
              <a:t>失配的</a:t>
            </a:r>
            <a:r>
              <a:rPr kumimoji="1" lang="zh-CN" altLang="en-US" sz="1600" b="1" dirty="0">
                <a:latin typeface="+mn-ea"/>
              </a:rPr>
              <a:t>“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”作为一条语句缺少“</a:t>
            </a:r>
            <a:r>
              <a:rPr kumimoji="1" lang="en-US" altLang="zh-CN" sz="1600" b="1" dirty="0">
                <a:latin typeface="+mn-ea"/>
              </a:rPr>
              <a:t>;</a:t>
            </a:r>
            <a:r>
              <a:rPr kumimoji="1" lang="zh-CN" altLang="en-US" sz="1600" b="1" dirty="0">
                <a:latin typeface="+mn-ea"/>
              </a:rPr>
              <a:t>”标志语句结束。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E6FA880-B7CC-3CD2-5C27-88EF1ECB5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436" y="1720850"/>
            <a:ext cx="5319013" cy="108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49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int main()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{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请输入成绩</a:t>
            </a:r>
            <a:r>
              <a:rPr lang="en-US" altLang="zh-CN" sz="1200" b="1" dirty="0">
                <a:latin typeface="+mn-ea"/>
              </a:rPr>
              <a:t>[0-100]"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&gt;=90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&lt;=100)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优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&gt;=80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&lt;90)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&gt;=70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&lt;80)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中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&gt;=60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&lt;70)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 if (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&gt;=0 &amp;&amp;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&lt;60)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不及格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else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en-US" sz="1200" b="1" dirty="0">
                <a:latin typeface="+mn-ea"/>
              </a:rPr>
              <a:t>输入错误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zh-CN" altLang="zh-CN" sz="1200" b="1" dirty="0">
                <a:latin typeface="+mn-ea"/>
              </a:rPr>
              <a:t>程序结束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    return 0;</a:t>
            </a:r>
          </a:p>
          <a:p>
            <a:pPr>
              <a:spcBef>
                <a:spcPts val="300"/>
              </a:spcBef>
            </a:pPr>
            <a:r>
              <a:rPr lang="en-US" altLang="zh-CN" sz="1200" b="1" dirty="0"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、给出程序的流程框图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注意字体的清晰可辨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&lt;=89</a:t>
            </a:r>
            <a:r>
              <a:rPr kumimoji="1" lang="zh-CN" altLang="en-US" sz="1600" b="1" dirty="0">
                <a:latin typeface="+mn-ea"/>
              </a:rPr>
              <a:t>？哪个更好？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&lt;90</a:t>
            </a:r>
            <a:r>
              <a:rPr kumimoji="1" lang="zh-CN" altLang="en-US" sz="1600" b="1" dirty="0">
                <a:latin typeface="+mn-ea"/>
              </a:rPr>
              <a:t>能否改为</a:t>
            </a:r>
            <a:r>
              <a:rPr kumimoji="1" lang="en-US" altLang="zh-CN" sz="1600" b="1" dirty="0" err="1">
                <a:latin typeface="+mn-ea"/>
              </a:rPr>
              <a:t>i</a:t>
            </a:r>
            <a:r>
              <a:rPr kumimoji="1" lang="en-US" altLang="zh-CN" sz="1600" b="1" dirty="0">
                <a:latin typeface="+mn-ea"/>
              </a:rPr>
              <a:t>&lt;=90</a:t>
            </a:r>
            <a:r>
              <a:rPr kumimoji="1" lang="zh-CN" altLang="en-US" sz="1600" b="1" dirty="0">
                <a:latin typeface="+mn-ea"/>
              </a:rPr>
              <a:t>？运行是否正确？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280EC6-5695-40E9-9C8F-EE6344A27D2A}"/>
              </a:ext>
            </a:extLst>
          </p:cNvPr>
          <p:cNvSpPr/>
          <p:nvPr/>
        </p:nvSpPr>
        <p:spPr bwMode="auto">
          <a:xfrm>
            <a:off x="2301766" y="3492060"/>
            <a:ext cx="536027" cy="24962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Picture 5" descr="A diagram of a flowchart&#10;&#10;AI-generated content may be incorrect.">
            <a:extLst>
              <a:ext uri="{FF2B5EF4-FFF2-40B4-BE49-F238E27FC236}">
                <a16:creationId xmlns:a16="http://schemas.microsoft.com/office/drawing/2014/main" id="{CA33C956-CA97-B954-6F5E-488A8AC18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69" y="1698568"/>
            <a:ext cx="2762681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53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04150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一个有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行代码的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else {</a:t>
            </a: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else {</a:t>
            </a:r>
          </a:p>
          <a:p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) {</a:t>
            </a:r>
          </a:p>
          <a:p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_5_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_2_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_4_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_9_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"{" </a:t>
            </a:r>
            <a:r>
              <a:rPr kumimoji="1" lang="zh-CN" altLang="en-US" sz="1600" b="1" dirty="0">
                <a:latin typeface="+mn-ea"/>
              </a:rPr>
              <a:t>和 第</a:t>
            </a:r>
            <a:r>
              <a:rPr kumimoji="1" lang="en-US" altLang="zh-CN" sz="1600" b="1" dirty="0">
                <a:latin typeface="+mn-ea"/>
              </a:rPr>
              <a:t>_8_</a:t>
            </a:r>
            <a:r>
              <a:rPr kumimoji="1" lang="zh-CN" altLang="en-US" sz="1600" b="1" dirty="0">
                <a:latin typeface="+mn-ea"/>
              </a:rPr>
              <a:t>行的</a:t>
            </a:r>
            <a:r>
              <a:rPr kumimoji="1" lang="en-US" altLang="zh-CN" sz="1600" b="1" dirty="0">
                <a:latin typeface="+mn-ea"/>
              </a:rPr>
              <a:t>"}"</a:t>
            </a:r>
            <a:r>
              <a:rPr kumimoji="1" lang="zh-CN" altLang="en-US" sz="1600" b="1" dirty="0">
                <a:latin typeface="+mn-ea"/>
              </a:rPr>
              <a:t>配对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总结：给出大括号配对的基本准则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答：必须成对出现。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6931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</a:p>
          <a:p>
            <a:r>
              <a:rPr lang="zh-CN" altLang="en-US" sz="1600" b="1" dirty="0">
                <a:latin typeface="+mn-ea"/>
              </a:rPr>
              <a:t>        </a:t>
            </a:r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</a:p>
          <a:p>
            <a:r>
              <a:rPr lang="en-US" altLang="zh-CN" sz="1600" b="1" dirty="0">
                <a:latin typeface="+mn-ea"/>
              </a:rPr>
              <a:t>            A;</a:t>
            </a:r>
          </a:p>
          <a:p>
            <a:r>
              <a:rPr lang="zh-CN" altLang="en-US" sz="1600" b="1" dirty="0">
                <a:latin typeface="+mn-ea"/>
              </a:rPr>
              <a:t>            </a:t>
            </a:r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        B;</a:t>
            </a:r>
          </a:p>
          <a:p>
            <a:r>
              <a:rPr lang="en-US" altLang="zh-CN" sz="1600" b="1" dirty="0">
                <a:latin typeface="+mn-ea"/>
              </a:rPr>
              <a:t>        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 执行语句</a:t>
            </a:r>
            <a:r>
              <a:rPr kumimoji="1" lang="en-US" altLang="zh-CN" sz="1600" b="1" dirty="0">
                <a:latin typeface="+mn-ea"/>
              </a:rPr>
              <a:t>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16823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</a:p>
          <a:p>
            <a:r>
              <a:rPr lang="en-US" altLang="zh-CN" sz="1600" b="1" dirty="0">
                <a:latin typeface="+mn-ea"/>
              </a:rPr>
              <a:t>            A;</a:t>
            </a:r>
          </a:p>
          <a:p>
            <a:r>
              <a:rPr lang="en-US" altLang="zh-CN" sz="1600" b="1" dirty="0">
                <a:latin typeface="+mn-ea"/>
              </a:rPr>
              <a:t>            }</a:t>
            </a:r>
          </a:p>
          <a:p>
            <a:r>
              <a:rPr lang="en-US" altLang="zh-CN" sz="1600" b="1" dirty="0">
                <a:latin typeface="+mn-ea"/>
              </a:rPr>
              <a:t>        else {</a:t>
            </a:r>
          </a:p>
          <a:p>
            <a:r>
              <a:rPr lang="en-US" altLang="zh-CN" sz="1600" b="1" dirty="0">
                <a:latin typeface="+mn-ea"/>
              </a:rPr>
              <a:t>            B;</a:t>
            </a:r>
          </a:p>
          <a:p>
            <a:r>
              <a:rPr lang="en-US" altLang="zh-CN" sz="1600" b="1" dirty="0">
                <a:latin typeface="+mn-ea"/>
              </a:rPr>
              <a:t>            }</a:t>
            </a:r>
          </a:p>
          <a:p>
            <a:r>
              <a:rPr lang="en-US" altLang="zh-CN" sz="1600" b="1" dirty="0">
                <a:latin typeface="+mn-ea"/>
              </a:rPr>
              <a:t>        C;</a:t>
            </a: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else {</a:t>
            </a: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3) {</a:t>
            </a:r>
          </a:p>
          <a:p>
            <a:r>
              <a:rPr lang="en-US" altLang="zh-CN" sz="1600" b="1" dirty="0">
                <a:latin typeface="+mn-ea"/>
              </a:rPr>
              <a:t>            D;</a:t>
            </a:r>
          </a:p>
          <a:p>
            <a:r>
              <a:rPr lang="en-US" altLang="zh-CN" sz="1600" b="1" dirty="0">
                <a:latin typeface="+mn-ea"/>
              </a:rPr>
              <a:t>            }</a:t>
            </a:r>
          </a:p>
          <a:p>
            <a:r>
              <a:rPr lang="en-US" altLang="zh-CN" sz="1600" b="1" dirty="0">
                <a:latin typeface="+mn-ea"/>
              </a:rPr>
              <a:t>        E;</a:t>
            </a:r>
          </a:p>
          <a:p>
            <a:r>
              <a:rPr lang="en-US" altLang="zh-CN" sz="1600" b="1" dirty="0">
                <a:latin typeface="+mn-ea"/>
              </a:rPr>
              <a:t>        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3____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3___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1032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</a:p>
          <a:p>
            <a:r>
              <a:rPr lang="en-US" altLang="zh-CN" sz="1600" b="1" dirty="0">
                <a:latin typeface="+mn-ea"/>
              </a:rPr>
              <a:t>            A;</a:t>
            </a:r>
          </a:p>
          <a:p>
            <a:r>
              <a:rPr lang="en-US" altLang="zh-CN" sz="1600" b="1" dirty="0">
                <a:latin typeface="+mn-ea"/>
              </a:rPr>
              <a:t>            }</a:t>
            </a:r>
          </a:p>
          <a:p>
            <a:r>
              <a:rPr lang="en-US" altLang="zh-CN" sz="1600" b="1" dirty="0">
                <a:latin typeface="+mn-ea"/>
              </a:rPr>
              <a:t>        else {</a:t>
            </a:r>
          </a:p>
          <a:p>
            <a:r>
              <a:rPr lang="en-US" altLang="zh-CN" sz="1600" b="1" dirty="0">
                <a:latin typeface="+mn-ea"/>
              </a:rPr>
              <a:t>            B;</a:t>
            </a:r>
          </a:p>
          <a:p>
            <a:r>
              <a:rPr lang="en-US" altLang="zh-CN" sz="1600" b="1" dirty="0">
                <a:latin typeface="+mn-ea"/>
              </a:rPr>
              <a:t>            }</a:t>
            </a:r>
          </a:p>
          <a:p>
            <a:r>
              <a:rPr lang="en-US" altLang="zh-CN" sz="1600" b="1" dirty="0">
                <a:latin typeface="+mn-ea"/>
              </a:rPr>
              <a:t>        C;</a:t>
            </a: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F;</a:t>
            </a:r>
          </a:p>
          <a:p>
            <a:r>
              <a:rPr lang="en-US" altLang="zh-CN" sz="1600" b="1" dirty="0">
                <a:latin typeface="+mn-ea"/>
              </a:rPr>
              <a:t>    else {</a:t>
            </a:r>
          </a:p>
          <a:p>
            <a:r>
              <a:rPr lang="en-US" altLang="zh-CN" sz="1600" b="1" dirty="0">
                <a:latin typeface="+mn-ea"/>
              </a:rPr>
              <a:t>        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3) {</a:t>
            </a:r>
          </a:p>
          <a:p>
            <a:r>
              <a:rPr lang="en-US" altLang="zh-CN" sz="1600" b="1" dirty="0">
                <a:latin typeface="+mn-ea"/>
              </a:rPr>
              <a:t>            D;</a:t>
            </a:r>
          </a:p>
          <a:p>
            <a:r>
              <a:rPr lang="en-US" altLang="zh-CN" sz="1600" b="1" dirty="0">
                <a:latin typeface="+mn-ea"/>
              </a:rPr>
              <a:t>            }</a:t>
            </a:r>
          </a:p>
          <a:p>
            <a:r>
              <a:rPr lang="en-US" altLang="zh-CN" sz="1600" b="1" dirty="0">
                <a:latin typeface="+mn-ea"/>
              </a:rPr>
              <a:t>        E;</a:t>
            </a:r>
          </a:p>
          <a:p>
            <a:r>
              <a:rPr lang="en-US" altLang="zh-CN" sz="1600" b="1" dirty="0">
                <a:latin typeface="+mn-ea"/>
              </a:rPr>
              <a:t>        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067504" y="1323975"/>
            <a:ext cx="677194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6.C</a:t>
            </a:r>
            <a:r>
              <a:rPr kumimoji="1" lang="zh-CN" altLang="en-US" sz="1600" b="1" dirty="0">
                <a:latin typeface="+mn-ea"/>
              </a:rPr>
              <a:t>的基础上，在箭头位置插入语句</a:t>
            </a:r>
            <a:r>
              <a:rPr kumimoji="1" lang="en-US" altLang="zh-CN" sz="1600" b="1" dirty="0">
                <a:latin typeface="+mn-ea"/>
              </a:rPr>
              <a:t>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、请构造一个符合此要求的测试程序，并给出该程序的程序及编译错误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、请说明错误原因（如果计算机的报错和你的认知不同，想明白为什么）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else</a:t>
            </a:r>
            <a:r>
              <a:rPr kumimoji="1" lang="zh-CN" altLang="en-US" sz="1600" b="1" dirty="0">
                <a:latin typeface="+mn-ea"/>
              </a:rPr>
              <a:t>与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不配对，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后的表达式标志了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的结束，直接加</a:t>
            </a:r>
            <a:r>
              <a:rPr kumimoji="1" lang="en-US" altLang="zh-CN" sz="1600" b="1" dirty="0">
                <a:latin typeface="+mn-ea"/>
              </a:rPr>
              <a:t>else</a:t>
            </a:r>
            <a:r>
              <a:rPr kumimoji="1" lang="zh-CN" altLang="en-US" sz="1600" b="1" dirty="0">
                <a:latin typeface="+mn-ea"/>
              </a:rPr>
              <a:t>使得其无法与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配对。</a:t>
            </a:r>
            <a:endParaRPr kumimoji="1" lang="en-US" altLang="zh-CN" sz="1600" b="1" dirty="0">
              <a:latin typeface="+mn-ea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21C56AD-4C66-49EA-B18F-92D210679524}"/>
              </a:ext>
            </a:extLst>
          </p:cNvPr>
          <p:cNvCxnSpPr/>
          <p:nvPr/>
        </p:nvCxnSpPr>
        <p:spPr bwMode="auto">
          <a:xfrm>
            <a:off x="409902" y="3941380"/>
            <a:ext cx="60631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62C3072-B275-7242-33C3-9DFBD7133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358" y="2147887"/>
            <a:ext cx="1558848" cy="3195638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054E708-FBD9-73AD-F995-B8F8ADFA7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428" y="3225006"/>
            <a:ext cx="32258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47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多重嵌套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一个</a:t>
            </a:r>
            <a:r>
              <a:rPr lang="en-US" altLang="zh-CN" sz="1600" b="1" dirty="0">
                <a:latin typeface="+mn-ea"/>
              </a:rPr>
              <a:t>if</a:t>
            </a:r>
            <a:r>
              <a:rPr lang="zh-CN" altLang="en-US" sz="1600" b="1" dirty="0">
                <a:latin typeface="+mn-ea"/>
              </a:rPr>
              <a:t>语句嵌套如下，回答问题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813738" y="1323976"/>
            <a:ext cx="6025712" cy="25963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4C05E1-20D8-4C6D-A3D9-8ACF368FDA5F}"/>
              </a:ext>
            </a:extLst>
          </p:cNvPr>
          <p:cNvSpPr/>
          <p:nvPr/>
        </p:nvSpPr>
        <p:spPr bwMode="auto">
          <a:xfrm>
            <a:off x="592114" y="1323974"/>
            <a:ext cx="1625569" cy="25963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</a:p>
          <a:p>
            <a:r>
              <a:rPr lang="en-US" altLang="zh-CN" sz="1600" b="1" dirty="0">
                <a:latin typeface="+mn-ea"/>
              </a:rPr>
              <a:t>A;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B;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else {</a:t>
            </a:r>
          </a:p>
          <a:p>
            <a:r>
              <a:rPr lang="en-US" altLang="zh-CN" sz="1600" b="1" dirty="0">
                <a:latin typeface="+mn-ea"/>
              </a:rPr>
              <a:t>C;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0ADC6C-95AB-4D3C-8A55-EC2A7CC45E16}"/>
              </a:ext>
            </a:extLst>
          </p:cNvPr>
          <p:cNvSpPr/>
          <p:nvPr/>
        </p:nvSpPr>
        <p:spPr bwMode="auto">
          <a:xfrm>
            <a:off x="592114" y="3920359"/>
            <a:ext cx="1625569" cy="26137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</a:p>
          <a:p>
            <a:r>
              <a:rPr lang="en-US" altLang="zh-CN" sz="1600" b="1" dirty="0">
                <a:latin typeface="+mn-ea"/>
              </a:rPr>
              <a:t>A;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else {</a:t>
            </a:r>
          </a:p>
          <a:p>
            <a:r>
              <a:rPr lang="en-US" altLang="zh-CN" sz="1600" b="1" dirty="0">
                <a:latin typeface="+mn-ea"/>
              </a:rPr>
              <a:t>B;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C;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9A57E5-9FB8-4677-98E2-5FB0D173D2D5}"/>
              </a:ext>
            </a:extLst>
          </p:cNvPr>
          <p:cNvSpPr/>
          <p:nvPr/>
        </p:nvSpPr>
        <p:spPr bwMode="auto">
          <a:xfrm>
            <a:off x="4813737" y="3916911"/>
            <a:ext cx="6025713" cy="261723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、当表达式</a:t>
            </a:r>
            <a:r>
              <a:rPr kumimoji="1" lang="en-US" altLang="zh-CN" sz="1600" b="1" dirty="0">
                <a:latin typeface="+mn-ea"/>
              </a:rPr>
              <a:t>1__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，表达式</a:t>
            </a:r>
            <a:r>
              <a:rPr kumimoji="1" lang="en-US" altLang="zh-CN" sz="1600" b="1" dirty="0">
                <a:latin typeface="+mn-ea"/>
              </a:rPr>
              <a:t>2__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真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假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任意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时，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执行语句</a:t>
            </a:r>
            <a:r>
              <a:rPr kumimoji="1" lang="en-US" altLang="zh-CN" sz="1600" b="1" dirty="0">
                <a:latin typeface="+mn-ea"/>
              </a:rPr>
              <a:t>C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727A17-4164-41C1-914A-A72F3480CAD6}"/>
              </a:ext>
            </a:extLst>
          </p:cNvPr>
          <p:cNvSpPr/>
          <p:nvPr/>
        </p:nvSpPr>
        <p:spPr bwMode="auto">
          <a:xfrm>
            <a:off x="2217683" y="1330358"/>
            <a:ext cx="2596055" cy="258655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左侧代码按缩进格式排版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</a:p>
          <a:p>
            <a:pPr lvl="1"/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</a:p>
          <a:p>
            <a:pPr lvl="1"/>
            <a:r>
              <a:rPr lang="en-US" altLang="zh-CN" sz="1600" b="1" dirty="0">
                <a:latin typeface="+mn-ea"/>
              </a:rPr>
              <a:t>	A;</a:t>
            </a:r>
          </a:p>
          <a:p>
            <a:pPr lvl="1"/>
            <a:r>
              <a:rPr lang="en-US" altLang="zh-CN" sz="1600" b="1" dirty="0">
                <a:latin typeface="+mn-ea"/>
              </a:rPr>
              <a:t>}</a:t>
            </a:r>
          </a:p>
          <a:p>
            <a:pPr lvl="1"/>
            <a:r>
              <a:rPr lang="en-US" altLang="zh-CN" sz="1600" b="1" dirty="0">
                <a:latin typeface="+mn-ea"/>
              </a:rPr>
              <a:t>B;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else {</a:t>
            </a:r>
          </a:p>
          <a:p>
            <a:r>
              <a:rPr lang="zh-CN" altLang="en-US" sz="1600" b="1" dirty="0">
                <a:latin typeface="+mn-ea"/>
              </a:rPr>
              <a:t>     </a:t>
            </a:r>
            <a:r>
              <a:rPr lang="en-US" altLang="zh-CN" sz="1600" b="1" dirty="0">
                <a:latin typeface="+mn-ea"/>
              </a:rPr>
              <a:t>C;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699AAB-DC6A-45CD-B7AD-272B4D1F0E73}"/>
              </a:ext>
            </a:extLst>
          </p:cNvPr>
          <p:cNvSpPr/>
          <p:nvPr/>
        </p:nvSpPr>
        <p:spPr bwMode="auto">
          <a:xfrm>
            <a:off x="2217682" y="3916912"/>
            <a:ext cx="2596055" cy="26172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左侧代码按缩进格式排版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1) {</a:t>
            </a:r>
          </a:p>
          <a:p>
            <a:pPr lvl="1"/>
            <a:r>
              <a:rPr lang="en-US" altLang="zh-CN" sz="1600" b="1" dirty="0">
                <a:latin typeface="+mn-ea"/>
              </a:rPr>
              <a:t>if (</a:t>
            </a:r>
            <a:r>
              <a:rPr lang="zh-CN" altLang="en-US" sz="1600" b="1" dirty="0">
                <a:latin typeface="+mn-ea"/>
              </a:rPr>
              <a:t>表达式</a:t>
            </a:r>
            <a:r>
              <a:rPr lang="en-US" altLang="zh-CN" sz="1600" b="1" dirty="0">
                <a:latin typeface="+mn-ea"/>
              </a:rPr>
              <a:t>2) {</a:t>
            </a:r>
          </a:p>
          <a:p>
            <a:pPr lvl="1"/>
            <a:r>
              <a:rPr lang="en-US" altLang="zh-CN" sz="1600" b="1" dirty="0">
                <a:latin typeface="+mn-ea"/>
              </a:rPr>
              <a:t>	A;</a:t>
            </a:r>
          </a:p>
          <a:p>
            <a:pPr lvl="1"/>
            <a:r>
              <a:rPr lang="en-US" altLang="zh-CN" sz="1600" b="1" dirty="0">
                <a:latin typeface="+mn-ea"/>
              </a:rPr>
              <a:t>}</a:t>
            </a:r>
          </a:p>
          <a:p>
            <a:pPr lvl="1"/>
            <a:r>
              <a:rPr lang="en-US" altLang="zh-CN" sz="1600" b="1" dirty="0">
                <a:latin typeface="+mn-ea"/>
              </a:rPr>
              <a:t>else {</a:t>
            </a:r>
          </a:p>
          <a:p>
            <a:pPr lvl="1"/>
            <a:r>
              <a:rPr lang="en-US" altLang="zh-CN" sz="1600" b="1" dirty="0">
                <a:latin typeface="+mn-ea"/>
              </a:rPr>
              <a:t>	B;</a:t>
            </a:r>
          </a:p>
          <a:p>
            <a:pPr lvl="1"/>
            <a:r>
              <a:rPr lang="en-US" altLang="zh-CN" sz="1600" b="1" dirty="0">
                <a:latin typeface="+mn-ea"/>
              </a:rPr>
              <a:t>}</a:t>
            </a:r>
          </a:p>
          <a:p>
            <a:pPr lvl="1"/>
            <a:r>
              <a:rPr lang="en-US" altLang="zh-CN" sz="1600" b="1" dirty="0">
                <a:latin typeface="+mn-ea"/>
              </a:rPr>
              <a:t>C;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7477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2116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a,b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cin</a:t>
            </a:r>
            <a:r>
              <a:rPr lang="en-US" altLang="zh-CN" sz="1200" b="1" dirty="0">
                <a:latin typeface="+mn-ea"/>
              </a:rPr>
              <a:t> &gt;&gt; a &gt;&gt; b;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if (a&gt;b)</a:t>
            </a: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else</a:t>
            </a: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"max=" &lt;&lt; b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&gt; b ?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a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: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b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//1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&lt;&lt; "max=" &lt;&lt; (a&gt;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 &lt;&lt;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//2</a:t>
            </a: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("max=%d", a&gt;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b?a:b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);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//3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6547945" y="1323975"/>
            <a:ext cx="429150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12 34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34 12</a:t>
            </a:r>
            <a:r>
              <a:rPr kumimoji="1" lang="zh-CN" altLang="en-US" sz="1600" b="1" dirty="0">
                <a:latin typeface="+mn-ea"/>
              </a:rPr>
              <a:t>，给出运行截图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//1 //2 //3</a:t>
            </a:r>
            <a:r>
              <a:rPr kumimoji="1" lang="zh-CN" altLang="en-US" sz="1600" b="1" dirty="0">
                <a:latin typeface="+mn-ea"/>
              </a:rPr>
              <a:t>这三种条件运算符的使用，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按你的喜欢程度排序为</a:t>
            </a:r>
            <a:r>
              <a:rPr kumimoji="1" lang="en-US" altLang="zh-CN" sz="1600" b="1" dirty="0">
                <a:latin typeface="+mn-ea"/>
              </a:rPr>
              <a:t>___231___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A97A34-1D75-9B49-ADB4-5BFD1DCB0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1593850"/>
            <a:ext cx="747713" cy="1225419"/>
          </a:xfrm>
          <a:prstGeom prst="rect">
            <a:avLst/>
          </a:prstGeom>
        </p:spPr>
      </p:pic>
      <p:pic>
        <p:nvPicPr>
          <p:cNvPr id="7" name="Picture 6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CAEA6430-F027-36EA-BA61-BF94EA31B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3160581"/>
            <a:ext cx="7366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6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、条件运算符与条件表达式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a=1, b=2;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"Hello" : 123;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a&gt;b ?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a :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("%d", 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a==1 ? 'A' : 123;     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编译正确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5793" y="1323975"/>
            <a:ext cx="495365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、给出编译报错的截图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、条件表达式使用的三句中，前两句报错，最后一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句正确，总结下条件表达式使用时的限制规则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提示：注意表达式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和表达式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的类型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答：冒号左右变量或函数返回值必须能相互转换。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27A8394-87AD-7E4E-6E7A-076BF3F27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005" y="2701483"/>
            <a:ext cx="4671231" cy="701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07FE36-2AF9-C9AC-82E9-A24FF7203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005" y="2070214"/>
            <a:ext cx="5162880" cy="63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80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4783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程序的期望，是当输入的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时，分段输出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优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及格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不及格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否则输出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、程序不完全正确，找出不符合期望的两个数据区间并给出运行截图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不需要改对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(100,110)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(-10,0)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AE24AC8-B1B3-BFF5-1CA2-15F779414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334" y="3351212"/>
            <a:ext cx="1905000" cy="1155700"/>
          </a:xfrm>
          <a:prstGeom prst="rect">
            <a:avLst/>
          </a:prstGeom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77027A0B-FC47-7771-FE77-67BB10DC0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362" y="3351212"/>
            <a:ext cx="30607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49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const int k=5;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k+2: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8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default</a:t>
            </a:r>
            <a:r>
              <a:rPr kumimoji="1" lang="zh-CN" altLang="en-US" sz="1600" b="1" dirty="0">
                <a:latin typeface="+mn-ea"/>
              </a:rPr>
              <a:t>的位置进行了交换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7</a:t>
            </a:r>
            <a:r>
              <a:rPr kumimoji="1" lang="zh-CN" altLang="en-US" sz="1600" b="1" dirty="0">
                <a:latin typeface="+mn-ea"/>
              </a:rPr>
              <a:t>写为常变量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常量形式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验证此程序与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的功能是否完全一致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（即：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中正确的</a:t>
            </a:r>
            <a:r>
              <a:rPr kumimoji="1" lang="en-US" altLang="zh-CN" sz="1600" b="1" dirty="0">
                <a:latin typeface="+mn-ea"/>
              </a:rPr>
              <a:t>,</a:t>
            </a:r>
            <a:r>
              <a:rPr kumimoji="1" lang="zh-CN" altLang="en-US" sz="1600" b="1" dirty="0">
                <a:latin typeface="+mn-ea"/>
              </a:rPr>
              <a:t>此程序中同样正确；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错误的，此程序中同样错误）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8.B__</a:t>
            </a:r>
            <a:r>
              <a:rPr kumimoji="1" lang="zh-CN" altLang="en-US" sz="1600" b="1" dirty="0">
                <a:latin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完全一致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不完全一致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如果不完全一致，给出表现不一致的测试数据的运行截图</a:t>
            </a: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187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int k=5;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k+2: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8.B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const 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int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 后面跟的值必须为常量。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E4F7F4E-6015-719C-8274-65731BFEA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696" y="1784894"/>
            <a:ext cx="38227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14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    case 4+2: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的基础上，多了一个</a:t>
            </a:r>
            <a:r>
              <a:rPr kumimoji="1" lang="en-US" altLang="zh-CN" sz="1600" b="1" dirty="0">
                <a:latin typeface="+mn-ea"/>
              </a:rPr>
              <a:t>case 4+2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被重复</a:t>
            </a:r>
            <a:r>
              <a:rPr kumimoji="1" lang="en-US" altLang="zh-CN" sz="1600" b="1" dirty="0">
                <a:latin typeface="+mn-ea"/>
              </a:rPr>
              <a:t>case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EB12B6-F828-8DCE-1BAB-B060648A5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740625"/>
            <a:ext cx="53975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11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float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的基础上，将</a:t>
            </a:r>
            <a:r>
              <a:rPr kumimoji="1" lang="en-US" altLang="zh-CN" sz="1600" b="1" dirty="0">
                <a:latin typeface="+mn-ea"/>
              </a:rPr>
              <a:t>score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float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、给出编译错误的截图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、解释错误原因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里的变量和常量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不是同一类型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68E4C6B-C3F5-0540-1637-5FE88113A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749" y="1775460"/>
            <a:ext cx="4690473" cy="98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490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[0-100]"&lt;&lt;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switch(score/10)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5: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4: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3: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2: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&lt;&lt;"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"&lt;&lt;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的基础上，删除</a:t>
            </a:r>
            <a:r>
              <a:rPr kumimoji="1" lang="en-US" altLang="zh-CN" sz="1600" b="1" dirty="0">
                <a:latin typeface="+mn-ea"/>
              </a:rPr>
              <a:t>case 8</a:t>
            </a:r>
            <a:r>
              <a:rPr kumimoji="1" lang="zh-CN" altLang="en-US" sz="1600" b="1" dirty="0">
                <a:latin typeface="+mn-ea"/>
              </a:rPr>
              <a:t>后面的</a:t>
            </a:r>
            <a:r>
              <a:rPr kumimoji="1" lang="en-US" altLang="zh-CN" sz="1600" b="1" dirty="0">
                <a:latin typeface="+mn-ea"/>
              </a:rPr>
              <a:t>break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、给出与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运行结果不一致的测试数据即截图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的作用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跳出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语句，停止向下判断。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63EBFDA-F5FA-7689-328F-3A11AF650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412" y="1715770"/>
            <a:ext cx="7493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508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请输入成绩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[0-100]" &lt;&lt;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score;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if (score &lt; 0 || score &gt; 100)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输入错误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 &lt;&lt;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else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switch (score / 10)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10: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9: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优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 &lt;&lt;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8: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良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 &lt;&lt;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7: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中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 &lt;&lt;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case 6: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 &lt;&lt;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default: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不及格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 &lt;&lt; </a:t>
            </a:r>
            <a:r>
              <a:rPr kumimoji="1" lang="en-US" altLang="zh-CN" sz="9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9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310759" y="1323975"/>
            <a:ext cx="75286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程序同</a:t>
            </a:r>
            <a:r>
              <a:rPr kumimoji="1" lang="en-US" altLang="zh-CN" sz="1600" b="1" dirty="0">
                <a:latin typeface="+mn-ea"/>
              </a:rPr>
              <a:t>8.A</a:t>
            </a:r>
            <a:r>
              <a:rPr kumimoji="1" lang="zh-CN" altLang="en-US" sz="1600" b="1" dirty="0">
                <a:latin typeface="+mn-ea"/>
              </a:rPr>
              <a:t>，将其改正确，即所有</a:t>
            </a:r>
            <a:r>
              <a:rPr kumimoji="1" lang="en-US" altLang="zh-CN" sz="1600" b="1" dirty="0">
                <a:latin typeface="+mn-ea"/>
              </a:rPr>
              <a:t>[0..100]</a:t>
            </a:r>
            <a:r>
              <a:rPr kumimoji="1" lang="zh-CN" altLang="en-US" sz="1600" b="1" dirty="0">
                <a:latin typeface="+mn-ea"/>
              </a:rPr>
              <a:t>之外的数据均给出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输入错误</a:t>
            </a:r>
            <a:r>
              <a:rPr kumimoji="1" lang="en-US" altLang="zh-CN" sz="1600" b="1" dirty="0">
                <a:latin typeface="+mn-ea"/>
              </a:rPr>
              <a:t>"</a:t>
            </a:r>
            <a:r>
              <a:rPr kumimoji="1" lang="zh-CN" altLang="en-US" sz="1600" b="1" dirty="0">
                <a:latin typeface="+mn-ea"/>
              </a:rPr>
              <a:t>即可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AD23E8-6CE0-6215-3EFD-2340660EE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557" y="2498453"/>
            <a:ext cx="18542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180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switch-case</a:t>
            </a:r>
            <a:r>
              <a:rPr lang="zh-CN" altLang="en-US" sz="1600" b="1" dirty="0">
                <a:latin typeface="+mn-ea"/>
              </a:rPr>
              <a:t>语句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H.</a:t>
            </a:r>
            <a:r>
              <a:rPr lang="zh-CN" altLang="en-US" sz="1600" b="1" dirty="0">
                <a:latin typeface="+mn-ea"/>
              </a:rPr>
              <a:t>思考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9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92113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如果将成绩区间对应为：</a:t>
            </a:r>
            <a:r>
              <a:rPr kumimoji="1" lang="en-US" altLang="zh-CN" sz="1600" b="1" dirty="0">
                <a:latin typeface="+mn-ea"/>
              </a:rPr>
              <a:t>[84-100]</a:t>
            </a:r>
            <a:r>
              <a:rPr kumimoji="1" lang="zh-CN" altLang="en-US" sz="1600" b="1" dirty="0">
                <a:latin typeface="+mn-ea"/>
              </a:rPr>
              <a:t> </a:t>
            </a:r>
            <a:r>
              <a:rPr kumimoji="1" lang="en-US" altLang="zh-CN" sz="1600" b="1" dirty="0">
                <a:latin typeface="+mn-ea"/>
              </a:rPr>
              <a:t>- </a:t>
            </a:r>
            <a:r>
              <a:rPr kumimoji="1" lang="zh-CN" altLang="en-US" sz="1600" b="1" dirty="0">
                <a:latin typeface="+mn-ea"/>
              </a:rPr>
              <a:t>优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[68-84)  - </a:t>
            </a:r>
            <a:r>
              <a:rPr kumimoji="1" lang="zh-CN" altLang="en-US" sz="1600" b="1" dirty="0">
                <a:latin typeface="+mn-ea"/>
              </a:rPr>
              <a:t>良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[55-68)</a:t>
            </a:r>
            <a:r>
              <a:rPr kumimoji="1" lang="zh-CN" altLang="en-US" sz="1600" b="1" dirty="0">
                <a:latin typeface="+mn-ea"/>
              </a:rPr>
              <a:t>  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 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             [0-55)   - </a:t>
            </a:r>
            <a:r>
              <a:rPr kumimoji="1" lang="zh-CN" altLang="en-US" sz="1600" b="1" dirty="0">
                <a:latin typeface="+mn-ea"/>
              </a:rPr>
              <a:t>不及格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、用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语句完成该程序并贴图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语句，该如何实现？（如果程序太长，允许只截取能说明问题的部分即可）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、如果学生成绩带小数点，即</a:t>
            </a:r>
            <a:r>
              <a:rPr kumimoji="1" lang="en-US" altLang="zh-CN" sz="1600" b="1" dirty="0">
                <a:latin typeface="+mn-ea"/>
              </a:rPr>
              <a:t>"xx.5"</a:t>
            </a:r>
            <a:r>
              <a:rPr kumimoji="1" lang="zh-CN" altLang="en-US" sz="1600" b="1" dirty="0">
                <a:latin typeface="+mn-ea"/>
              </a:rPr>
              <a:t>形式，能用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语句吗？能用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语句吗？请解释原因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答：能用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，不能用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，因为浮点数有精度损失，判断相等不能直接判断。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、总结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语句使用时的注意事项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）</a:t>
            </a:r>
            <a:r>
              <a:rPr kumimoji="1" lang="en-US" altLang="zh-CN" sz="1600" b="1" dirty="0">
                <a:latin typeface="+mn-ea"/>
              </a:rPr>
              <a:t>case</a:t>
            </a:r>
            <a:r>
              <a:rPr kumimoji="1" lang="zh-CN" altLang="en-US" sz="1600" b="1" dirty="0">
                <a:latin typeface="+mn-ea"/>
              </a:rPr>
              <a:t>后需要为常量；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）注意</a:t>
            </a:r>
            <a:r>
              <a:rPr kumimoji="1" lang="en-US" altLang="zh-CN" sz="1600" b="1" dirty="0">
                <a:latin typeface="+mn-ea"/>
              </a:rPr>
              <a:t>break</a:t>
            </a:r>
            <a:r>
              <a:rPr kumimoji="1" lang="zh-CN" altLang="en-US" sz="1600" b="1" dirty="0">
                <a:latin typeface="+mn-ea"/>
              </a:rPr>
              <a:t>的使用；</a:t>
            </a: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）</a:t>
            </a:r>
            <a:r>
              <a:rPr kumimoji="1" lang="en-US" altLang="zh-CN" sz="1600" b="1" dirty="0">
                <a:latin typeface="+mn-ea"/>
              </a:rPr>
              <a:t>switch</a:t>
            </a:r>
            <a:r>
              <a:rPr kumimoji="1" lang="zh-CN" altLang="en-US" sz="1600" b="1" dirty="0">
                <a:latin typeface="+mn-ea"/>
              </a:rPr>
              <a:t>判断的变量应为整型。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switch-case</a:t>
            </a:r>
            <a:r>
              <a:rPr kumimoji="1" lang="zh-CN" altLang="en-US" sz="1600" b="1" dirty="0">
                <a:latin typeface="+mn-ea"/>
              </a:rPr>
              <a:t>语句能完全取代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答：不能。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需要文字描述的地方，尽可能用简单的文字描述清楚即可，不需要卷字数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DC43C44-56BF-B961-1289-27FD258DE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029" y="1302067"/>
            <a:ext cx="1885504" cy="2626995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7E36A3D-FE75-A4CE-759D-64ABAAACF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533" y="1302066"/>
            <a:ext cx="1701696" cy="26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88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关系运算、逻辑运算与选择结构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2655464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6959</TotalTime>
  <Words>7529</Words>
  <Application>Microsoft Macintosh PowerPoint</Application>
  <PresentationFormat>Widescreen</PresentationFormat>
  <Paragraphs>1179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等线</vt:lpstr>
      <vt:lpstr>宋体</vt:lpstr>
      <vt:lpstr>Times New Roman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Tonhie Xavier</cp:lastModifiedBy>
  <cp:revision>228</cp:revision>
  <dcterms:created xsi:type="dcterms:W3CDTF">2020-08-13T13:39:53Z</dcterms:created>
  <dcterms:modified xsi:type="dcterms:W3CDTF">2025-03-25T05:55:24Z</dcterms:modified>
</cp:coreProperties>
</file>