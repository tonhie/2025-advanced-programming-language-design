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9"/>
  </p:notesMasterIdLst>
  <p:sldIdLst>
    <p:sldId id="1236" r:id="rId2"/>
    <p:sldId id="1275" r:id="rId3"/>
    <p:sldId id="1277" r:id="rId4"/>
    <p:sldId id="1230" r:id="rId5"/>
    <p:sldId id="1276" r:id="rId6"/>
    <p:sldId id="1076" r:id="rId7"/>
    <p:sldId id="1238" r:id="rId8"/>
    <p:sldId id="492" r:id="rId9"/>
    <p:sldId id="1240" r:id="rId10"/>
    <p:sldId id="1241" r:id="rId11"/>
    <p:sldId id="1248" r:id="rId12"/>
    <p:sldId id="1242" r:id="rId13"/>
    <p:sldId id="1249" r:id="rId14"/>
    <p:sldId id="1250" r:id="rId15"/>
    <p:sldId id="1244" r:id="rId16"/>
    <p:sldId id="1246" r:id="rId17"/>
    <p:sldId id="1245" r:id="rId18"/>
    <p:sldId id="1251" r:id="rId19"/>
    <p:sldId id="520" r:id="rId20"/>
    <p:sldId id="1253" r:id="rId21"/>
    <p:sldId id="1254" r:id="rId22"/>
    <p:sldId id="1265" r:id="rId23"/>
    <p:sldId id="1257" r:id="rId24"/>
    <p:sldId id="1255" r:id="rId25"/>
    <p:sldId id="1259" r:id="rId26"/>
    <p:sldId id="1258" r:id="rId27"/>
    <p:sldId id="1261" r:id="rId28"/>
    <p:sldId id="1262" r:id="rId29"/>
    <p:sldId id="1269" r:id="rId30"/>
    <p:sldId id="1270" r:id="rId31"/>
    <p:sldId id="1267" r:id="rId32"/>
    <p:sldId id="1268" r:id="rId33"/>
    <p:sldId id="1266" r:id="rId34"/>
    <p:sldId id="1273" r:id="rId35"/>
    <p:sldId id="1271" r:id="rId36"/>
    <p:sldId id="1272" r:id="rId37"/>
    <p:sldId id="127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491" autoAdjust="0"/>
    <p:restoredTop sz="94611" autoAdjust="0"/>
  </p:normalViewPr>
  <p:slideViewPr>
    <p:cSldViewPr snapToGrid="0">
      <p:cViewPr varScale="1">
        <p:scale>
          <a:sx n="66" d="100"/>
          <a:sy n="66" d="100"/>
        </p:scale>
        <p:origin x="208" y="1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579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58688-ABC7-453E-BA22-F4813582A5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772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4EA91-AA2B-41BE-A574-976C7F879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006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BF3E9-4CC2-493B-A23D-F9F5DAD626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75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390DD-0C99-43A2-9CF3-1A84E3C54C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750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9EA07-C8E8-4665-81DA-F8AA97A80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719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3C32B-E4BA-46A5-BF69-35FA665700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28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BF182-C675-4BC9-81D4-CCF465CAED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56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92D58-1AC3-4A23-B7F9-A30D8EF4EF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977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E57AF-6576-4E74-9C99-9873E1BD64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1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163D1-1ED6-4CC4-B47B-DD6F56C1FF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74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4CDD7-A086-4F78-BFF3-313ED457E3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581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E16A2B-F58A-4135-8A28-11C3BD506B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8AE808F-93CC-471E-AA2B-6DAA03959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86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000" b="1" dirty="0">
                <a:latin typeface="+mn-ea"/>
              </a:rPr>
              <a:t>本次作业特别要求：</a:t>
            </a:r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、建立解决方案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项目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源程序文件时，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一定要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.c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后缀</a:t>
            </a:r>
            <a:r>
              <a:rPr lang="zh-CN" altLang="en-US" sz="2000" b="1" dirty="0">
                <a:latin typeface="+mn-ea"/>
              </a:rPr>
              <a:t>，不要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后缀</a:t>
            </a:r>
            <a:r>
              <a:rPr lang="en-US" altLang="zh-CN" sz="2000" b="1" dirty="0">
                <a:latin typeface="+mn-ea"/>
              </a:rPr>
              <a:t>!!!</a:t>
            </a:r>
          </a:p>
          <a:p>
            <a:pPr algn="l"/>
            <a:r>
              <a:rPr lang="en-US" altLang="zh-CN" sz="2000" b="1" dirty="0">
                <a:latin typeface="+mn-ea"/>
              </a:rPr>
              <a:t>  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提醒：</a:t>
            </a:r>
            <a:r>
              <a:rPr lang="en-US" altLang="zh-CN" sz="2000" b="1" dirty="0">
                <a:latin typeface="+mn-ea"/>
              </a:rPr>
              <a:t>.c</a:t>
            </a:r>
            <a:r>
              <a:rPr lang="zh-CN" altLang="en-US" sz="2000" b="1" dirty="0">
                <a:latin typeface="+mn-ea"/>
              </a:rPr>
              <a:t>和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的报错表现不同，按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做会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影响分数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、如果是</a:t>
            </a:r>
            <a:r>
              <a:rPr lang="en-US" altLang="zh-CN" sz="2000" b="1" dirty="0">
                <a:latin typeface="+mn-ea"/>
              </a:rPr>
              <a:t>warning+</a:t>
            </a:r>
            <a:r>
              <a:rPr lang="zh-CN" altLang="en-US" sz="2000" b="1" dirty="0">
                <a:latin typeface="+mn-ea"/>
              </a:rPr>
              <a:t>有结果，则</a:t>
            </a:r>
            <a:r>
              <a:rPr lang="en-US" altLang="zh-CN" sz="2000" b="1" dirty="0">
                <a:latin typeface="+mn-ea"/>
              </a:rPr>
              <a:t>warning+</a:t>
            </a:r>
            <a:r>
              <a:rPr lang="zh-CN" altLang="en-US" sz="2000" b="1" dirty="0">
                <a:latin typeface="+mn-ea"/>
              </a:rPr>
              <a:t>运行结果两者的截图都要</a:t>
            </a:r>
            <a:r>
              <a:rPr lang="en-US" altLang="zh-CN" sz="2000" b="1" dirty="0">
                <a:latin typeface="+mn-ea"/>
              </a:rPr>
              <a:t>!!!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45CF614-1103-4775-9CF6-E63BA880F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833" y="1727078"/>
            <a:ext cx="3733333" cy="41047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10D1CE4-1A01-4454-8A5D-FA584E9A6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977" y="2433002"/>
            <a:ext cx="4906724" cy="33988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899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关于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中使用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时，报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的统一处理方法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更多内容，参考编号为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030105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的附件文档及视频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971A54-8B25-4D93-8EC5-7014824FA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15" y="1110714"/>
            <a:ext cx="3764671" cy="2306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3B4069-A664-4C9F-9F0C-EA54EE073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617" y="1110714"/>
            <a:ext cx="3374468" cy="23182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76471BE-556A-4C1F-A664-FA53D01A4C6D}"/>
              </a:ext>
            </a:extLst>
          </p:cNvPr>
          <p:cNvSpPr/>
          <p:nvPr/>
        </p:nvSpPr>
        <p:spPr bwMode="auto">
          <a:xfrm>
            <a:off x="6103565" y="3548445"/>
            <a:ext cx="5210980" cy="143456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、如上图两个程序，按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CTRL+F5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可以正确运行，编译结果显示区域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未出现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，但导航栏提示有一个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warning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、点开导航栏后出现一个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信息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、这属于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VS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智能提示（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IntelliSense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）的警告，这种级别的警告暂时忽略，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不需要消除，也不计入会扣分的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的计数项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EA219AC-B4D9-4668-BC00-2B8CDDDA17EC}"/>
              </a:ext>
            </a:extLst>
          </p:cNvPr>
          <p:cNvGrpSpPr/>
          <p:nvPr/>
        </p:nvGrpSpPr>
        <p:grpSpPr>
          <a:xfrm>
            <a:off x="619014" y="3548445"/>
            <a:ext cx="5295238" cy="2826164"/>
            <a:chOff x="2115305" y="3429000"/>
            <a:chExt cx="5295238" cy="282616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824FFAB-8C4A-40AB-86D6-9246DF947B9A}"/>
                </a:ext>
              </a:extLst>
            </p:cNvPr>
            <p:cNvGrpSpPr/>
            <p:nvPr/>
          </p:nvGrpSpPr>
          <p:grpSpPr>
            <a:xfrm>
              <a:off x="2115305" y="3429000"/>
              <a:ext cx="5295238" cy="1434561"/>
              <a:chOff x="2115305" y="3429000"/>
              <a:chExt cx="5295238" cy="1434561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903036AB-30A6-489E-A13F-E38097306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5305" y="3429000"/>
                <a:ext cx="5295238" cy="139047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D0A0AFC-A74E-48E1-88E1-EBFC2125DD7A}"/>
                  </a:ext>
                </a:extLst>
              </p:cNvPr>
              <p:cNvSpPr/>
              <p:nvPr/>
            </p:nvSpPr>
            <p:spPr bwMode="auto">
              <a:xfrm>
                <a:off x="3927412" y="3645024"/>
                <a:ext cx="1944216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导航栏显示有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1</a:t>
                </a: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个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warning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998DAB1-77D7-4FB6-978A-A0B52732974C}"/>
                  </a:ext>
                </a:extLst>
              </p:cNvPr>
              <p:cNvSpPr/>
              <p:nvPr/>
            </p:nvSpPr>
            <p:spPr bwMode="auto">
              <a:xfrm>
                <a:off x="4190628" y="4575529"/>
                <a:ext cx="1944216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编译结果区域无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waring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0AA39D6-C80D-4F38-AE67-C3D549CB6A81}"/>
                </a:ext>
              </a:extLst>
            </p:cNvPr>
            <p:cNvGrpSpPr/>
            <p:nvPr/>
          </p:nvGrpSpPr>
          <p:grpSpPr>
            <a:xfrm>
              <a:off x="2115305" y="4967376"/>
              <a:ext cx="5295238" cy="1287788"/>
              <a:chOff x="2115305" y="4967376"/>
              <a:chExt cx="5295238" cy="1287788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5FFFA567-2893-44D7-B6B5-E632B5F2C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5305" y="4967376"/>
                <a:ext cx="5295238" cy="12877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78E94CF-0FEC-464C-AAC0-94C691255814}"/>
                  </a:ext>
                </a:extLst>
              </p:cNvPr>
              <p:cNvSpPr/>
              <p:nvPr/>
            </p:nvSpPr>
            <p:spPr bwMode="auto">
              <a:xfrm>
                <a:off x="4786406" y="5722058"/>
                <a:ext cx="2461723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点开导航栏后能看到一个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warning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1472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</a:t>
            </a:r>
            <a:r>
              <a:rPr lang="en-US" altLang="zh-CN" sz="1600" b="1" dirty="0">
                <a:latin typeface="+mn-ea"/>
              </a:rPr>
              <a:t>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格式控制表列的内容：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表示按格式输出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输出表列：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要输出的数据（常量、变量、表达式、函数）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常用的格式符种类：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00FE6B9-8357-4D3F-8094-C40EEB54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540223"/>
              </p:ext>
            </p:extLst>
          </p:nvPr>
        </p:nvGraphicFramePr>
        <p:xfrm>
          <a:off x="831175" y="3380798"/>
          <a:ext cx="4703440" cy="3017520"/>
        </p:xfrm>
        <a:graphic>
          <a:graphicData uri="http://schemas.openxmlformats.org/drawingml/2006/table">
            <a:tbl>
              <a:tblPr/>
              <a:tblGrid>
                <a:gridCol w="64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1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带符号的十进制形式整数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正数不带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八进制无符号形式输出整数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x,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十六进制无符号形式输出整数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十进制无符号形式输出整数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以字符形式输出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一个字符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输出字符串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以小数形式输出浮点数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e,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以指数形式输出浮点数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g, 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从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中选择宽度较短的形式输出浮点数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Group 27">
            <a:extLst>
              <a:ext uri="{FF2B5EF4-FFF2-40B4-BE49-F238E27FC236}">
                <a16:creationId xmlns:a16="http://schemas.microsoft.com/office/drawing/2014/main" id="{93C5F45F-5C25-4060-81EF-81F7098D4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116982"/>
              </p:ext>
            </p:extLst>
          </p:nvPr>
        </p:nvGraphicFramePr>
        <p:xfrm>
          <a:off x="5874478" y="3380798"/>
          <a:ext cx="4248472" cy="2414032"/>
        </p:xfrm>
        <a:graphic>
          <a:graphicData uri="http://schemas.openxmlformats.org/drawingml/2006/table">
            <a:tbl>
              <a:tblPr/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h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表示长整型整数，用于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表示短整型整数，用于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表示输出数据的宽度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.n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对浮点数，表示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位小数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对字符串，表示前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个字符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-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输出左对齐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3218114-31B3-49A2-B191-8D108F96CF06}"/>
              </a:ext>
            </a:extLst>
          </p:cNvPr>
          <p:cNvSpPr/>
          <p:nvPr/>
        </p:nvSpPr>
        <p:spPr bwMode="auto">
          <a:xfrm>
            <a:off x="813999" y="2987098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C5C001-DC0F-4005-8223-90E8503C2D11}"/>
              </a:ext>
            </a:extLst>
          </p:cNvPr>
          <p:cNvSpPr/>
          <p:nvPr/>
        </p:nvSpPr>
        <p:spPr bwMode="auto">
          <a:xfrm>
            <a:off x="5874479" y="2987098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936242-5FE7-4111-9506-8964CB3C6B2F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413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Welcome\x21\n");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23B5A-A0F8-45DD-A85D-EEEA057043FC}"/>
              </a:ext>
            </a:extLst>
          </p:cNvPr>
          <p:cNvSpPr/>
          <p:nvPr/>
        </p:nvSpPr>
        <p:spPr bwMode="auto">
          <a:xfrm>
            <a:off x="592114" y="4452270"/>
            <a:ext cx="4147127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\x21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zh-CN" altLang="en-US" sz="1600" b="1" dirty="0">
                <a:latin typeface="+mn-ea"/>
              </a:rPr>
              <a:t>哪个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字符的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进制转义表示？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转义符在格式控制表列中的输出形式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是：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字符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字符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整数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转义符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4739241" y="1323975"/>
            <a:ext cx="610020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写出与左侧程序输出完全一致的，用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方式的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实现的代码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贴源码或截图均可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CB7F2F-3F02-CC5B-73A6-555BE5AC7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726" y="4407177"/>
            <a:ext cx="1299842" cy="856485"/>
          </a:xfrm>
          <a:prstGeom prst="rect">
            <a:avLst/>
          </a:prstGeom>
        </p:spPr>
      </p:pic>
      <p:pic>
        <p:nvPicPr>
          <p:cNvPr id="10" name="Picture 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BEBF600-C82B-6EAB-3187-677472CB8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240" y="2074496"/>
            <a:ext cx="57531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7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23B5A-A0F8-45DD-A85D-EEEA057043FC}"/>
              </a:ext>
            </a:extLst>
          </p:cNvPr>
          <p:cNvSpPr/>
          <p:nvPr/>
        </p:nvSpPr>
        <p:spPr bwMode="auto">
          <a:xfrm>
            <a:off x="59211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小于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从前往后按</a:t>
            </a:r>
            <a:r>
              <a:rPr kumimoji="1" lang="zh-CN" altLang="en-CN" sz="1600" b="1" dirty="0">
                <a:latin typeface="+mn-ea"/>
              </a:rPr>
              <a:t>格式符</a:t>
            </a:r>
            <a:r>
              <a:rPr kumimoji="1" lang="zh-CN" altLang="en-US" sz="1600" b="1" dirty="0">
                <a:latin typeface="+mn-ea"/>
              </a:rPr>
              <a:t>数量输出</a:t>
            </a:r>
            <a:r>
              <a:rPr kumimoji="1" lang="en-US" altLang="zh-CN" sz="1600" b="1" dirty="0">
                <a:latin typeface="+mn-ea"/>
              </a:rPr>
              <a:t>___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%d 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EA1E5C-88C7-4721-A15B-AC0D975F178C}"/>
              </a:ext>
            </a:extLst>
          </p:cNvPr>
          <p:cNvSpPr/>
          <p:nvPr/>
        </p:nvSpPr>
        <p:spPr bwMode="auto">
          <a:xfrm>
            <a:off x="571425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大于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多余格式符输出不可信数</a:t>
            </a:r>
            <a:r>
              <a:rPr kumimoji="1" lang="en-US" altLang="zh-CN" sz="1600" b="1" dirty="0">
                <a:latin typeface="+mn-ea"/>
              </a:rPr>
              <a:t>_____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Picture 3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E0BB1F00-92BF-E157-1400-A24A9A0C7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634" y="4645027"/>
            <a:ext cx="1689100" cy="889000"/>
          </a:xfrm>
          <a:prstGeom prst="rect">
            <a:avLst/>
          </a:prstGeom>
        </p:spPr>
      </p:pic>
      <p:pic>
        <p:nvPicPr>
          <p:cNvPr id="8" name="Picture 7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0BCD0DC3-9526-CD8A-0136-526D01BED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374" y="4645027"/>
            <a:ext cx="18415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8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ret1, ret2, ret3, ret4, ret5;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ret1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b=%d\n",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ret2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b=%d\n", a,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跟上面比，少一个逗号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ret3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1000);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ret4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ret5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("Hello");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跟上面比，少一个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 %d %d %d\n", ret1, ret2, ret3, ret4, ret5);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7232073" y="1323975"/>
            <a:ext cx="360737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对运行结果进行分析后，你认为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的返回值的含义是：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最终输出的总长度（包括空格与换行）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C9E182-D4E1-027C-2696-2D07A4D46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011" y="1082920"/>
            <a:ext cx="1333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46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0613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short a = -2;</a:t>
            </a:r>
          </a:p>
          <a:p>
            <a:r>
              <a:rPr lang="pt-BR" altLang="zh-CN" sz="1200" b="1" dirty="0">
                <a:latin typeface="+mn-ea"/>
              </a:rPr>
              <a:t>    printf("a=%hi %hd %hu %ho %hx %hX\n", a, a, a, a, a, a);</a:t>
            </a:r>
          </a:p>
          <a:p>
            <a:r>
              <a:rPr lang="pt-BR" altLang="zh-CN" sz="1200" b="1" dirty="0">
                <a:latin typeface="+mn-ea"/>
              </a:rPr>
              <a:t>    printf("a=%i %d %u %o %x %X\n", a, a, a, a, a, a);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("a=%li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a, a, a, a, a, a);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unsigned short b = 40000;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b, b, b, b, b, b);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 %d %u %o %x %X\n", b, b, b, b, b, b);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b, b, b, b, b, b);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c = 70000;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("c=%hi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c, c, c, c, c, c);</a:t>
            </a:r>
          </a:p>
          <a:p>
            <a:r>
              <a:rPr lang="pt-BR" altLang="zh-CN" sz="1200" b="1" dirty="0">
                <a:latin typeface="+mn-ea"/>
              </a:rPr>
              <a:t>    printf("c=%i %d %u %o %x %X\n", c, c, c, c, c, c);</a:t>
            </a:r>
          </a:p>
          <a:p>
            <a:r>
              <a:rPr lang="it-IT" altLang="zh-CN" sz="1200" b="1" dirty="0">
                <a:latin typeface="+mn-ea"/>
              </a:rPr>
              <a:t>    printf("c=%li %ld %lu %lo %lx %lX\n", c, c, c, c, c, c);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653454" y="1323972"/>
            <a:ext cx="51829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的格式控制符和附加格式控制符，给出解释：加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h</a:t>
            </a:r>
            <a:r>
              <a:rPr kumimoji="1" lang="zh-CN" altLang="en-US" sz="1600" b="1" dirty="0">
                <a:latin typeface="+mn-ea"/>
              </a:rPr>
              <a:t>表示长整型或短整型，不加</a:t>
            </a:r>
            <a:r>
              <a:rPr kumimoji="1" lang="zh-CN" altLang="en-CN" sz="1600" b="1" dirty="0">
                <a:latin typeface="+mn-ea"/>
              </a:rPr>
              <a:t>仅表示整形</a:t>
            </a:r>
            <a:r>
              <a:rPr kumimoji="1" lang="zh-CN" altLang="en-US" sz="1600" b="1" dirty="0">
                <a:latin typeface="+mn-ea"/>
              </a:rPr>
              <a:t>，后面的字母可表示用什么进制输出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表示输出长整型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h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表示输出短整型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在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方式中，如果要输出的数据类型与格式控制符的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类型不一致，则以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CN" sz="1600" b="1" dirty="0">
                <a:latin typeface="+mn-ea"/>
              </a:rPr>
              <a:t>格式控制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数据类型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格式控制符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为准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提醒：先看清楚，是字母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l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还是数字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</a:p>
        </p:txBody>
      </p:sp>
      <p:pic>
        <p:nvPicPr>
          <p:cNvPr id="4" name="Picture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C3C2D04-932B-BA87-0932-C05BED60D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947" y="1323971"/>
            <a:ext cx="3282945" cy="154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94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ld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("a=%10ld*\n",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("a=%-10ld*\n\n",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-a);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("a=%-10d*\n", -a);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("a=%10hd*\n",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("a=%-10hd*\n\n",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long int_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%10ld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long int_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，右对齐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%-10ld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long int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，左对齐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%d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__int_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__int__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，右对齐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__int__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，左对齐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hd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_short__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%10hd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_short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，右对齐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%-10hd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_short_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，左对齐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如果输出负数且指定宽度，负号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总宽度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FDFF74B2-9577-FCE5-D4DC-7CEB418B5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654" y="1323971"/>
            <a:ext cx="14986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4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 = 123.456f;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0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小数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zh-CN" altLang="en-US" sz="1600" b="1" u="sng" dirty="0">
                <a:latin typeface="+mn-ea"/>
              </a:rPr>
              <a:t>指数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zh-CN" altLang="en-US" sz="1600" b="1" u="sng" dirty="0">
                <a:latin typeface="+mn-ea"/>
              </a:rPr>
              <a:t>指数</a:t>
            </a:r>
            <a:r>
              <a:rPr kumimoji="1" lang="zh-CN" altLang="en-US" sz="1600" b="1" dirty="0">
                <a:latin typeface="+mn-ea"/>
              </a:rPr>
              <a:t>形式输出，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的区别是</a:t>
            </a:r>
            <a:r>
              <a:rPr kumimoji="1" lang="en-US" altLang="zh-CN" sz="1600" b="1" dirty="0">
                <a:latin typeface="+mn-ea"/>
              </a:rPr>
              <a:t>__%e</a:t>
            </a:r>
            <a:r>
              <a:rPr kumimoji="1" lang="zh-CN" altLang="en-US" sz="1600" b="1" dirty="0">
                <a:latin typeface="+mn-ea"/>
              </a:rPr>
              <a:t>输出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小写，</a:t>
            </a: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输出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大写</a:t>
            </a:r>
            <a:r>
              <a:rPr kumimoji="1" lang="en-US" altLang="zh-CN" sz="1600" b="1" dirty="0">
                <a:latin typeface="+mn-ea"/>
              </a:rPr>
              <a:t>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：输出形式为</a:t>
            </a:r>
            <a:r>
              <a:rPr kumimoji="1" lang="zh-CN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从</a:t>
            </a:r>
            <a:r>
              <a:rPr kumimoji="1" lang="en-US" altLang="zh-CN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f</a:t>
            </a:r>
            <a:r>
              <a:rPr kumimoji="1" lang="zh-CN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，</a:t>
            </a:r>
            <a:r>
              <a:rPr kumimoji="1" lang="en-US" altLang="zh-CN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e</a:t>
            </a:r>
            <a:r>
              <a:rPr kumimoji="1" lang="zh-CN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中选择宽度较短的形式输出</a:t>
            </a:r>
            <a:endParaRPr kumimoji="1" lang="en-US" altLang="zh-CN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仔细观察并叙述清楚，如果觉得左例还不足以理解，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可以自己再构造测试数据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：输出形式的差别为</a:t>
            </a:r>
            <a:r>
              <a:rPr kumimoji="1" lang="en-US" altLang="zh-CN" sz="1600" b="1" u="sng" dirty="0">
                <a:latin typeface="+mn-ea"/>
              </a:rPr>
              <a:t>%g</a:t>
            </a:r>
            <a:r>
              <a:rPr kumimoji="1" lang="zh-CN" altLang="en-US" sz="1600" b="1" u="sng" dirty="0">
                <a:latin typeface="+mn-ea"/>
              </a:rPr>
              <a:t>输出</a:t>
            </a:r>
            <a:r>
              <a:rPr kumimoji="1" lang="en-US" altLang="zh-CN" sz="1600" b="1" u="sng" dirty="0">
                <a:latin typeface="+mn-ea"/>
              </a:rPr>
              <a:t>e</a:t>
            </a:r>
            <a:r>
              <a:rPr kumimoji="1" lang="zh-CN" altLang="en-US" sz="1600" b="1" u="sng" dirty="0">
                <a:latin typeface="+mn-ea"/>
              </a:rPr>
              <a:t>小写，</a:t>
            </a:r>
            <a:r>
              <a:rPr kumimoji="1" lang="en-US" altLang="zh-CN" sz="1600" b="1" u="sng" dirty="0">
                <a:latin typeface="+mn-ea"/>
              </a:rPr>
              <a:t>%G</a:t>
            </a:r>
            <a:r>
              <a:rPr kumimoji="1" lang="zh-CN" altLang="en-US" sz="1600" b="1" u="sng" dirty="0">
                <a:latin typeface="+mn-ea"/>
              </a:rPr>
              <a:t>输出</a:t>
            </a:r>
            <a:r>
              <a:rPr kumimoji="1" lang="en-US" altLang="zh-CN" sz="1600" b="1" u="sng" dirty="0">
                <a:latin typeface="+mn-ea"/>
              </a:rPr>
              <a:t>e</a:t>
            </a:r>
            <a:r>
              <a:rPr kumimoji="1" lang="zh-CN" altLang="en-US" sz="1600" b="1" u="sng" dirty="0">
                <a:latin typeface="+mn-ea"/>
              </a:rPr>
              <a:t>大写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84548-0D06-F1CD-1907-BCC7E3FB5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366" y="1396365"/>
            <a:ext cx="19685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4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double f = 123.456;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数据：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、格式符</a:t>
            </a: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zh-CN" altLang="en-US" sz="1600" b="1" dirty="0">
                <a:latin typeface="+mn-ea"/>
              </a:rPr>
              <a:t>是否有区别？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答：没有区别，均以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、如何证明你给出的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的结论？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提示：三组数据的哪组能证明？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答：第二组</a:t>
            </a:r>
            <a:r>
              <a:rPr kumimoji="1" lang="zh-CN" altLang="en-CN" sz="1600" b="1" dirty="0">
                <a:latin typeface="+mn-ea"/>
              </a:rPr>
              <a:t>有效位数</a:t>
            </a:r>
            <a:r>
              <a:rPr kumimoji="1" lang="zh-CN" altLang="en-US" sz="1600" b="1" dirty="0">
                <a:latin typeface="+mn-ea"/>
              </a:rPr>
              <a:t>超过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有效位数，若</a:t>
            </a: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以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输出，则无法得到正确结果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5BFB46-AED5-0A6E-F228-792B2B8DA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725" y="1669803"/>
            <a:ext cx="19812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26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#include &lt;</a:t>
            </a:r>
            <a:r>
              <a:rPr kumimoji="1" lang="en-US" altLang="zh-CN" sz="1200" b="1" dirty="0" err="1">
                <a:latin typeface="+mn-ea"/>
              </a:rPr>
              <a:t>stdio.h</a:t>
            </a:r>
            <a:r>
              <a:rPr kumimoji="1" lang="en-US" altLang="zh-CN" sz="1200" b="1" dirty="0"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double f = 123456.789;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("f=%-10.2f*\n\n",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("f=%-10.2e*\n\n",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("f=%10.2g*\n", -f);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("f=%-10.2g*\n", -f);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运行结果：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参考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zh-CN" altLang="en-US" sz="1200" b="1" dirty="0">
                <a:latin typeface="+mn-ea"/>
              </a:rPr>
              <a:t>的格式控制符和附加格式控制符，给出解释：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%10.2f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小数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____10___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右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%-10.2f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小数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___10____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左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%10.2e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指数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___10_____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右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%-10.2e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指数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___10____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左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ea"/>
              </a:rPr>
              <a:t>对</a:t>
            </a:r>
            <a:r>
              <a:rPr lang="en-US" altLang="zh-CN" sz="1200" b="1" dirty="0">
                <a:latin typeface="+mn-ea"/>
              </a:rPr>
              <a:t>%f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%e</a:t>
            </a:r>
            <a:r>
              <a:rPr lang="zh-CN" altLang="en-US" sz="1200" b="1" dirty="0">
                <a:latin typeface="+mn-ea"/>
              </a:rPr>
              <a:t>而言，指定的总宽度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_(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不包含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zh-CN" altLang="en-US" sz="1200" b="1" dirty="0">
                <a:latin typeface="+mn-ea"/>
              </a:rPr>
              <a:t>小数点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%g</a:t>
            </a:r>
            <a:r>
              <a:rPr kumimoji="1" lang="zh-CN" altLang="en-US" sz="1200" b="1" dirty="0">
                <a:latin typeface="+mn-ea"/>
              </a:rPr>
              <a:t>而言，</a:t>
            </a:r>
            <a:r>
              <a:rPr kumimoji="1" lang="en-US" altLang="zh-CN" sz="1200" b="1" dirty="0">
                <a:latin typeface="+mn-ea"/>
              </a:rPr>
              <a:t>%</a:t>
            </a:r>
            <a:r>
              <a:rPr kumimoji="1" lang="en-US" altLang="zh-CN" sz="1200" b="1" dirty="0" err="1">
                <a:latin typeface="+mn-ea"/>
              </a:rPr>
              <a:t>m.n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代表的位数是指</a:t>
            </a:r>
            <a:r>
              <a:rPr kumimoji="1" lang="en-US" altLang="zh-CN" sz="1200" b="1" dirty="0">
                <a:latin typeface="+mn-ea"/>
              </a:rPr>
              <a:t>______</a:t>
            </a:r>
            <a:r>
              <a:rPr kumimoji="1" lang="zh-CN" altLang="en-US" sz="1200" b="1" dirty="0">
                <a:latin typeface="+mn-ea"/>
              </a:rPr>
              <a:t>有效数字位数</a:t>
            </a:r>
            <a:r>
              <a:rPr kumimoji="1" lang="en-US" altLang="zh-CN" sz="1200" b="1" dirty="0">
                <a:latin typeface="+mn-ea"/>
              </a:rPr>
              <a:t>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如果输出负数且指定宽度，负号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不占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总宽度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BBDE63-AE61-E07A-2F97-7CF6D5B5A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485" y="1941509"/>
            <a:ext cx="16510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1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float f = 123456789.123;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("f=%10.2f*\n",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("f=%-10.2f*\n",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("f=%.2f*\n\n", f);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12345678901234567.6789;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("d=%10.2f*\n",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("d=%-10.2f*\n",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("d=%.2f*\n\n", d);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给出下面两个概念的结论：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、在数据的有效位数超过精度时，则输出：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精度范围内输出四舍五入后的有效位数数字，精度范围外输出不可信数。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、如果指定的总宽度小于有效位数的宽度，则输出：左对齐的全部有效位数。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C30A041-105B-84DE-E063-9521CF6F1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316" y="1451708"/>
            <a:ext cx="2389746" cy="187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49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</a:t>
            </a:r>
            <a:r>
              <a:rPr kumimoji="1" lang="en-US" altLang="zh-CN" sz="1600" b="1" dirty="0" err="1">
                <a:latin typeface="+mn-ea"/>
              </a:rPr>
              <a:t>stdio.h</a:t>
            </a:r>
            <a:r>
              <a:rPr kumimoji="1" lang="en-US" altLang="zh-CN" sz="1600" b="1" dirty="0"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#define str "</a:t>
            </a:r>
            <a:r>
              <a:rPr kumimoji="1" lang="en-US" altLang="zh-CN" sz="1600" b="1" dirty="0" err="1">
                <a:latin typeface="+mn-ea"/>
              </a:rPr>
              <a:t>abcdefghijklmnopqrstuvwxyz</a:t>
            </a:r>
            <a:r>
              <a:rPr kumimoji="1" lang="en-US" altLang="zh-CN" sz="1600" b="1" dirty="0">
                <a:latin typeface="+mn-ea"/>
              </a:rPr>
              <a:t>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("str=%30s*\n",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("str=%-30s*\n",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("str=%10.5s*\n",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("str=%-10.5s*\n",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%s  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类型的数据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%30s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_30_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%-30s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__30__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如果指定的总宽度小于字符串的长度，则：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输出全部字符串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</a:t>
            </a:r>
            <a:r>
              <a:rPr kumimoji="1" lang="en-US" altLang="zh-CN" sz="1600" b="1" dirty="0">
                <a:latin typeface="+mn-ea"/>
              </a:rPr>
              <a:t>%s</a:t>
            </a:r>
            <a:r>
              <a:rPr kumimoji="1" lang="zh-CN" altLang="en-US" sz="1600" b="1" dirty="0">
                <a:latin typeface="+mn-ea"/>
              </a:rPr>
              <a:t>而言，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m.n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n</a:t>
            </a:r>
            <a:r>
              <a:rPr kumimoji="1" lang="zh-CN" altLang="en-US" sz="1600" b="1" dirty="0">
                <a:latin typeface="+mn-ea"/>
              </a:rPr>
              <a:t>代表的位数是指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输出字符串的位数</a:t>
            </a:r>
            <a:r>
              <a:rPr kumimoji="1" lang="en-US" altLang="zh-CN" sz="1600" b="1" dirty="0">
                <a:latin typeface="+mn-ea"/>
              </a:rPr>
              <a:t>___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A2EDEF-2BCB-165C-DC85-B46DF61F4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977" y="1323971"/>
            <a:ext cx="2320192" cy="148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71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#include &lt;stdio.h&gt;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#define str "Student"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int a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printf("a=%o\n",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printf("a=%x\n",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printf("ch=%c\n",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printf("s=%s\n\n",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printf("a=0%o\n",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printf("a=0x%x\n",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printf("ch=\'%c\'\n",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printf("s=\"%s\"\n\n",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double d = 0.783;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</a:t>
            </a:r>
            <a:r>
              <a:rPr kumimoji="1" lang="zh-CN" altLang="pt-BR" sz="1600" b="1" dirty="0">
                <a:latin typeface="+mn-ea"/>
              </a:rPr>
              <a:t>百分比</a:t>
            </a:r>
            <a:r>
              <a:rPr kumimoji="1" lang="pt-BR" altLang="zh-CN" sz="1600" b="1" dirty="0">
                <a:latin typeface="+mn-ea"/>
              </a:rPr>
              <a:t>=%.2f%%\n", d * 100);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、对比第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组和第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组输出，得出的结论是：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    格式控制符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附加格式控制符，只负责给出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变量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的输出，若需要前导字符、单双引号等，需要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自主添加</a:t>
            </a:r>
            <a:r>
              <a:rPr lang="en-US" altLang="zh-CN" sz="1600" b="1" dirty="0">
                <a:latin typeface="+mn-ea"/>
              </a:rPr>
              <a:t>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、输出字符</a:t>
            </a:r>
            <a:r>
              <a:rPr kumimoji="1" lang="en-US" altLang="zh-CN" sz="1600" b="1" dirty="0">
                <a:latin typeface="+mn-ea"/>
              </a:rPr>
              <a:t>‘%’</a:t>
            </a:r>
            <a:r>
              <a:rPr kumimoji="1" lang="zh-CN" altLang="en-US" sz="1600" b="1" dirty="0">
                <a:latin typeface="+mn-ea"/>
              </a:rPr>
              <a:t>的方法是：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连续放两个</a:t>
            </a:r>
            <a:r>
              <a:rPr kumimoji="1" lang="en-US" altLang="zh-CN" sz="1600" b="1" dirty="0">
                <a:latin typeface="+mn-ea"/>
              </a:rPr>
              <a:t>%___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B630EDB-2D52-90DD-0A8D-6556D8D1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727" y="1323971"/>
            <a:ext cx="1561916" cy="24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16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格式控制表列，地址表列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</a:t>
            </a:r>
            <a:r>
              <a:rPr lang="zh-CN" altLang="en-US" sz="1600" b="1">
                <a:latin typeface="+mn-ea"/>
              </a:rPr>
              <a:t>格式控制表列的</a:t>
            </a:r>
            <a:r>
              <a:rPr lang="zh-CN" altLang="en-US" sz="1600" b="1" dirty="0">
                <a:latin typeface="+mn-ea"/>
              </a:rPr>
              <a:t>内容：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格式字符，表示按格式输入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地址表列：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表示取地址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变量名：取该变量的内存地址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★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不能跟表达式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理由与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等相同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常用的格式符种类：</a:t>
            </a:r>
          </a:p>
        </p:txBody>
      </p:sp>
      <p:graphicFrame>
        <p:nvGraphicFramePr>
          <p:cNvPr id="6" name="Group 40">
            <a:extLst>
              <a:ext uri="{FF2B5EF4-FFF2-40B4-BE49-F238E27FC236}">
                <a16:creationId xmlns:a16="http://schemas.microsoft.com/office/drawing/2014/main" id="{998B7E31-38FF-44BF-91F3-EFFD7A706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182130"/>
              </p:ext>
            </p:extLst>
          </p:nvPr>
        </p:nvGraphicFramePr>
        <p:xfrm>
          <a:off x="821879" y="3938435"/>
          <a:ext cx="4991472" cy="268224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5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输入带符号的十进制形式整数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输入八进制无符号形式整数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x,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输入十六进制无符号形式整数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输入十进制无符号形式整数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输入单个字符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输入小数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指数形式的浮点数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e,E,g,G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ED3010C0-1634-4294-B99E-70A93C1AA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099583"/>
              </p:ext>
            </p:extLst>
          </p:nvPr>
        </p:nvGraphicFramePr>
        <p:xfrm>
          <a:off x="6096000" y="4988893"/>
          <a:ext cx="3960440" cy="1633736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l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输入长整型数，用于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double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f,e,g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  h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输入短整型数，用于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指定输入数据所占的宽度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  *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本输入项不赋给相应的变量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FDA51A5-C6A0-40F4-B38B-69CBDDB70A83}"/>
              </a:ext>
            </a:extLst>
          </p:cNvPr>
          <p:cNvSpPr/>
          <p:nvPr/>
        </p:nvSpPr>
        <p:spPr bwMode="auto">
          <a:xfrm>
            <a:off x="821879" y="3574531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19727-16CB-4D35-B28F-88D5119FEA89}"/>
              </a:ext>
            </a:extLst>
          </p:cNvPr>
          <p:cNvSpPr/>
          <p:nvPr/>
        </p:nvSpPr>
        <p:spPr bwMode="auto">
          <a:xfrm>
            <a:off x="6096000" y="4618457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D9655E-1A30-4440-B075-E877ECC3AE71}"/>
              </a:ext>
            </a:extLst>
          </p:cNvPr>
          <p:cNvSpPr/>
          <p:nvPr/>
        </p:nvSpPr>
        <p:spPr bwMode="auto">
          <a:xfrm>
            <a:off x="6096000" y="1195488"/>
            <a:ext cx="5915914" cy="3319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特别说明：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    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系列认为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函数是不安全的输入，因此缺省禁止使用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编译报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error)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，如果想继续使用，必须在源程序一开始加定义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FF00"/>
                </a:highlight>
                <a:latin typeface="宋体"/>
                <a:ea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为了和其它编译器兼容，以及方便后续课程的学习，我们仍然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会继续使用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scanf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另：加 </a:t>
            </a:r>
            <a:r>
              <a:rPr kumimoji="1" lang="en-US" altLang="zh-CN" sz="1600" b="1" dirty="0">
                <a:solidFill>
                  <a:srgbClr val="FF00FF"/>
                </a:solidFill>
                <a:latin typeface="宋体"/>
                <a:ea typeface="宋体"/>
              </a:rPr>
              <a:t>_CRT_SECURE_NO_WARNINGS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的程序在其它编译器中可</a:t>
            </a: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FF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正常使用</a:t>
            </a: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注：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VS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系列中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C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语言用于安全输入的函数是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，使用方法</a:t>
            </a: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同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，考虑到兼容性，不建议大家使用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，有兴</a:t>
            </a: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趣可以自行查阅有关资料</a:t>
            </a:r>
            <a:endParaRPr kumimoji="1" lang="zh-CN" altLang="en-US" sz="16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1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(↙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表示回车键，下同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结论：用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输入时，如果地址表列中直接跟变量名，则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(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正确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，其中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报错且无输出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无输出</a:t>
            </a:r>
            <a:r>
              <a:rPr kumimoji="1" lang="en-US" altLang="zh-CN" sz="1200" b="1" dirty="0">
                <a:latin typeface="+mn-ea"/>
              </a:rPr>
              <a:t>____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5BF969-D3AB-56BD-D8A6-EB2C07400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681" y="4059854"/>
            <a:ext cx="3817743" cy="799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24B648-8B6D-42A6-23DF-31CFF0FCC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681" y="5534027"/>
            <a:ext cx="1041400" cy="838200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7472E6E-4F6C-2DD6-D6E7-F40EF8F79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108" y="3983662"/>
            <a:ext cx="1860800" cy="1189470"/>
          </a:xfrm>
          <a:prstGeom prst="rect">
            <a:avLst/>
          </a:prstGeom>
        </p:spPr>
      </p:pic>
      <p:pic>
        <p:nvPicPr>
          <p:cNvPr id="12" name="Picture 11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5009CDB1-A8EB-10E6-41C8-58E0220E11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738" y="3983661"/>
            <a:ext cx="952500" cy="787400"/>
          </a:xfrm>
          <a:prstGeom prst="rect">
            <a:avLst/>
          </a:prstGeom>
        </p:spPr>
      </p:pic>
      <p:pic>
        <p:nvPicPr>
          <p:cNvPr id="14" name="Picture 13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2B2E70C5-6242-A74B-4108-22953D821A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924" y="5191127"/>
            <a:ext cx="7874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90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r>
              <a:rPr kumimoji="1" lang="en-US" altLang="zh-CN" sz="1600" b="1" dirty="0">
                <a:latin typeface="+mn-ea"/>
              </a:rPr>
              <a:t>a=10,b=15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r>
              <a:rPr kumimoji="1" lang="en-US" altLang="zh-CN" sz="1600" b="1" dirty="0">
                <a:latin typeface="+mn-ea"/>
              </a:rPr>
              <a:t>a=10,b=15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4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//%d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r>
              <a:rPr kumimoji="1" lang="en-US" altLang="zh-CN" sz="1600" b="1" dirty="0">
                <a:latin typeface="+mn-ea"/>
              </a:rPr>
              <a:t>a=10,b=15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r>
              <a:rPr kumimoji="1" lang="en-US" altLang="zh-CN" sz="1600" b="1" dirty="0">
                <a:latin typeface="+mn-ea"/>
              </a:rPr>
              <a:t>a=10,b=15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结论：多个输入时，格式控制符间是否有空格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不影响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影响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不影响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正确性</a:t>
            </a:r>
          </a:p>
        </p:txBody>
      </p:sp>
      <p:pic>
        <p:nvPicPr>
          <p:cNvPr id="9" name="Picture 8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2DC61C9F-97E9-B1E7-4F7D-38B9D3B9E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331" y="4045550"/>
            <a:ext cx="1244600" cy="7874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C9CF64-7922-F727-2C62-D22F747C9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631" y="5258905"/>
            <a:ext cx="1257300" cy="11176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05D22E-B64E-A44E-9235-0E037F481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471" y="3988400"/>
            <a:ext cx="1460500" cy="901700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2C7835-F23F-ED0C-5E19-9E70A5999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121" y="4890100"/>
            <a:ext cx="12192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89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a=0, b=0;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&amp;a, &amp;b);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地址表列多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5"/>
            <a:ext cx="5122140" cy="25504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r>
              <a:rPr kumimoji="1" lang="en-US" altLang="zh-CN" sz="1600" b="1" dirty="0">
                <a:latin typeface="+mn-ea"/>
              </a:rPr>
              <a:t>a=10, b=0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r>
              <a:rPr kumimoji="1" lang="en-US" altLang="zh-CN" sz="1600" b="1" dirty="0">
                <a:latin typeface="+mn-ea"/>
              </a:rPr>
              <a:t>a=10, b=0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结论：当地址表列的个数多于格式控制符时，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按</a:t>
            </a:r>
            <a:r>
              <a:rPr kumimoji="1" lang="zh-CN" altLang="en-CN" sz="1600" b="1" dirty="0">
                <a:latin typeface="+mn-ea"/>
              </a:rPr>
              <a:t>控制符数量</a:t>
            </a:r>
            <a:r>
              <a:rPr kumimoji="1" lang="zh-CN" altLang="en-US" sz="1600" b="1" dirty="0">
                <a:latin typeface="+mn-ea"/>
              </a:rPr>
              <a:t>读取</a:t>
            </a:r>
            <a:r>
              <a:rPr kumimoji="1" lang="en-US" altLang="zh-CN" sz="1600" b="1" dirty="0">
                <a:latin typeface="+mn-ea"/>
              </a:rPr>
              <a:t>___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71"/>
            <a:ext cx="5122140" cy="26596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格式符多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71"/>
            <a:ext cx="2572496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44C284-3614-4037-9019-1818F6AE907B}"/>
              </a:ext>
            </a:extLst>
          </p:cNvPr>
          <p:cNvSpPr/>
          <p:nvPr/>
        </p:nvSpPr>
        <p:spPr bwMode="auto">
          <a:xfrm>
            <a:off x="8286750" y="3983669"/>
            <a:ext cx="2549644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r>
              <a:rPr kumimoji="1" lang="en-US" altLang="zh-CN" sz="1200" b="1" dirty="0">
                <a:latin typeface="+mn-ea"/>
              </a:rPr>
              <a:t>a=10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r>
              <a:rPr kumimoji="1" lang="en-US" altLang="zh-CN" sz="1200" b="1" dirty="0">
                <a:latin typeface="+mn-ea"/>
              </a:rPr>
              <a:t>a=10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55D18E-025F-4069-B6FC-7888B6149CF9}"/>
              </a:ext>
            </a:extLst>
          </p:cNvPr>
          <p:cNvSpPr/>
          <p:nvPr/>
        </p:nvSpPr>
        <p:spPr bwMode="auto">
          <a:xfrm>
            <a:off x="5714254" y="5638799"/>
            <a:ext cx="5122140" cy="8953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结论：当格式控制符的个数多个地址表列时</a:t>
            </a:r>
            <a:r>
              <a:rPr kumimoji="1" lang="en-US" altLang="zh-CN" sz="1200" b="1" dirty="0">
                <a:latin typeface="+mn-ea"/>
              </a:rPr>
              <a:t>__VS</a:t>
            </a:r>
            <a:r>
              <a:rPr kumimoji="1" lang="zh-CN" altLang="en-US" sz="1200" b="1" dirty="0">
                <a:latin typeface="+mn-ea"/>
              </a:rPr>
              <a:t>检测到错误无法输入，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取</a:t>
            </a:r>
            <a:r>
              <a:rPr kumimoji="1" lang="zh-CN" altLang="en-CN" sz="1200" b="1" dirty="0">
                <a:latin typeface="+mn-ea"/>
              </a:rPr>
              <a:t>先输入的数据输入</a:t>
            </a:r>
            <a:r>
              <a:rPr kumimoji="1" lang="en-US" altLang="zh-CN" sz="1200" b="1" dirty="0">
                <a:latin typeface="+mn-ea"/>
              </a:rPr>
              <a:t>___</a:t>
            </a:r>
          </a:p>
        </p:txBody>
      </p:sp>
      <p:pic>
        <p:nvPicPr>
          <p:cNvPr id="4" name="Picture 3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95A42876-9C5C-C9A8-575A-051EA6196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006" y="3719634"/>
            <a:ext cx="1270000" cy="8255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EDFF49-0503-E123-E8D5-1C4C496EB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452" y="4556895"/>
            <a:ext cx="1193800" cy="8763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429E34-877C-323B-2FFE-C9914C5A0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490" y="3983665"/>
            <a:ext cx="673100" cy="685800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7DE9A3-F08E-05F1-D04D-0BA0F39227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478" y="4748863"/>
            <a:ext cx="742272" cy="792426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95118E-CEAE-D4F7-0096-A86C297C86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511" y="3919455"/>
            <a:ext cx="736600" cy="800100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CD81A8-1F80-2141-CFD0-97790F4752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911" y="4748863"/>
            <a:ext cx="8382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80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ret=%d\n", a,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 ret=%d\n", a, b,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结论：在输入正确时，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的返回值是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正确输入数据的个数</a:t>
            </a:r>
            <a:r>
              <a:rPr kumimoji="1" lang="en-US" altLang="zh-CN" sz="1600" b="1" dirty="0">
                <a:latin typeface="+mn-ea"/>
              </a:rPr>
              <a:t>_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546C88-89F4-C22D-7891-187D1D0C5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70" y="4369905"/>
            <a:ext cx="1257300" cy="889000"/>
          </a:xfrm>
          <a:prstGeom prst="rect">
            <a:avLst/>
          </a:prstGeom>
        </p:spPr>
      </p:pic>
      <p:pic>
        <p:nvPicPr>
          <p:cNvPr id="9" name="Picture 8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B739BECE-E391-00B2-638B-221C3135F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010" y="4455258"/>
            <a:ext cx="19685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01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6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10,15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=%d", &amp;a, &amp;b);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10,15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a=10,b=15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结论：当格式控制符中有其它字符（逗号，</a:t>
            </a:r>
            <a:r>
              <a:rPr kumimoji="1" lang="en-US" altLang="zh-CN" sz="1200" b="1" dirty="0">
                <a:latin typeface="+mn-ea"/>
              </a:rPr>
              <a:t>a=</a:t>
            </a:r>
            <a:r>
              <a:rPr kumimoji="1" lang="zh-CN" altLang="en-US" sz="1200" b="1" dirty="0">
                <a:latin typeface="+mn-ea"/>
              </a:rPr>
              <a:t>等）时，对这些字符的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输入方法是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输入时按位置输入其他字符</a:t>
            </a:r>
            <a:r>
              <a:rPr kumimoji="1" lang="en-US" altLang="zh-CN" sz="1200" b="1" dirty="0">
                <a:latin typeface="+mn-ea"/>
              </a:rPr>
              <a:t>_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879883-7174-65E0-20CE-E9D5639F8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112" y="3983665"/>
            <a:ext cx="1981200" cy="9652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0F01BB-E713-3E8F-81CE-95FD2DD5D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376" y="5240208"/>
            <a:ext cx="1244600" cy="8509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EF2EBC-8027-CBAE-6751-BB6693019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794" y="3749602"/>
            <a:ext cx="1669656" cy="577358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E1EB7C-7069-7428-BA85-EBFC1C75E2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07" y="4466265"/>
            <a:ext cx="1699743" cy="531170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E94AF8-9A23-6558-5DDE-BBFB5B861A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794" y="5048233"/>
            <a:ext cx="1027360" cy="80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41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3446485" cy="31146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("%d",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0589" y="4438649"/>
            <a:ext cx="3446485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7480508" y="1323965"/>
            <a:ext cx="3520867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7486249" y="4438641"/>
            <a:ext cx="3512075" cy="12090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70000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0F3F63-DACA-4A70-834E-261EE777A3A4}"/>
              </a:ext>
            </a:extLst>
          </p:cNvPr>
          <p:cNvSpPr/>
          <p:nvPr/>
        </p:nvSpPr>
        <p:spPr bwMode="auto">
          <a:xfrm>
            <a:off x="4038600" y="1323969"/>
            <a:ext cx="3441908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("c=%d\n",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300598-E1EC-48F0-8F31-63C5AEA2936F}"/>
              </a:ext>
            </a:extLst>
          </p:cNvPr>
          <p:cNvSpPr/>
          <p:nvPr/>
        </p:nvSpPr>
        <p:spPr bwMode="auto">
          <a:xfrm>
            <a:off x="4037074" y="4438645"/>
            <a:ext cx="3443434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BC8F18-2F36-419F-9503-80B433A8719D}"/>
              </a:ext>
            </a:extLst>
          </p:cNvPr>
          <p:cNvSpPr/>
          <p:nvPr/>
        </p:nvSpPr>
        <p:spPr bwMode="auto">
          <a:xfrm>
            <a:off x="590589" y="5647691"/>
            <a:ext cx="10407735" cy="886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、附加格式控制符</a:t>
            </a:r>
            <a:r>
              <a:rPr kumimoji="1" lang="en-US" altLang="zh-CN" sz="1200" b="1" dirty="0">
                <a:latin typeface="+mn-ea"/>
              </a:rPr>
              <a:t>h</a:t>
            </a:r>
            <a:r>
              <a:rPr kumimoji="1" lang="zh-CN" altLang="en-US" sz="1200" b="1" dirty="0">
                <a:latin typeface="+mn-ea"/>
              </a:rPr>
              <a:t>的作用是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表示短整型输入</a:t>
            </a:r>
            <a:r>
              <a:rPr kumimoji="1" lang="en-US" altLang="zh-CN" sz="12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200" b="1" dirty="0">
                <a:latin typeface="+mn-ea"/>
              </a:rPr>
              <a:t>4/2</a:t>
            </a:r>
            <a:r>
              <a:rPr kumimoji="1" lang="zh-CN" altLang="en-US" sz="1200" b="1" dirty="0">
                <a:latin typeface="+mn-ea"/>
              </a:rPr>
              <a:t>字节），则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得到不可信值</a:t>
            </a:r>
            <a:r>
              <a:rPr kumimoji="1" lang="en-US" altLang="zh-CN" sz="12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、记住这个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，相关错误的原理性分析，第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章完成后会明白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14C741-9088-D429-86AC-3E9A81917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39" y="4771386"/>
            <a:ext cx="520700" cy="876300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0B47D67-49C4-8A3F-9F29-29349EBC7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395" y="4438641"/>
            <a:ext cx="1712388" cy="1247295"/>
          </a:xfrm>
          <a:prstGeom prst="rect">
            <a:avLst/>
          </a:prstGeom>
        </p:spPr>
      </p:pic>
      <p:pic>
        <p:nvPicPr>
          <p:cNvPr id="16" name="Picture 15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4F92F7F3-43CB-102C-D298-97704D065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00" y="4779774"/>
            <a:ext cx="1422400" cy="83820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C4C73F-3D8D-BC17-F4BF-7B447B1C51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761" y="4000486"/>
            <a:ext cx="762000" cy="876300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005956-C91A-1EA1-FC73-0450510D02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61" y="4886661"/>
            <a:ext cx="7366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43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("%d %x %o", &amp;a, &amp;b,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("a=%d, b=%d, c=%d\n", a, b,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</p:txBody>
      </p:sp>
      <p:pic>
        <p:nvPicPr>
          <p:cNvPr id="4" name="Picture 3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09B52D1D-F0E8-11B0-7D4A-FC3ECE5D7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537" y="1582867"/>
            <a:ext cx="1689100" cy="825500"/>
          </a:xfrm>
          <a:prstGeom prst="rect">
            <a:avLst/>
          </a:prstGeom>
        </p:spPr>
      </p:pic>
      <p:pic>
        <p:nvPicPr>
          <p:cNvPr id="7" name="Picture 6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2DF9594D-65B2-1277-150D-DCBEDDD3E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637" y="2444114"/>
            <a:ext cx="2006600" cy="838200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7E7D17F-6DA3-C763-9E93-B8CF74E42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037" y="3318061"/>
            <a:ext cx="1854200" cy="9144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A7049A-05E0-CA3B-7F3F-D6919D047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437" y="4402456"/>
            <a:ext cx="1905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30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%hx %ho", &amp;a, &amp;b,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, b=%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, 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a, b,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579A17-7402-5EF6-1B17-2DC21A17A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615" y="1323970"/>
            <a:ext cx="1790700" cy="876300"/>
          </a:xfrm>
          <a:prstGeom prst="rect">
            <a:avLst/>
          </a:prstGeom>
        </p:spPr>
      </p:pic>
      <p:pic>
        <p:nvPicPr>
          <p:cNvPr id="7" name="Picture 6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7E8145D5-8765-1C11-B627-468BEF36B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615" y="2310885"/>
            <a:ext cx="1879600" cy="901700"/>
          </a:xfrm>
          <a:prstGeom prst="rect">
            <a:avLst/>
          </a:prstGeom>
        </p:spPr>
      </p:pic>
      <p:pic>
        <p:nvPicPr>
          <p:cNvPr id="9" name="Picture 8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63C5C4C1-BC12-BD7D-D02C-CC9634ED6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615" y="3343145"/>
            <a:ext cx="1778000" cy="8128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5D3E43-0B8B-76C9-1A69-676E13572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615" y="4496618"/>
            <a:ext cx="19431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93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315277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 %*2d %3d",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4476749"/>
            <a:ext cx="5122140" cy="2057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*md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*m</a:t>
            </a:r>
            <a:r>
              <a:rPr kumimoji="1" lang="zh-CN" altLang="en-US" sz="1600" b="1" dirty="0">
                <a:latin typeface="+mn-ea"/>
              </a:rPr>
              <a:t>表示：跳过</a:t>
            </a:r>
            <a:r>
              <a:rPr kumimoji="1" lang="en-US" altLang="zh-CN" sz="1600" b="1" dirty="0">
                <a:latin typeface="+mn-ea"/>
              </a:rPr>
              <a:t>m</a:t>
            </a:r>
            <a:r>
              <a:rPr kumimoji="1" lang="zh-CN" altLang="en-US" sz="1600" b="1" dirty="0">
                <a:latin typeface="+mn-ea"/>
              </a:rPr>
              <a:t>个数位（读区内容不赋给变量）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5122140" cy="3152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4476750"/>
            <a:ext cx="5122140" cy="20478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%md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m</a:t>
            </a:r>
            <a:r>
              <a:rPr kumimoji="1" lang="zh-CN" altLang="en-US" sz="1600" b="1" dirty="0">
                <a:latin typeface="+mn-ea"/>
              </a:rPr>
              <a:t>表示：整数的位数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AC6311-85FF-346B-799A-43F8AC4EE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045" y="4564710"/>
            <a:ext cx="990600" cy="8890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24F12B-0107-F48B-AB13-71155B00D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07" y="4564710"/>
            <a:ext cx="12827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9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7514394" y="1323970"/>
            <a:ext cx="3537537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%3d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405325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AEFAD7-4E6A-40BB-8C6F-D16012EA5A30}"/>
              </a:ext>
            </a:extLst>
          </p:cNvPr>
          <p:cNvSpPr/>
          <p:nvPr/>
        </p:nvSpPr>
        <p:spPr bwMode="auto">
          <a:xfrm>
            <a:off x="4053254" y="1323969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%x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C01EBE-E02B-4308-936A-5E7671612492}"/>
              </a:ext>
            </a:extLst>
          </p:cNvPr>
          <p:cNvSpPr/>
          <p:nvPr/>
        </p:nvSpPr>
        <p:spPr bwMode="auto">
          <a:xfrm>
            <a:off x="7514394" y="3692769"/>
            <a:ext cx="3537537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3530A6-81DD-44C3-A9A3-E1D20B3C3295}"/>
              </a:ext>
            </a:extLst>
          </p:cNvPr>
          <p:cNvSpPr/>
          <p:nvPr/>
        </p:nvSpPr>
        <p:spPr bwMode="auto">
          <a:xfrm>
            <a:off x="590589" y="5723792"/>
            <a:ext cx="10461342" cy="8103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输入的终止条件是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 __</a:t>
            </a:r>
            <a:r>
              <a:rPr kumimoji="1" lang="zh-CN" altLang="en-US" sz="1600" b="1" dirty="0">
                <a:latin typeface="+mn-ea"/>
              </a:rPr>
              <a:t>非法输入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 _</a:t>
            </a:r>
            <a:r>
              <a:rPr kumimoji="1" lang="zh-CN" altLang="en-US" sz="1600" b="1" dirty="0">
                <a:latin typeface="+mn-ea"/>
              </a:rPr>
              <a:t>到指定宽度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共四项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effectLst/>
                <a:latin typeface="Helvetica" pitchFamily="2" charset="0"/>
              </a:rPr>
              <a:t>补充：如果遇到空格、非法输入、回车，即便未到达指定宽度，</a:t>
            </a:r>
            <a:r>
              <a:rPr lang="en-US" altLang="zh-CN" sz="1600" b="1" dirty="0" err="1">
                <a:latin typeface="Helvetica" pitchFamily="2" charset="0"/>
              </a:rPr>
              <a:t>scnaf</a:t>
            </a:r>
            <a:r>
              <a:rPr lang="zh-CN" altLang="en-US" sz="1600" b="1" dirty="0">
                <a:effectLst/>
                <a:latin typeface="Helvetica" pitchFamily="2" charset="0"/>
              </a:rPr>
              <a:t>也会终止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5E5C73-D7A0-5F8D-3B7A-199F65267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694" y="3429000"/>
            <a:ext cx="505058" cy="676587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3BEB62-36DB-8BFB-9A45-AA0311272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281" y="4122801"/>
            <a:ext cx="720780" cy="73138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529961-5BF5-0634-73AC-70DE9CBFF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232" y="4941056"/>
            <a:ext cx="498033" cy="638986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19A1CE-3EEF-FCC7-6A83-FA7D3119A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389" y="3334633"/>
            <a:ext cx="508000" cy="82550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24188C-3771-C35F-9055-713A51D90C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921" y="4122801"/>
            <a:ext cx="709544" cy="731376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8FA523-E8B1-72F5-6A1F-29AEE5089E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092" y="4850834"/>
            <a:ext cx="812800" cy="876300"/>
          </a:xfrm>
          <a:prstGeom prst="rect">
            <a:avLst/>
          </a:prstGeom>
        </p:spPr>
      </p:pic>
      <p:pic>
        <p:nvPicPr>
          <p:cNvPr id="22" name="Picture 21" descr="A screenshot of a phone&#10;&#10;AI-generated content may be incorrect.">
            <a:extLst>
              <a:ext uri="{FF2B5EF4-FFF2-40B4-BE49-F238E27FC236}">
                <a16:creationId xmlns:a16="http://schemas.microsoft.com/office/drawing/2014/main" id="{E7C59669-0BDE-D5AB-EC6B-EE16B121B4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529" y="3165231"/>
            <a:ext cx="495300" cy="838200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55C4F5-1CBB-207C-D1AA-BAC4AA3403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232" y="3949134"/>
            <a:ext cx="863117" cy="795861"/>
          </a:xfrm>
          <a:prstGeom prst="rect">
            <a:avLst/>
          </a:prstGeom>
        </p:spPr>
      </p:pic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D86223-29F5-EB95-D295-89AA7AC416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329" y="4757480"/>
            <a:ext cx="6477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36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23600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("%3d%*2d%3d", &amp;a, &amp;b);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</a:t>
            </a:r>
            <a:r>
              <a:rPr kumimoji="1" lang="en-US" altLang="zh-CN" sz="1600" b="1" dirty="0">
                <a:latin typeface="宋体"/>
              </a:rPr>
              <a:t> %d\n", a, 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683977"/>
            <a:ext cx="5122140" cy="24530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   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12345678↙ 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123456789↙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 45 678↙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  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5122140" cy="236000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("%3d%3d",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</a:t>
            </a:r>
            <a:r>
              <a:rPr kumimoji="1" lang="en-US" altLang="zh-CN" sz="1600" b="1" dirty="0">
                <a:latin typeface="+mn-ea"/>
              </a:rPr>
              <a:t> %d\n", a,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680314"/>
            <a:ext cx="5122140" cy="24567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</a:rPr>
              <a:t>12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↙ 345↙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12↙ 3456↙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  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123↙456↙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1234︺5678↙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 ，输出：</a:t>
            </a: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123456↙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</a:rPr>
              <a:t>1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2345678↙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注：特别关注第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项的结果，想想为什么？读到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后的空格终止了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CF29FC-145E-4F6B-97EC-4C0FF5963AAF}"/>
              </a:ext>
            </a:extLst>
          </p:cNvPr>
          <p:cNvSpPr/>
          <p:nvPr/>
        </p:nvSpPr>
        <p:spPr bwMode="auto">
          <a:xfrm>
            <a:off x="590589" y="6137030"/>
            <a:ext cx="10245806" cy="397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考查上题得出的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终止条件的结论是否完整，如果不完整，补充修改上题的结论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D4065E7A-44F5-E1B0-06FD-8AF258B31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946" y="3680311"/>
            <a:ext cx="586795" cy="88019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9C2780-0C7B-4940-E407-8E1C61FC4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497" y="3680311"/>
            <a:ext cx="783733" cy="880193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0528ED-E114-4DB0-09D1-1E3F72D75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051" y="3632847"/>
            <a:ext cx="850900" cy="81280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2329FF-7839-F854-0783-F5A6AA857D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543" y="4845392"/>
            <a:ext cx="808874" cy="688636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3F35E0-DE4F-1D3E-0C07-DBEC945986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273" y="4822579"/>
            <a:ext cx="793936" cy="711449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85C0D7-824B-5C4F-8C73-2C5B8BAE9A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480" y="4822579"/>
            <a:ext cx="813085" cy="711449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4652EB-D562-0924-4A7F-F0DA4D982D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629" y="3735107"/>
            <a:ext cx="774700" cy="812800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84D40D-3AA1-BD00-A49B-CA165D3DF0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045" y="3733057"/>
            <a:ext cx="850900" cy="774700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8041F3-73F3-B521-BFC3-CF64D3F25A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391" y="4708528"/>
            <a:ext cx="965395" cy="774700"/>
          </a:xfrm>
          <a:prstGeom prst="rect">
            <a:avLst/>
          </a:prstGeom>
        </p:spPr>
      </p:pic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7DD6C5-5DE7-A43E-39BC-0D001D4807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131" y="4670428"/>
            <a:ext cx="10287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15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L.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2625871" cy="26003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("%f",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F4F30C-D298-4A21-A8F4-1F55688BD0E4}"/>
              </a:ext>
            </a:extLst>
          </p:cNvPr>
          <p:cNvSpPr/>
          <p:nvPr/>
        </p:nvSpPr>
        <p:spPr bwMode="auto">
          <a:xfrm>
            <a:off x="3217985" y="1323970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C60FD-4E38-446D-8B20-64D47E7A1088}"/>
              </a:ext>
            </a:extLst>
          </p:cNvPr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20665F-34AD-4023-A7B6-BCD20FF3D7DC}"/>
              </a:ext>
            </a:extLst>
          </p:cNvPr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("%f",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8DD6E2-C64B-46E5-8260-360139BA35CB}"/>
              </a:ext>
            </a:extLst>
          </p:cNvPr>
          <p:cNvSpPr/>
          <p:nvPr/>
        </p:nvSpPr>
        <p:spPr bwMode="auto">
          <a:xfrm>
            <a:off x="590589" y="5161083"/>
            <a:ext cx="10505009" cy="13730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、附加格式控制符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标志读入的小数是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600" b="1" dirty="0">
                <a:latin typeface="+mn-ea"/>
              </a:rPr>
              <a:t>4/8</a:t>
            </a:r>
            <a:r>
              <a:rPr kumimoji="1" lang="zh-CN" altLang="en-US" sz="1600" b="1" dirty="0">
                <a:latin typeface="+mn-ea"/>
              </a:rPr>
              <a:t>字节），则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存储的数据异常</a:t>
            </a:r>
            <a:r>
              <a:rPr kumimoji="1" lang="en-US" altLang="zh-CN" sz="1600" b="1" dirty="0">
                <a:latin typeface="+mn-ea"/>
              </a:rPr>
              <a:t>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中，输出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型数据时，</a:t>
            </a:r>
            <a:r>
              <a:rPr kumimoji="1" lang="en-US" altLang="zh-CN" sz="1600" b="1" dirty="0">
                <a:latin typeface="+mn-ea"/>
              </a:rPr>
              <a:t>%f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en-US" altLang="zh-CN" sz="1600" b="1" dirty="0">
                <a:latin typeface="+mn-ea"/>
              </a:rPr>
              <a:t> 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差别；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中， 输入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型数据时，</a:t>
            </a:r>
            <a:r>
              <a:rPr kumimoji="1" lang="en-US" altLang="zh-CN" sz="1600" b="1" dirty="0">
                <a:latin typeface="+mn-ea"/>
              </a:rPr>
              <a:t>%f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en-US" altLang="zh-CN" sz="1600" b="1" dirty="0">
                <a:latin typeface="+mn-ea"/>
              </a:rPr>
              <a:t> 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差别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8D766-ADD5-475B-B9E5-51B40EFC171D}"/>
              </a:ext>
            </a:extLst>
          </p:cNvPr>
          <p:cNvSpPr/>
          <p:nvPr/>
        </p:nvSpPr>
        <p:spPr bwMode="auto">
          <a:xfrm>
            <a:off x="3217984" y="3924294"/>
            <a:ext cx="2625871" cy="1236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2B3BF6-88B9-4E83-BE3B-74341E329AF3}"/>
              </a:ext>
            </a:extLst>
          </p:cNvPr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EA7C76-F1BE-45D8-B43D-A071C46EAC67}"/>
              </a:ext>
            </a:extLst>
          </p:cNvPr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34094F-7BB4-F71D-AA67-B214ABCB8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904" y="4234806"/>
            <a:ext cx="1460500" cy="8509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C6A5DC-E38E-83F5-C28D-1C0710819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141" y="4369497"/>
            <a:ext cx="1835557" cy="791584"/>
          </a:xfrm>
          <a:prstGeom prst="rect">
            <a:avLst/>
          </a:prstGeom>
        </p:spPr>
      </p:pic>
      <p:pic>
        <p:nvPicPr>
          <p:cNvPr id="16" name="Picture 1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CA09E9A-B615-0465-2FD7-FCE36528E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681" y="1956868"/>
            <a:ext cx="1431412" cy="826865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4A81A0-1C5A-A9D1-8C87-25F615424D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152" y="4285195"/>
            <a:ext cx="1384300" cy="838200"/>
          </a:xfrm>
          <a:prstGeom prst="rect">
            <a:avLst/>
          </a:prstGeom>
        </p:spPr>
      </p:pic>
      <p:pic>
        <p:nvPicPr>
          <p:cNvPr id="20" name="Picture 19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4DC0F824-25A9-E782-5D0A-522C56601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713" y="4456975"/>
            <a:ext cx="4026013" cy="50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72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M.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24567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("%7f", &amp;f);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780692"/>
            <a:ext cx="5122140" cy="2039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5122140" cy="24567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("%7.2f", &amp;f);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780693"/>
            <a:ext cx="5122140" cy="20398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582C0F-6A84-4677-9843-F794C5DAB88B}"/>
              </a:ext>
            </a:extLst>
          </p:cNvPr>
          <p:cNvSpPr/>
          <p:nvPr/>
        </p:nvSpPr>
        <p:spPr bwMode="auto">
          <a:xfrm>
            <a:off x="590589" y="5820507"/>
            <a:ext cx="10245805" cy="71363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%mf/%</a:t>
            </a:r>
            <a:r>
              <a:rPr kumimoji="1" lang="en-US" altLang="zh-CN" sz="1200" b="1" dirty="0" err="1">
                <a:latin typeface="+mn-ea"/>
              </a:rPr>
              <a:t>mlf</a:t>
            </a:r>
            <a:r>
              <a:rPr kumimoji="1" lang="zh-CN" altLang="en-US" sz="1200" b="1" dirty="0">
                <a:latin typeface="+mn-ea"/>
              </a:rPr>
              <a:t>如果指定了宽度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只读取前</a:t>
            </a: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个数位作为有效值</a:t>
            </a:r>
            <a:r>
              <a:rPr kumimoji="1" lang="en-US" altLang="zh-CN" sz="1200" b="1" dirty="0"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%m.nf/%</a:t>
            </a:r>
            <a:r>
              <a:rPr kumimoji="1" lang="en-US" altLang="zh-CN" sz="1200" b="1" dirty="0" err="1">
                <a:latin typeface="+mn-ea"/>
              </a:rPr>
              <a:t>m.nlf</a:t>
            </a:r>
            <a:r>
              <a:rPr kumimoji="1" lang="zh-CN" altLang="en-US" sz="1200" b="1" dirty="0">
                <a:latin typeface="+mn-ea"/>
              </a:rPr>
              <a:t>如果指定了精度（小数点后的位数），则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不支持这样的格式</a:t>
            </a:r>
            <a:r>
              <a:rPr kumimoji="1" lang="en-US" altLang="zh-CN" sz="1200" b="1" dirty="0">
                <a:latin typeface="+mn-ea"/>
              </a:rPr>
              <a:t>_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（注：确认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%f/%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lf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是否支持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.n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形式的附加格式控制符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38D171-03A8-31E6-2717-CE87DD19B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163" y="3385660"/>
            <a:ext cx="1841500" cy="8890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88D82E-E96D-34AE-DB5F-A50BA842C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163" y="4274660"/>
            <a:ext cx="1778000" cy="863600"/>
          </a:xfrm>
          <a:prstGeom prst="rect">
            <a:avLst/>
          </a:prstGeom>
        </p:spPr>
      </p:pic>
      <p:pic>
        <p:nvPicPr>
          <p:cNvPr id="11" name="Picture 10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71E0387B-8173-B44F-DEEC-5F2615012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590" y="5069242"/>
            <a:ext cx="1583896" cy="753716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50A2DF-12AE-A301-8DCD-F1CAD0B774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373" y="3505200"/>
            <a:ext cx="1219200" cy="86360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5B87A7-46C2-66F3-9B35-F2E77B9DDA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413" y="4387850"/>
            <a:ext cx="1066800" cy="825500"/>
          </a:xfrm>
          <a:prstGeom prst="rect">
            <a:avLst/>
          </a:prstGeom>
        </p:spPr>
      </p:pic>
      <p:pic>
        <p:nvPicPr>
          <p:cNvPr id="18" name="Picture 17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53FDC83B-E8FF-325E-92BF-7A454C4549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845" y="5232400"/>
            <a:ext cx="15621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4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N.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 %c", &amp;c1, &amp;c2);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("c1=%c c2=%c\n", c1, 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539578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959D9-7563-4E50-A1D2-30A83C78F62D}"/>
              </a:ext>
            </a:extLst>
          </p:cNvPr>
          <p:cNvSpPr/>
          <p:nvPr/>
        </p:nvSpPr>
        <p:spPr bwMode="auto">
          <a:xfrm>
            <a:off x="571425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c%c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&amp;c1, &amp;c2);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%c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("c1=%d c2=%d\n", c1, 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B3C8D2-A378-4628-9BEE-ED76837AB120}"/>
              </a:ext>
            </a:extLst>
          </p:cNvPr>
          <p:cNvSpPr/>
          <p:nvPr/>
        </p:nvSpPr>
        <p:spPr bwMode="auto">
          <a:xfrm>
            <a:off x="5714254" y="3539577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（特别关注此项的差异）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87CCDA-74EF-40B1-9633-868C0546D9E2}"/>
              </a:ext>
            </a:extLst>
          </p:cNvPr>
          <p:cNvSpPr/>
          <p:nvPr/>
        </p:nvSpPr>
        <p:spPr bwMode="auto">
          <a:xfrm>
            <a:off x="590589" y="5623353"/>
            <a:ext cx="10245805" cy="910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只读</a:t>
            </a:r>
            <a:r>
              <a:rPr kumimoji="1" lang="en-US" altLang="zh-CN" sz="1200" b="1" dirty="0">
                <a:latin typeface="+mn-ea"/>
              </a:rPr>
              <a:t>__1__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在输入转义符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单引号等特殊字符时，得到的是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特殊字符自身的</a:t>
            </a:r>
            <a:r>
              <a:rPr kumimoji="1" lang="en-US" altLang="zh-CN" sz="1200" b="1" dirty="0">
                <a:latin typeface="+mn-ea"/>
              </a:rPr>
              <a:t>ASCII</a:t>
            </a:r>
            <a:r>
              <a:rPr kumimoji="1" lang="zh-CN" altLang="en-US" sz="1200" b="1" dirty="0">
                <a:latin typeface="+mn-ea"/>
              </a:rPr>
              <a:t>码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特殊字符自身的</a:t>
            </a:r>
            <a:r>
              <a:rPr kumimoji="1" lang="en-US" altLang="zh-CN" sz="1200" b="1" dirty="0">
                <a:latin typeface="+mn-ea"/>
              </a:rPr>
              <a:t>ASCII</a:t>
            </a:r>
            <a:r>
              <a:rPr kumimoji="1" lang="zh-CN" altLang="en-US" sz="1200" b="1" dirty="0">
                <a:latin typeface="+mn-ea"/>
              </a:rPr>
              <a:t>码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特殊字符的转义含义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、空格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是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方式的有效输入，但必须注意</a:t>
            </a:r>
            <a:r>
              <a:rPr kumimoji="1" lang="en-US" altLang="zh-CN" sz="1200" b="1" dirty="0">
                <a:latin typeface="+mn-ea"/>
              </a:rPr>
              <a:t>_____</a:t>
            </a:r>
            <a:r>
              <a:rPr kumimoji="1" lang="zh-CN" altLang="en-CN" sz="1200" b="1" dirty="0">
                <a:latin typeface="+mn-ea"/>
              </a:rPr>
              <a:t>若</a:t>
            </a:r>
            <a:r>
              <a:rPr kumimoji="1" lang="zh-CN" altLang="en-US" sz="1200" b="1" dirty="0">
                <a:latin typeface="+mn-ea"/>
              </a:rPr>
              <a:t>两个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有空格，则不会读入</a:t>
            </a:r>
            <a:r>
              <a:rPr kumimoji="1" lang="en-US" altLang="zh-CN" sz="1200" b="1" dirty="0">
                <a:latin typeface="+mn-ea"/>
              </a:rPr>
              <a:t>_____</a:t>
            </a:r>
          </a:p>
        </p:txBody>
      </p:sp>
      <p:pic>
        <p:nvPicPr>
          <p:cNvPr id="4" name="Picture 3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3AB6429F-53E3-9D64-E6F5-C4FEC0BD4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685" y="3429765"/>
            <a:ext cx="732997" cy="56520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6C2C19-CB09-DCA2-8307-8313AE909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211" y="3994968"/>
            <a:ext cx="732997" cy="603645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2380555-AC37-ED12-9C27-267A605EF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208" y="4307290"/>
            <a:ext cx="1041400" cy="78740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03A734-A552-F207-ABF4-033BFEF100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410" y="4861355"/>
            <a:ext cx="1130300" cy="762000"/>
          </a:xfrm>
          <a:prstGeom prst="rect">
            <a:avLst/>
          </a:prstGeom>
        </p:spPr>
      </p:pic>
      <p:pic>
        <p:nvPicPr>
          <p:cNvPr id="16" name="Picture 15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56CC6464-CE09-E77E-0277-910893D05C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180" y="3539576"/>
            <a:ext cx="786673" cy="524449"/>
          </a:xfrm>
          <a:prstGeom prst="rect">
            <a:avLst/>
          </a:prstGeom>
        </p:spPr>
      </p:pic>
      <p:pic>
        <p:nvPicPr>
          <p:cNvPr id="18" name="Picture 17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BB06FAC0-52E4-690D-E9E2-6964D2AE9E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999" y="4045490"/>
            <a:ext cx="915349" cy="622815"/>
          </a:xfrm>
          <a:prstGeom prst="rect">
            <a:avLst/>
          </a:prstGeom>
        </p:spPr>
      </p:pic>
      <p:pic>
        <p:nvPicPr>
          <p:cNvPr id="20" name="Picture 19" descr="A black background with white text and numbers&#10;&#10;AI-generated content may be incorrect.">
            <a:extLst>
              <a:ext uri="{FF2B5EF4-FFF2-40B4-BE49-F238E27FC236}">
                <a16:creationId xmlns:a16="http://schemas.microsoft.com/office/drawing/2014/main" id="{1B5CD074-097A-C438-6440-DDA42AF3A1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494" y="4474312"/>
            <a:ext cx="915349" cy="625800"/>
          </a:xfrm>
          <a:prstGeom prst="rect">
            <a:avLst/>
          </a:prstGeom>
        </p:spPr>
      </p:pic>
      <p:pic>
        <p:nvPicPr>
          <p:cNvPr id="22" name="Picture 21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67CC1499-C0CF-6854-0282-FE15397854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826" y="4964720"/>
            <a:ext cx="1037845" cy="65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69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O.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3924295"/>
            <a:ext cx="2625871" cy="12367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F4F30C-D298-4A21-A8F4-1F55688BD0E4}"/>
              </a:ext>
            </a:extLst>
          </p:cNvPr>
          <p:cNvSpPr/>
          <p:nvPr/>
        </p:nvSpPr>
        <p:spPr bwMode="auto">
          <a:xfrm>
            <a:off x="3217985" y="1323970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C60FD-4E38-446D-8B20-64D47E7A1088}"/>
              </a:ext>
            </a:extLst>
          </p:cNvPr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long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ld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20665F-34AD-4023-A7B6-BCD20FF3D7DC}"/>
              </a:ext>
            </a:extLst>
          </p:cNvPr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=%f\n",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8DD6E2-C64B-46E5-8260-360139BA35CB}"/>
              </a:ext>
            </a:extLst>
          </p:cNvPr>
          <p:cNvSpPr/>
          <p:nvPr/>
        </p:nvSpPr>
        <p:spPr bwMode="auto">
          <a:xfrm>
            <a:off x="590589" y="5161083"/>
            <a:ext cx="10505009" cy="13730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%c</a:t>
            </a:r>
            <a:r>
              <a:rPr kumimoji="1" lang="zh-CN" altLang="en-US" sz="1600" b="1" dirty="0">
                <a:latin typeface="+mn-ea"/>
              </a:rPr>
              <a:t>方式读入时，地址表列中的变量不能是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char_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不要列</a:t>
            </a:r>
            <a:r>
              <a:rPr kumimoji="1" lang="en-US" altLang="zh-CN" sz="1600" b="1" dirty="0">
                <a:latin typeface="+mn-ea"/>
              </a:rPr>
              <a:t>short/int/long/float</a:t>
            </a:r>
            <a:r>
              <a:rPr kumimoji="1" lang="zh-CN" altLang="en-US" sz="1600" b="1" dirty="0">
                <a:latin typeface="+mn-ea"/>
              </a:rPr>
              <a:t>等具体名称，总结共性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目前只需要记住现象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结论，学习完第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章后，会从原理上理解为什么有错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8D766-ADD5-475B-B9E5-51B40EFC171D}"/>
              </a:ext>
            </a:extLst>
          </p:cNvPr>
          <p:cNvSpPr/>
          <p:nvPr/>
        </p:nvSpPr>
        <p:spPr bwMode="auto">
          <a:xfrm>
            <a:off x="321798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2B3BF6-88B9-4E83-BE3B-74341E329AF3}"/>
              </a:ext>
            </a:extLst>
          </p:cNvPr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EA7C76-F1BE-45D8-B43D-A071C46EAC67}"/>
              </a:ext>
            </a:extLst>
          </p:cNvPr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9B2BD8-99B2-BF80-E7FA-FC162B6E3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96" y="4289852"/>
            <a:ext cx="1003300" cy="7620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DEC167-AB09-04DA-2680-084240D9F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39" y="4289852"/>
            <a:ext cx="1435100" cy="838200"/>
          </a:xfrm>
          <a:prstGeom prst="rect">
            <a:avLst/>
          </a:prstGeom>
        </p:spPr>
      </p:pic>
      <p:pic>
        <p:nvPicPr>
          <p:cNvPr id="16" name="Picture 15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D769F5D8-00A4-BC62-B394-20D69CD15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909" y="4288820"/>
            <a:ext cx="1651000" cy="87630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7404CC-7F63-6FBF-22B2-306A4E06BB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853" y="4299629"/>
            <a:ext cx="20828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07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P.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s1[10],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s2[10];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是数组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后续内容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("%s %s", s1, s2);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("s1=%s\ns2=%s\n", s1, s2);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 特别说明：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数组名，代表了数组的首地址，因此放在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中时，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可以不加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&amp;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，具体概念后续数组时再详细说明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 ji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ji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</a:t>
            </a:r>
            <a:r>
              <a:rPr kumimoji="1" lang="en-US" altLang="zh-CN" sz="1200" b="1" dirty="0">
                <a:latin typeface="+mn-ea"/>
              </a:rPr>
              <a:t>↙(9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hello12345</a:t>
            </a:r>
            <a:r>
              <a:rPr kumimoji="1" lang="en-US" altLang="zh-CN" sz="1200" b="1" dirty="0">
                <a:latin typeface="+mn-ea"/>
              </a:rPr>
              <a:t>↙(10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tongjiuniversity</a:t>
            </a:r>
            <a:r>
              <a:rPr kumimoji="1" lang="en-US" altLang="zh-CN" sz="1200" b="1" dirty="0">
                <a:latin typeface="+mn-ea"/>
              </a:rPr>
              <a:t>↙(</a:t>
            </a:r>
            <a:r>
              <a:rPr kumimoji="1" lang="zh-CN" altLang="en-US" sz="1200" b="1" dirty="0">
                <a:latin typeface="+mn-ea"/>
              </a:rPr>
              <a:t>超过</a:t>
            </a:r>
            <a:r>
              <a:rPr kumimoji="1" lang="en-US" altLang="zh-CN" sz="1200" b="1" dirty="0">
                <a:latin typeface="+mn-ea"/>
              </a:rPr>
              <a:t>10</a:t>
            </a:r>
            <a:r>
              <a:rPr kumimoji="1" lang="zh-CN" altLang="en-US" sz="1200" b="1" dirty="0">
                <a:latin typeface="+mn-ea"/>
              </a:rPr>
              <a:t>个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%s__</a:t>
            </a:r>
            <a:r>
              <a:rPr kumimoji="1" lang="zh-CN" altLang="en-US" sz="1200" b="1" dirty="0">
                <a:latin typeface="+mn-ea"/>
              </a:rPr>
              <a:t>不能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能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不能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读入含空格的字符串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</a:t>
            </a:r>
            <a:r>
              <a:rPr kumimoji="1" lang="zh-CN" altLang="en-US" sz="1200" b="1" dirty="0">
                <a:latin typeface="+mn-ea"/>
              </a:rPr>
              <a:t>输入时，如果数组的大小为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，则最多输入</a:t>
            </a:r>
            <a:r>
              <a:rPr kumimoji="1" lang="en-US" altLang="zh-CN" sz="1200" b="1" dirty="0">
                <a:latin typeface="+mn-ea"/>
              </a:rPr>
              <a:t>__n-1_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CFFC38A-2722-1FEF-E40B-9BCCE5788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296" y="1323970"/>
            <a:ext cx="1537558" cy="54959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0A849B-2BF9-41DD-3878-90A9B475A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296" y="1873565"/>
            <a:ext cx="586088" cy="82392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EF8DB0-F450-8AFC-35B4-78FFAA088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183" y="2387682"/>
            <a:ext cx="817341" cy="73560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87A799-504B-5843-920A-9A975DA1A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84" y="3209612"/>
            <a:ext cx="1012736" cy="855587"/>
          </a:xfrm>
          <a:prstGeom prst="rect">
            <a:avLst/>
          </a:prstGeom>
        </p:spPr>
      </p:pic>
      <p:pic>
        <p:nvPicPr>
          <p:cNvPr id="13" name="Picture 12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D1330677-663E-7AA0-7A0C-54A0797D4D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684" y="3258809"/>
            <a:ext cx="1322516" cy="757192"/>
          </a:xfrm>
          <a:prstGeom prst="rect">
            <a:avLst/>
          </a:prstGeom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8A16A7C-90B1-CDA3-D7EA-2AE2D710DE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361" y="4381555"/>
            <a:ext cx="1049603" cy="699735"/>
          </a:xfrm>
          <a:prstGeom prst="rect">
            <a:avLst/>
          </a:prstGeom>
        </p:spPr>
      </p:pic>
      <p:pic>
        <p:nvPicPr>
          <p:cNvPr id="17" name="Picture 1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552C88E-BC28-B527-1123-6FC93FFCB8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785" y="4303628"/>
            <a:ext cx="1451788" cy="85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154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Q.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("%s",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("%s\n",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4035668"/>
            <a:ext cx="5122140" cy="2498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charset="0"/>
              </a:rPr>
              <a:t>"\r\n\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charset="0"/>
              </a:rPr>
              <a:t>tabc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charset="0"/>
              </a:rPr>
              <a:t>"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该字符串真正的内存存储为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__10_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个字节，这些字节的值分别是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___92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114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92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110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92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116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97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98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99______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959D9-7563-4E50-A1D2-30A83C78F62D}"/>
              </a:ext>
            </a:extLst>
          </p:cNvPr>
          <p:cNvSpPr/>
          <p:nvPr/>
        </p:nvSpPr>
        <p:spPr bwMode="auto">
          <a:xfrm>
            <a:off x="5714254" y="1323973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s[80], t[80];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s,%s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s,t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("s=%s\n",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("t=%s\n", 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B3C8D2-A378-4628-9BEE-ED76837AB120}"/>
              </a:ext>
            </a:extLst>
          </p:cNvPr>
          <p:cNvSpPr/>
          <p:nvPr/>
        </p:nvSpPr>
        <p:spPr bwMode="auto">
          <a:xfrm>
            <a:off x="5714254" y="4035666"/>
            <a:ext cx="5122140" cy="24984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charset="0"/>
              </a:rPr>
              <a:t>abc,def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2-E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不同，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"%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s,%s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之间的逗号是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_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_(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原样输入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0A3B56-6EF1-844B-4007-BB9A84709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193" y="4035666"/>
            <a:ext cx="1282700" cy="901700"/>
          </a:xfrm>
          <a:prstGeom prst="rect">
            <a:avLst/>
          </a:prstGeom>
        </p:spPr>
      </p:pic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2F22C468-3D8E-5A5B-95CB-6A9E85C33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721" y="3899910"/>
            <a:ext cx="17145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80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R.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ret=%d\n", a,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20a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10a20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abc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C2719E-D752-41AA-A169-B2B4314C8AEA}"/>
              </a:ext>
            </a:extLst>
          </p:cNvPr>
          <p:cNvSpPr/>
          <p:nvPr/>
        </p:nvSpPr>
        <p:spPr bwMode="auto">
          <a:xfrm>
            <a:off x="5714254" y="1323971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 ret=%d\n", a, b,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3DE30A-A996-4C09-8CBA-31CDEA0EF436}"/>
              </a:ext>
            </a:extLst>
          </p:cNvPr>
          <p:cNvSpPr/>
          <p:nvPr/>
        </p:nvSpPr>
        <p:spPr bwMode="auto">
          <a:xfrm>
            <a:off x="59211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latin typeface="+mn-ea"/>
              </a:rPr>
              <a:t>abc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4D1D10-CE5E-4F5E-B7E6-3C027385A748}"/>
              </a:ext>
            </a:extLst>
          </p:cNvPr>
          <p:cNvSpPr/>
          <p:nvPr/>
        </p:nvSpPr>
        <p:spPr bwMode="auto">
          <a:xfrm>
            <a:off x="590589" y="6031345"/>
            <a:ext cx="10245805" cy="5027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返回值是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有效输入变量的个数</a:t>
            </a:r>
            <a:r>
              <a:rPr kumimoji="1" lang="en-US" altLang="zh-CN" sz="1600" b="1" dirty="0">
                <a:latin typeface="+mn-ea"/>
              </a:rPr>
              <a:t>_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1B0082-C4F9-2420-3AFD-8B26C12A3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36" y="3906979"/>
            <a:ext cx="973364" cy="72746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E1BB53-5F43-37CD-C3BB-9E97F2C08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36" y="4634441"/>
            <a:ext cx="973364" cy="740603"/>
          </a:xfrm>
          <a:prstGeom prst="rect">
            <a:avLst/>
          </a:prstGeom>
        </p:spPr>
      </p:pic>
      <p:pic>
        <p:nvPicPr>
          <p:cNvPr id="12" name="Picture 11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B0E40597-8E1E-F365-1077-2D8CB4513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36" y="5375044"/>
            <a:ext cx="1500676" cy="640416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A1FCD1-0B09-41C0-E0EF-245B70E2C7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93" y="3906979"/>
            <a:ext cx="956278" cy="527082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630617-C33B-02EF-51DA-D7EC6549BC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93" y="4434061"/>
            <a:ext cx="956278" cy="504085"/>
          </a:xfrm>
          <a:prstGeom prst="rect">
            <a:avLst/>
          </a:prstGeom>
        </p:spPr>
      </p:pic>
      <p:pic>
        <p:nvPicPr>
          <p:cNvPr id="18" name="Picture 17" descr="A black and white text&#10;&#10;AI-generated content may be incorrect.">
            <a:extLst>
              <a:ext uri="{FF2B5EF4-FFF2-40B4-BE49-F238E27FC236}">
                <a16:creationId xmlns:a16="http://schemas.microsoft.com/office/drawing/2014/main" id="{C2460EF7-C589-B028-C7DE-478FF5B7A4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065" y="4938146"/>
            <a:ext cx="1411899" cy="500048"/>
          </a:xfrm>
          <a:prstGeom prst="rect">
            <a:avLst/>
          </a:prstGeom>
        </p:spPr>
      </p:pic>
      <p:pic>
        <p:nvPicPr>
          <p:cNvPr id="20" name="Picture 19" descr="A black and white text&#10;&#10;AI-generated content may be incorrect.">
            <a:extLst>
              <a:ext uri="{FF2B5EF4-FFF2-40B4-BE49-F238E27FC236}">
                <a16:creationId xmlns:a16="http://schemas.microsoft.com/office/drawing/2014/main" id="{F22D9F5C-C6E8-30BE-7368-9BEDF68D35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065" y="5405121"/>
            <a:ext cx="2030964" cy="50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63948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</TotalTime>
  <Words>10181</Words>
  <Application>Microsoft Macintosh PowerPoint</Application>
  <PresentationFormat>Widescreen</PresentationFormat>
  <Paragraphs>1380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等线</vt:lpstr>
      <vt:lpstr>宋体</vt:lpstr>
      <vt:lpstr>Helvetica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Tonhie Xavier</cp:lastModifiedBy>
  <cp:revision>96</cp:revision>
  <dcterms:created xsi:type="dcterms:W3CDTF">2020-08-13T13:39:53Z</dcterms:created>
  <dcterms:modified xsi:type="dcterms:W3CDTF">2025-03-17T06:46:01Z</dcterms:modified>
</cp:coreProperties>
</file>