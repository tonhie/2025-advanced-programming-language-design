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9"/>
  </p:notesMasterIdLst>
  <p:sldIdLst>
    <p:sldId id="1236" r:id="rId2"/>
    <p:sldId id="1268" r:id="rId3"/>
    <p:sldId id="1249" r:id="rId4"/>
    <p:sldId id="1230" r:id="rId5"/>
    <p:sldId id="449" r:id="rId6"/>
    <p:sldId id="492" r:id="rId7"/>
    <p:sldId id="1186" r:id="rId8"/>
    <p:sldId id="1188" r:id="rId9"/>
    <p:sldId id="1189" r:id="rId10"/>
    <p:sldId id="1190" r:id="rId11"/>
    <p:sldId id="1194" r:id="rId12"/>
    <p:sldId id="1193" r:id="rId13"/>
    <p:sldId id="1202" r:id="rId14"/>
    <p:sldId id="1213" r:id="rId15"/>
    <p:sldId id="1203" r:id="rId16"/>
    <p:sldId id="1214" r:id="rId17"/>
    <p:sldId id="1204" r:id="rId18"/>
    <p:sldId id="1269" r:id="rId19"/>
    <p:sldId id="1205" r:id="rId20"/>
    <p:sldId id="1216" r:id="rId21"/>
    <p:sldId id="1206" r:id="rId22"/>
    <p:sldId id="1210" r:id="rId23"/>
    <p:sldId id="1270" r:id="rId24"/>
    <p:sldId id="1209" r:id="rId25"/>
    <p:sldId id="1191" r:id="rId26"/>
    <p:sldId id="1192" r:id="rId27"/>
    <p:sldId id="1207" r:id="rId28"/>
    <p:sldId id="1208" r:id="rId29"/>
    <p:sldId id="1212" r:id="rId30"/>
    <p:sldId id="1217" r:id="rId31"/>
    <p:sldId id="1218" r:id="rId32"/>
    <p:sldId id="1221" r:id="rId33"/>
    <p:sldId id="1219" r:id="rId34"/>
    <p:sldId id="1220" r:id="rId35"/>
    <p:sldId id="1222" r:id="rId36"/>
    <p:sldId id="1224" r:id="rId37"/>
    <p:sldId id="120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63" autoAdjust="0"/>
    <p:restoredTop sz="86364" autoAdjust="0"/>
  </p:normalViewPr>
  <p:slideViewPr>
    <p:cSldViewPr snapToGrid="0">
      <p:cViewPr>
        <p:scale>
          <a:sx n="102" d="100"/>
          <a:sy n="102" d="100"/>
        </p:scale>
        <p:origin x="144" y="3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64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19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日前（两周）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特别说明：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、本次作业是预习作业，在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第三周第一次上课前完成效果更好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、对于作业过程中不清楚的问题或不会的内容，先不要问（不清楚的位置可以先做个标记，结合听课再去理解）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要求一个程序多次运行的，不要自以为是的修改程序，放在一次去运行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</a:p>
          <a:p>
            <a:pPr algn="l"/>
            <a:r>
              <a:rPr lang="en-US" altLang="zh-CN" sz="2800" b="1" dirty="0">
                <a:latin typeface="+mn-ea"/>
              </a:rPr>
              <a:t>7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基本知识点：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是按格式读入，到空格、回车、非法为止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的输入必须以回车结束，输入的内容放在输入缓冲区中，从输入缓冲区去取得所需要的内容后，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多余的内容还放在输入缓冲区中，等待下次读入（如果程序结束，则操作系统会清空输入缓冲区）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、系统会自动根据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后变量的类型按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最长原则</a:t>
            </a:r>
            <a:r>
              <a:rPr lang="zh-CN" altLang="en-US" sz="1600" b="1" dirty="0">
                <a:latin typeface="+mn-ea"/>
              </a:rPr>
              <a:t>来读取合理数据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、变量读取后，系统会判断输入数据是否超过变量的范围，若超过则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置内部的错误标记</a:t>
            </a:r>
            <a:r>
              <a:rPr lang="zh-CN" altLang="en-US" sz="1600" b="1" dirty="0">
                <a:latin typeface="+mn-ea"/>
              </a:rPr>
              <a:t>并返回一个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不可信</a:t>
            </a:r>
            <a:r>
              <a:rPr lang="zh-CN" altLang="en-US" sz="1600" b="1" dirty="0">
                <a:latin typeface="+mn-ea"/>
              </a:rPr>
              <a:t>的值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（不同编译器处理不同）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输入完成后，通过</a:t>
            </a:r>
            <a:r>
              <a:rPr lang="en-US" altLang="zh-CN" sz="1600" b="1" dirty="0" err="1">
                <a:latin typeface="+mn-ea"/>
              </a:rPr>
              <a:t>cin.good</a:t>
            </a:r>
            <a:r>
              <a:rPr lang="en-US" altLang="zh-CN" sz="1600" b="1" dirty="0">
                <a:latin typeface="+mn-ea"/>
              </a:rPr>
              <a:t>()/</a:t>
            </a:r>
            <a:r>
              <a:rPr lang="en-US" altLang="zh-CN" sz="1600" b="1" dirty="0" err="1">
                <a:latin typeface="+mn-ea"/>
              </a:rPr>
              <a:t>cin.fail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可判断本次输入是否正确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碰到非法字符后会置错误标记位，后面会一直错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（如何恢复还未学到，先放着）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连续输入多个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时，碰到非法字符，下一个是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，再下面才是随机值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超范围后，不同类型的数据处理不同，如果细节记不清，问题不大，但一定要知道有这回事，别奇怪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4.5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超范围和赋值超范围是不同的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根据数据类型决定输出形式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3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4800" b="1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4800" b="1" dirty="0">
                <a:solidFill>
                  <a:srgbClr val="FF0000"/>
                </a:solidFill>
                <a:latin typeface="+mn-ea"/>
              </a:rPr>
              <a:t>、先认真看课件 </a:t>
            </a:r>
            <a:r>
              <a:rPr lang="en-US" altLang="zh-CN" sz="4800" b="1" dirty="0">
                <a:solidFill>
                  <a:srgbClr val="FF0000"/>
                </a:solidFill>
                <a:latin typeface="+mn-ea"/>
              </a:rPr>
              <a:t>P.13-23 !!!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C8EE9E-1435-4B4F-87E4-892D898B3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387" y="4234030"/>
            <a:ext cx="6202120" cy="113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6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a C++ 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 &lt;&lt; "a C++ " &lt;&lt; "program."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</a:t>
            </a:r>
          </a:p>
          <a:p>
            <a:r>
              <a:rPr lang="en-US" altLang="zh-CN" sz="1200" b="1" dirty="0">
                <a:latin typeface="+mn-ea"/>
              </a:rPr>
              <a:t>         &lt;&lt; "a C++ "</a:t>
            </a:r>
          </a:p>
          <a:p>
            <a:r>
              <a:rPr lang="en-US" altLang="zh-CN" sz="1200" b="1" dirty="0">
                <a:latin typeface="+mn-ea"/>
              </a:rPr>
              <a:t>         &lt;&lt; "program."</a:t>
            </a:r>
          </a:p>
          <a:p>
            <a:r>
              <a:rPr lang="en-US" altLang="zh-CN" sz="1200" b="1" dirty="0">
                <a:latin typeface="+mn-ea"/>
              </a:rPr>
              <a:t>        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组 *</a:t>
            </a:r>
            <a:r>
              <a:rPr lang="en-US" altLang="zh-CN" sz="1200" b="1" dirty="0"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"This is ";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 C++ ";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"program.";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  <a:endParaRPr lang="zh-CN" altLang="zh-CN" sz="12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190875" y="5665076"/>
            <a:ext cx="7648575" cy="86907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4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组在语句上的区别是：</a:t>
            </a:r>
            <a:r>
              <a:rPr kumimoji="1" lang="zh-CN" altLang="en-US" sz="1600" b="1" dirty="0">
                <a:latin typeface="+mn-ea"/>
              </a:rPr>
              <a:t>第三组将整句分成多个字符串一次性输出，第四组将整句分成多个字符串分多次输出。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D972A-47C8-77B7-9A1A-A2571ADE4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28" y="2730500"/>
            <a:ext cx="33909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5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258554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b &lt;&lt;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3177656" y="1323975"/>
            <a:ext cx="238231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F42479-BADA-4FA0-A5C5-86FA280CFD24}"/>
              </a:ext>
            </a:extLst>
          </p:cNvPr>
          <p:cNvSpPr/>
          <p:nvPr/>
        </p:nvSpPr>
        <p:spPr bwMode="auto">
          <a:xfrm>
            <a:off x="5559972" y="1323974"/>
            <a:ext cx="27116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(a, b, c)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BE4779-7CC8-43BD-A3F5-76B4716D7F0A}"/>
              </a:ext>
            </a:extLst>
          </p:cNvPr>
          <p:cNvSpPr/>
          <p:nvPr/>
        </p:nvSpPr>
        <p:spPr bwMode="auto">
          <a:xfrm>
            <a:off x="8271641" y="1323974"/>
            <a:ext cx="25637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a=10, b=15, c=20;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a, b,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771798-5FB6-4D6E-BD6E-6DE4376B0A50}"/>
              </a:ext>
            </a:extLst>
          </p:cNvPr>
          <p:cNvSpPr/>
          <p:nvPr/>
        </p:nvSpPr>
        <p:spPr bwMode="auto">
          <a:xfrm>
            <a:off x="588075" y="4796001"/>
            <a:ext cx="7683562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个程序输出不同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原因：</a:t>
            </a:r>
            <a:r>
              <a:rPr kumimoji="1" lang="zh-CN" altLang="en-US" sz="1600" b="1" dirty="0">
                <a:latin typeface="+mn-ea"/>
              </a:rPr>
              <a:t>第一个程序为依次输出三个数字；第二个程序由于逗号优先级最低，先运行了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a, </a:t>
            </a:r>
            <a:r>
              <a:rPr kumimoji="1" lang="zh-CN" altLang="en-US" sz="1600" b="1" dirty="0">
                <a:latin typeface="+mn-ea"/>
              </a:rPr>
              <a:t>而</a:t>
            </a:r>
            <a:r>
              <a:rPr kumimoji="1" lang="zh-CN" altLang="en-CN" sz="1600" b="1" dirty="0">
                <a:latin typeface="+mn-ea"/>
              </a:rPr>
              <a:t>逗号后</a:t>
            </a:r>
            <a:r>
              <a:rPr kumimoji="1" lang="zh-CN" altLang="en-US" sz="1600" b="1" dirty="0">
                <a:latin typeface="+mn-ea"/>
              </a:rPr>
              <a:t>的表达式不是让程序输出的形式；第三个程序输出的是表达式</a:t>
            </a:r>
            <a:r>
              <a:rPr kumimoji="1" lang="en-US" altLang="zh-CN" sz="1600" b="1" dirty="0">
                <a:latin typeface="+mn-ea"/>
              </a:rPr>
              <a:t>(a, b, c)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20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B1F99A-53FD-4593-B0C5-87126B93BA0E}"/>
              </a:ext>
            </a:extLst>
          </p:cNvPr>
          <p:cNvSpPr/>
          <p:nvPr/>
        </p:nvSpPr>
        <p:spPr bwMode="auto">
          <a:xfrm>
            <a:off x="8271639" y="4796001"/>
            <a:ext cx="2567809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解释错误原因：分出了一个语句“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c&lt;&lt;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endl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”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,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这样的表达不合法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5" y="5665075"/>
            <a:ext cx="10247336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1" dirty="0">
                <a:latin typeface="+mn-ea"/>
              </a:rPr>
              <a:t>结论：一个流插入运算符 </a:t>
            </a:r>
            <a:r>
              <a:rPr kumimoji="1" lang="en-US" altLang="zh-CN" sz="2400" b="1" dirty="0">
                <a:latin typeface="+mn-ea"/>
              </a:rPr>
              <a:t>&lt;&lt; </a:t>
            </a:r>
            <a:r>
              <a:rPr kumimoji="1" lang="zh-CN" altLang="en-US" sz="2400" b="1" dirty="0">
                <a:latin typeface="+mn-ea"/>
              </a:rPr>
              <a:t>只能输出</a:t>
            </a:r>
            <a:r>
              <a:rPr kumimoji="1" lang="en-US" altLang="zh-CN" sz="2400" b="1" dirty="0">
                <a:latin typeface="+mn-ea"/>
              </a:rPr>
              <a:t>___</a:t>
            </a:r>
            <a:r>
              <a:rPr kumimoji="1" lang="en-US" altLang="zh-CN" sz="2400" b="1" u="sng" dirty="0">
                <a:latin typeface="+mn-ea"/>
              </a:rPr>
              <a:t>1</a:t>
            </a:r>
            <a:r>
              <a:rPr kumimoji="1" lang="en-US" altLang="zh-CN" sz="2400" b="1" dirty="0">
                <a:latin typeface="+mn-ea"/>
              </a:rPr>
              <a:t>___</a:t>
            </a:r>
            <a:r>
              <a:rPr kumimoji="1" lang="zh-CN" altLang="en-US" sz="2400" b="1" dirty="0">
                <a:latin typeface="+mn-ea"/>
              </a:rPr>
              <a:t>个数据</a:t>
            </a:r>
            <a:r>
              <a:rPr kumimoji="1" lang="en-US" altLang="zh-CN" sz="2400" b="1" dirty="0">
                <a:latin typeface="+mn-ea"/>
              </a:rPr>
              <a:t>.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4200AD-BFAB-20D3-F04B-1DE8B6EAB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75" y="3402965"/>
            <a:ext cx="2608894" cy="523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271CF3-F81F-F874-27ED-12009A94C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947" y="3330027"/>
            <a:ext cx="1651000" cy="596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151ED9-3327-39D7-22DA-3DC75FCA8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187" y="3228427"/>
            <a:ext cx="1155700" cy="698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1602B3-7183-1A79-448B-59DF63C86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696" y="3119648"/>
            <a:ext cx="3451788" cy="50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7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5749158" y="1323975"/>
            <a:ext cx="509028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4" y="5665075"/>
            <a:ext cx="1024733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解释这两个程序输出不同的原因：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会识别变量的类型来输出，左边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对应字符‘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’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识别到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于是输出结果为字符‘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A’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；而右边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是以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类型定义的，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cout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识别到整型于是输出数字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65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E1DE28-142C-5A7C-FD9D-A0960AF04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0" y="3213970"/>
            <a:ext cx="3429000" cy="213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8BE00B-6CB1-2A24-0D08-D5BD4D5B0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923" y="3163170"/>
            <a:ext cx="32766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53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5749159" y="1323975"/>
            <a:ext cx="50902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4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ABF044-5243-4B33-8F2F-8B05865F01E8}"/>
              </a:ext>
            </a:extLst>
          </p:cNvPr>
          <p:cNvSpPr/>
          <p:nvPr/>
        </p:nvSpPr>
        <p:spPr bwMode="auto">
          <a:xfrm>
            <a:off x="5745119" y="5665075"/>
            <a:ext cx="5094331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在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（不允许添加其它变量）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D12D82-E714-6CF4-12F0-4B353806C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246" y="3257550"/>
            <a:ext cx="3822700" cy="218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83C5C0-BF55-10F1-7934-A6EAD4CD7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511" y="3232150"/>
            <a:ext cx="37973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74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的基本理解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，将修改后符合要求的程序及运行结果贴上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15704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65;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92113" y="5665075"/>
            <a:ext cx="5157045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在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类型不变的情况下，要求输出为</a:t>
            </a:r>
            <a:r>
              <a:rPr kumimoji="1" lang="en-US" altLang="zh-CN" sz="1600" b="1" dirty="0">
                <a:latin typeface="+mn-ea"/>
              </a:rPr>
              <a:t>65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（不允许添加其它变量，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不允许使用任何方式的强制类型转换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093836-33BD-EE12-37F0-03B615A69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50" y="3101450"/>
            <a:ext cx="38354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98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9131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</a:t>
            </a:r>
            <a:r>
              <a:rPr lang="en-US" altLang="zh-CN" sz="1600" b="1" dirty="0">
                <a:latin typeface="+mn-ea"/>
              </a:rPr>
              <a:t> 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 k="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456↙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(↙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代表回车键，下同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456 123↙(</a:t>
            </a:r>
            <a:r>
              <a:rPr kumimoji="1" lang="zh-CN" altLang="en-US" sz="1200" b="1" dirty="0">
                <a:latin typeface="+mn-ea"/>
              </a:rPr>
              <a:t>一个空格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456    123↙(</a:t>
            </a:r>
            <a:r>
              <a:rPr kumimoji="1" lang="zh-CN" altLang="en-US" sz="1200" b="1" dirty="0">
                <a:latin typeface="+mn-ea"/>
              </a:rPr>
              <a:t>多个空格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456m↙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456↙ (</a:t>
            </a:r>
            <a:r>
              <a:rPr kumimoji="1" lang="zh-CN" altLang="en-US" sz="1200" b="1" dirty="0">
                <a:latin typeface="+mn-ea"/>
              </a:rPr>
              <a:t>持续多个空格后，再输入</a:t>
            </a:r>
            <a:r>
              <a:rPr kumimoji="1" lang="en-US" altLang="zh-CN" sz="1200" b="1" dirty="0">
                <a:latin typeface="+mn-ea"/>
              </a:rPr>
              <a:t>456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     </a:t>
            </a:r>
            <a:r>
              <a:rPr kumimoji="1" lang="en-US" altLang="zh-CN" sz="1200" b="1" dirty="0">
                <a:latin typeface="+mn-ea"/>
              </a:rPr>
              <a:t>↙ (</a:t>
            </a:r>
            <a:r>
              <a:rPr kumimoji="1" lang="zh-CN" altLang="en-US" sz="1200" b="1" dirty="0">
                <a:latin typeface="+mn-ea"/>
              </a:rPr>
              <a:t>持续多个空格后，按回车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456↙   (</a:t>
            </a:r>
            <a:r>
              <a:rPr kumimoji="1" lang="zh-CN" altLang="en-US" sz="1200" b="1" dirty="0">
                <a:latin typeface="+mn-ea"/>
              </a:rPr>
              <a:t>再输入</a:t>
            </a:r>
            <a:r>
              <a:rPr kumimoji="1" lang="en-US" altLang="zh-CN" sz="1200" b="1" dirty="0">
                <a:latin typeface="+mn-ea"/>
              </a:rPr>
              <a:t>456</a:t>
            </a:r>
            <a:r>
              <a:rPr kumimoji="1" lang="zh-CN" altLang="en-US" sz="1200" b="1" dirty="0">
                <a:latin typeface="+mn-ea"/>
              </a:rPr>
              <a:t>，按回车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...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↙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      456↙ (</a:t>
            </a:r>
            <a:r>
              <a:rPr kumimoji="1" lang="zh-CN" altLang="en-US" sz="1200" b="1" dirty="0">
                <a:latin typeface="+mn-ea"/>
              </a:rPr>
              <a:t>持续多个空回车后，输入</a:t>
            </a:r>
            <a:r>
              <a:rPr kumimoji="1" lang="en-US" altLang="zh-CN" sz="1200" b="1" dirty="0">
                <a:latin typeface="+mn-ea"/>
              </a:rPr>
              <a:t>456)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分析结果：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、在前面有正确输入的情况下，回车、空格、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型而言是非法的字符</a:t>
            </a:r>
            <a:r>
              <a:rPr kumimoji="1" lang="en-US" altLang="zh-CN" sz="1200" b="1" dirty="0">
                <a:latin typeface="+mn-ea"/>
              </a:rPr>
              <a:t>)m</a:t>
            </a:r>
            <a:r>
              <a:rPr kumimoji="1" lang="zh-CN" altLang="en-US" sz="1200" b="1" dirty="0">
                <a:latin typeface="+mn-ea"/>
              </a:rPr>
              <a:t>的作用是？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答：标志</a:t>
            </a:r>
            <a:r>
              <a:rPr kumimoji="1" lang="zh-CN" altLang="en-CN" sz="1200" b="1" dirty="0">
                <a:latin typeface="+mn-ea"/>
              </a:rPr>
              <a:t>合法输入的</a:t>
            </a:r>
            <a:r>
              <a:rPr kumimoji="1" lang="zh-CN" altLang="en-US" sz="1200" b="1" dirty="0">
                <a:latin typeface="+mn-ea"/>
              </a:rPr>
              <a:t>结束，在此之前的会被读入。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、直接输入若干空格和回车后，再输入正确，变量是否能得到正确的值？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答：能，这些空格与回车不会被读入。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、直接输入</a:t>
            </a:r>
            <a:r>
              <a:rPr kumimoji="1" lang="en-US" altLang="zh-CN" sz="1200" b="1" dirty="0">
                <a:latin typeface="+mn-ea"/>
              </a:rPr>
              <a:t>(</a:t>
            </a:r>
            <a:r>
              <a:rPr kumimoji="1" lang="zh-CN" altLang="en-US" sz="1200" b="1" dirty="0">
                <a:latin typeface="+mn-ea"/>
              </a:rPr>
              <a:t>对</a:t>
            </a:r>
            <a:r>
              <a:rPr kumimoji="1" lang="en-US" altLang="zh-CN" sz="1200" b="1" dirty="0">
                <a:latin typeface="+mn-ea"/>
              </a:rPr>
              <a:t>int</a:t>
            </a:r>
            <a:r>
              <a:rPr kumimoji="1" lang="zh-CN" altLang="en-US" sz="1200" b="1" dirty="0">
                <a:latin typeface="+mn-ea"/>
              </a:rPr>
              <a:t>型而言是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非法的数据</a:t>
            </a:r>
            <a:r>
              <a:rPr kumimoji="1" lang="en-US" altLang="zh-CN" sz="1200" b="1" dirty="0">
                <a:latin typeface="+mn-ea"/>
              </a:rPr>
              <a:t>m</a:t>
            </a:r>
            <a:r>
              <a:rPr kumimoji="1" lang="zh-CN" altLang="en-US" sz="1200" b="1" dirty="0">
                <a:latin typeface="+mn-ea"/>
              </a:rPr>
              <a:t>，输出是？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答：输出为</a:t>
            </a:r>
            <a:r>
              <a:rPr kumimoji="1" lang="en-US" altLang="zh-CN" sz="1200" b="1" dirty="0">
                <a:latin typeface="+mn-ea"/>
              </a:rPr>
              <a:t>0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k=0</a:t>
            </a:r>
            <a:r>
              <a:rPr kumimoji="1" lang="zh-CN" altLang="en-US" sz="1200" b="1" dirty="0">
                <a:latin typeface="+mn-ea"/>
              </a:rPr>
              <a:t>，即输入非法。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21AF31-BE79-4BB8-8590-5C87B2AC4A36}"/>
              </a:ext>
            </a:extLst>
          </p:cNvPr>
          <p:cNvSpPr/>
          <p:nvPr/>
        </p:nvSpPr>
        <p:spPr bwMode="auto">
          <a:xfrm>
            <a:off x="592114" y="4391025"/>
            <a:ext cx="3356644" cy="2143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基础知识：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的最小值是：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-32768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的最大值是：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32767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327E85-6E34-4AD6-910C-9A271A3BD709}"/>
              </a:ext>
            </a:extLst>
          </p:cNvPr>
          <p:cNvSpPr/>
          <p:nvPr/>
        </p:nvSpPr>
        <p:spPr bwMode="auto">
          <a:xfrm>
            <a:off x="592114" y="5948516"/>
            <a:ext cx="3356644" cy="585634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4809E7-F14F-43A7-A1D4-5469463D3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181" y="1323973"/>
            <a:ext cx="977900" cy="838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254157-0AB8-7551-D977-2A75F7E8F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481" y="2333321"/>
            <a:ext cx="990600" cy="863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0D9064-ABFD-2FE5-C739-DA6C7D196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931" y="3323588"/>
            <a:ext cx="11684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60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short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5" y="1323974"/>
            <a:ext cx="503872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456↙  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456︺123↙(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-456m↙   (</a:t>
            </a:r>
            <a:r>
              <a:rPr kumimoji="1" lang="zh-CN" altLang="en-US" sz="1600" b="1" dirty="0">
                <a:latin typeface="+mn-ea"/>
              </a:rPr>
              <a:t>正确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非法字符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m↙       (</a:t>
            </a:r>
            <a:r>
              <a:rPr kumimoji="1" lang="zh-CN" altLang="en-US" sz="1600" b="1" dirty="0">
                <a:latin typeface="+mn-ea"/>
              </a:rPr>
              <a:t>直接非法字符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   (</a:t>
            </a:r>
            <a:r>
              <a:rPr kumimoji="1" lang="zh-CN" altLang="en-US" sz="1600" b="1" dirty="0">
                <a:latin typeface="+mn-ea"/>
              </a:rPr>
              <a:t>超上限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-40000↙  (</a:t>
            </a:r>
            <a:r>
              <a:rPr kumimoji="1" lang="zh-CN" altLang="en-US" sz="1600" b="1" dirty="0">
                <a:latin typeface="+mn-ea"/>
              </a:rPr>
              <a:t>超下限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5241CA-1237-4906-8FCC-E5E9EEA00A32}"/>
              </a:ext>
            </a:extLst>
          </p:cNvPr>
          <p:cNvSpPr/>
          <p:nvPr/>
        </p:nvSpPr>
        <p:spPr bwMode="auto">
          <a:xfrm>
            <a:off x="592113" y="4857749"/>
            <a:ext cx="5204572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6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5FD7E2-D4AE-49A7-A008-4D13B52E1631}"/>
              </a:ext>
            </a:extLst>
          </p:cNvPr>
          <p:cNvSpPr/>
          <p:nvPr/>
        </p:nvSpPr>
        <p:spPr bwMode="auto">
          <a:xfrm>
            <a:off x="592114" y="6184490"/>
            <a:ext cx="5204570" cy="34966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AB3D6C-DB7F-7900-861C-9A6ADF113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224" y="1536379"/>
            <a:ext cx="1146908" cy="9913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E4A907-0B45-20DE-565B-ACD942799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225" y="2577591"/>
            <a:ext cx="1146908" cy="10312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E3BA68-3D48-D71E-509C-D1339D881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562" y="4857749"/>
            <a:ext cx="1194570" cy="11486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1E9B66-53E4-FB7D-9D93-C9EF7F079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224" y="3689188"/>
            <a:ext cx="1146908" cy="111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63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B-Compare.</a:t>
            </a:r>
            <a:r>
              <a:rPr lang="zh-CN" altLang="en-US" sz="1600" b="1" dirty="0">
                <a:latin typeface="+mn-ea"/>
              </a:rPr>
              <a:t>运行下面的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输入与赋值），观察运行结果并与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k1, k2, k3, k4, k5;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k1 = 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k2 = 54321;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k3 = 70000;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k4 = -12345;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k5 = -54321;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的输入：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k1=12345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54321↙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k2=-11215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k3=4464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k4=-12345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-54321↙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k5=11215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F6BE96-F3B0-4B1D-9558-EDFED6F0D798}"/>
              </a:ext>
            </a:extLst>
          </p:cNvPr>
          <p:cNvSpPr/>
          <p:nvPr/>
        </p:nvSpPr>
        <p:spPr bwMode="auto">
          <a:xfrm>
            <a:off x="8103477" y="1323974"/>
            <a:ext cx="2731934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08563-0610-5762-A6A2-967B9BBF99C0}"/>
              </a:ext>
            </a:extLst>
          </p:cNvPr>
          <p:cNvSpPr txBox="1"/>
          <p:nvPr/>
        </p:nvSpPr>
        <p:spPr>
          <a:xfrm>
            <a:off x="4255315" y="5056821"/>
            <a:ext cx="61663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dirty="0">
                <a:effectLst/>
                <a:latin typeface="+mn-ea"/>
              </a:rPr>
              <a:t>对比分析：</a:t>
            </a:r>
            <a:r>
              <a:rPr lang="en-US" altLang="zh-CN" sz="1600" dirty="0">
                <a:effectLst/>
                <a:latin typeface="+mn-ea"/>
              </a:rPr>
              <a:t>1</a:t>
            </a:r>
            <a:r>
              <a:rPr lang="zh-CN" altLang="en-US" sz="1600" dirty="0">
                <a:effectLst/>
                <a:latin typeface="+mn-ea"/>
              </a:rPr>
              <a:t>、</a:t>
            </a:r>
            <a:r>
              <a:rPr lang="en-US" altLang="zh-CN" sz="1600" dirty="0">
                <a:effectLst/>
                <a:latin typeface="+mn-ea"/>
              </a:rPr>
              <a:t>4</a:t>
            </a:r>
            <a:r>
              <a:rPr lang="zh-CN" altLang="en-US" sz="1600" dirty="0">
                <a:effectLst/>
                <a:latin typeface="+mn-ea"/>
              </a:rPr>
              <a:t>组的结果一样，</a:t>
            </a:r>
            <a:r>
              <a:rPr lang="en-US" altLang="zh-CN" sz="1600" dirty="0">
                <a:effectLst/>
                <a:latin typeface="+mn-ea"/>
              </a:rPr>
              <a:t>2</a:t>
            </a:r>
            <a:r>
              <a:rPr lang="zh-CN" altLang="en-US" sz="1600" dirty="0">
                <a:effectLst/>
                <a:latin typeface="+mn-ea"/>
              </a:rPr>
              <a:t>、</a:t>
            </a:r>
            <a:r>
              <a:rPr lang="en-US" altLang="zh-CN" sz="1600" dirty="0">
                <a:effectLst/>
                <a:latin typeface="+mn-ea"/>
              </a:rPr>
              <a:t>4</a:t>
            </a:r>
            <a:r>
              <a:rPr lang="zh-CN" altLang="en-US" sz="1600" dirty="0">
                <a:effectLst/>
                <a:latin typeface="+mn-ea"/>
              </a:rPr>
              <a:t>、</a:t>
            </a:r>
            <a:r>
              <a:rPr lang="en-US" altLang="zh-CN" sz="1600" dirty="0">
                <a:effectLst/>
                <a:latin typeface="+mn-ea"/>
              </a:rPr>
              <a:t>5</a:t>
            </a:r>
            <a:r>
              <a:rPr lang="zh-CN" altLang="en-US" sz="1600" dirty="0">
                <a:effectLst/>
                <a:latin typeface="+mn-ea"/>
              </a:rPr>
              <a:t>组的结果不一样，</a:t>
            </a:r>
            <a:r>
              <a:rPr lang="en-CN" altLang="zh-CN" sz="1600" dirty="0">
                <a:effectLst/>
                <a:latin typeface="+mn-ea"/>
              </a:rPr>
              <a:t>B</a:t>
            </a:r>
            <a:r>
              <a:rPr lang="zh-CN" altLang="en-CN" sz="1600" dirty="0">
                <a:effectLst/>
                <a:latin typeface="+mn-ea"/>
              </a:rPr>
              <a:t>出错</a:t>
            </a:r>
            <a:r>
              <a:rPr lang="zh-CN" altLang="en-US" sz="1600" dirty="0">
                <a:effectLst/>
                <a:latin typeface="+mn-ea"/>
              </a:rPr>
              <a:t>得到的</a:t>
            </a:r>
            <a:r>
              <a:rPr lang="en-US" sz="1600" dirty="0">
                <a:effectLst/>
                <a:latin typeface="+mn-ea"/>
              </a:rPr>
              <a:t>k</a:t>
            </a:r>
            <a:r>
              <a:rPr lang="zh-CN" altLang="en-US" sz="1600" dirty="0">
                <a:effectLst/>
                <a:latin typeface="+mn-ea"/>
              </a:rPr>
              <a:t>值不可信，而</a:t>
            </a:r>
            <a:r>
              <a:rPr lang="en-US" sz="1600" dirty="0">
                <a:effectLst/>
                <a:latin typeface="+mn-ea"/>
              </a:rPr>
              <a:t>B-Compare</a:t>
            </a:r>
            <a:r>
              <a:rPr lang="zh-CN" altLang="en-US" sz="1600" dirty="0">
                <a:effectLst/>
                <a:latin typeface="+mn-ea"/>
              </a:rPr>
              <a:t>组</a:t>
            </a:r>
            <a:r>
              <a:rPr lang="en-US" sz="1600" dirty="0">
                <a:effectLst/>
                <a:latin typeface="+mn-ea"/>
              </a:rPr>
              <a:t>k</a:t>
            </a:r>
            <a:r>
              <a:rPr lang="zh-CN" altLang="en-US" sz="1600" dirty="0">
                <a:latin typeface="+mn-ea"/>
              </a:rPr>
              <a:t>是赋值所得</a:t>
            </a:r>
            <a:r>
              <a:rPr lang="zh-CN" altLang="en-US" sz="1600" dirty="0">
                <a:effectLst/>
                <a:latin typeface="+mn-ea"/>
              </a:rPr>
              <a:t>，</a:t>
            </a:r>
            <a:r>
              <a:rPr lang="en-US" sz="1600" dirty="0" err="1">
                <a:effectLst/>
                <a:latin typeface="+mn-ea"/>
              </a:rPr>
              <a:t>c++</a:t>
            </a:r>
            <a:r>
              <a:rPr lang="zh-CN" altLang="en-US" sz="1600" dirty="0">
                <a:effectLst/>
                <a:latin typeface="+mn-ea"/>
              </a:rPr>
              <a:t>中溢出不算错误</a:t>
            </a:r>
          </a:p>
        </p:txBody>
      </p:sp>
    </p:spTree>
    <p:extLst>
      <p:ext uri="{BB962C8B-B14F-4D97-AF65-F5344CB8AC3E}">
        <p14:creationId xmlns:p14="http://schemas.microsoft.com/office/powerpoint/2010/main" val="1008240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5" y="1323974"/>
            <a:ext cx="569999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1000000000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3000000000↙</a:t>
            </a:r>
            <a:r>
              <a:rPr kumimoji="1" lang="zh-CN" altLang="en-US" sz="1600" b="1" dirty="0">
                <a:latin typeface="+mn-ea"/>
              </a:rPr>
              <a:t>（超上限但未超同类型的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5000000000↙</a:t>
            </a:r>
            <a:r>
              <a:rPr kumimoji="1" lang="zh-CN" altLang="en-US" sz="1600" b="1" dirty="0">
                <a:latin typeface="+mn-ea"/>
              </a:rPr>
              <a:t>（超上限且超过同类型的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-1000000000↙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-3000000000↙ 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92F46C-FE53-4D34-AE8C-AE64662F528C}"/>
              </a:ext>
            </a:extLst>
          </p:cNvPr>
          <p:cNvSpPr/>
          <p:nvPr/>
        </p:nvSpPr>
        <p:spPr bwMode="auto">
          <a:xfrm>
            <a:off x="920114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7E1F94-6592-46B5-81D6-0F55B7927B1C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C4B18B-D58E-412B-92BA-22E5005D8056}"/>
              </a:ext>
            </a:extLst>
          </p:cNvPr>
          <p:cNvSpPr/>
          <p:nvPr/>
        </p:nvSpPr>
        <p:spPr bwMode="auto">
          <a:xfrm>
            <a:off x="9201149" y="1323974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A51B11-1A8C-46B1-9C03-F3061FD54745}"/>
              </a:ext>
            </a:extLst>
          </p:cNvPr>
          <p:cNvSpPr/>
          <p:nvPr/>
        </p:nvSpPr>
        <p:spPr bwMode="auto">
          <a:xfrm>
            <a:off x="592114" y="6174658"/>
            <a:ext cx="5204570" cy="35949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2610AC-59BA-309B-717F-BDC7E2D04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752" y="1823667"/>
            <a:ext cx="833590" cy="768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7ADAEC-1B7F-2468-EE11-0EB304F2D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911" y="1823667"/>
            <a:ext cx="833590" cy="8256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98C2FC-97F4-7B88-40BA-ED4C4F77A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911" y="3622795"/>
            <a:ext cx="933680" cy="8256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96A522-A4EE-9E38-31DD-2AFC731D79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752" y="3626476"/>
            <a:ext cx="896421" cy="82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9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0DC1C6-A67F-44AD-A386-BE09259C34B7}"/>
              </a:ext>
            </a:extLst>
          </p:cNvPr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上限但未超同类型的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答：不一致，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读入后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值为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上限，而赋值</a:t>
            </a:r>
            <a:r>
              <a:rPr kumimoji="1" lang="zh-CN" altLang="en-CN" sz="1600" b="1" dirty="0">
                <a:latin typeface="+mn-ea"/>
              </a:rPr>
              <a:t>得到的为该数</a:t>
            </a:r>
            <a:r>
              <a:rPr kumimoji="1" lang="zh-CN" altLang="en-US" sz="1600" b="1" dirty="0">
                <a:latin typeface="+mn-ea"/>
              </a:rPr>
              <a:t>二进制（补码）中前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位表示数（符号位</a:t>
            </a:r>
            <a:r>
              <a:rPr kumimoji="1" lang="en-US" altLang="zh-CN" sz="1600" b="1" dirty="0">
                <a:latin typeface="+mn-ea"/>
              </a:rPr>
              <a:t>+15</a:t>
            </a:r>
            <a:r>
              <a:rPr kumimoji="1" lang="zh-CN" altLang="en-US" sz="1600" b="1" dirty="0">
                <a:latin typeface="+mn-ea"/>
              </a:rPr>
              <a:t>个数位）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上限且超同类型的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答：不一致，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读入后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值为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上限，而赋值</a:t>
            </a:r>
            <a:r>
              <a:rPr kumimoji="1" lang="zh-CN" altLang="en-CN" sz="1600" b="1" dirty="0">
                <a:latin typeface="+mn-ea"/>
              </a:rPr>
              <a:t>得到的为该数</a:t>
            </a:r>
            <a:r>
              <a:rPr kumimoji="1" lang="zh-CN" altLang="en-US" sz="1600" b="1" dirty="0">
                <a:latin typeface="+mn-ea"/>
              </a:rPr>
              <a:t>二进制（补码）中前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位表示数（符号位</a:t>
            </a:r>
            <a:r>
              <a:rPr kumimoji="1" lang="en-US" altLang="zh-CN" sz="1600" b="1" dirty="0">
                <a:latin typeface="+mn-ea"/>
              </a:rPr>
              <a:t>+15</a:t>
            </a:r>
            <a:r>
              <a:rPr kumimoji="1" lang="zh-CN" altLang="en-US" sz="1600" b="1" dirty="0">
                <a:latin typeface="+mn-ea"/>
              </a:rPr>
              <a:t>个数位）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答：不一致，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读入后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值为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下限，而赋值</a:t>
            </a:r>
            <a:r>
              <a:rPr kumimoji="1" lang="zh-CN" altLang="en-CN" sz="1600" b="1" dirty="0">
                <a:latin typeface="+mn-ea"/>
              </a:rPr>
              <a:t>得到的为该数</a:t>
            </a:r>
            <a:r>
              <a:rPr kumimoji="1" lang="zh-CN" altLang="en-US" sz="1600" b="1" dirty="0">
                <a:latin typeface="+mn-ea"/>
              </a:rPr>
              <a:t>二进制（补码）中前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位表示数（符号位</a:t>
            </a:r>
            <a:r>
              <a:rPr kumimoji="1" lang="en-US" altLang="zh-CN" sz="1600" b="1" dirty="0">
                <a:latin typeface="+mn-ea"/>
              </a:rPr>
              <a:t>+15</a:t>
            </a:r>
            <a:r>
              <a:rPr kumimoji="1" lang="zh-CN" altLang="en-US" sz="1600" b="1" dirty="0">
                <a:latin typeface="+mn-ea"/>
              </a:rPr>
              <a:t>个数位）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4925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"k=" &lt;&lt;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good="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fail="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2D72D9-0DBE-429E-AE09-870F3A1DBFFF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2, 3, 4, 5, 6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6D54AF-7A00-44D3-BEAC-B2CCE0B4EBC8}"/>
              </a:ext>
            </a:extLst>
          </p:cNvPr>
          <p:cNvSpPr/>
          <p:nvPr/>
        </p:nvSpPr>
        <p:spPr bwMode="auto">
          <a:xfrm>
            <a:off x="9270124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A5E09D-3EE8-4DFB-B602-502BF8A98474}"/>
              </a:ext>
            </a:extLst>
          </p:cNvPr>
          <p:cNvSpPr/>
          <p:nvPr/>
        </p:nvSpPr>
        <p:spPr bwMode="auto">
          <a:xfrm>
            <a:off x="592112" y="6154993"/>
            <a:ext cx="5204569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1D07B66C-66CF-7D9F-0314-0BA5D5EA4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4632326"/>
            <a:ext cx="2298700" cy="832692"/>
          </a:xfrm>
          <a:prstGeom prst="rect">
            <a:avLst/>
          </a:prstGeom>
        </p:spPr>
      </p:pic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3D29C9DE-B00C-7A44-056C-10407878E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661" y="4632326"/>
            <a:ext cx="2216603" cy="832692"/>
          </a:xfrm>
          <a:prstGeom prst="rect">
            <a:avLst/>
          </a:prstGeom>
        </p:spPr>
      </p:pic>
      <p:pic>
        <p:nvPicPr>
          <p:cNvPr id="13" name="Picture 12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A5EFCB47-B6A6-34CD-C516-81621CCAE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661" y="5525135"/>
            <a:ext cx="2216603" cy="909056"/>
          </a:xfrm>
          <a:prstGeom prst="rect">
            <a:avLst/>
          </a:prstGeom>
        </p:spPr>
      </p:pic>
      <p:pic>
        <p:nvPicPr>
          <p:cNvPr id="15" name="Picture 14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1DC0294F-62D7-D431-A705-8884614131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5534026"/>
            <a:ext cx="2300422" cy="90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79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构造的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u_short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2045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unsigned short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k1, k2, k3, k4, k5, k6;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k1 = 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k2 = 70000;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k3 = -12345;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k4 = -1;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k5 = -65535;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k6 = -65536;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k4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k5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k6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3" y="1323974"/>
            <a:ext cx="610004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贴图即可（有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还有贴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），不需要写分析结果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12345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k1= 12345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70000↙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k2=4464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-12345↙</a:t>
            </a:r>
            <a:r>
              <a:rPr kumimoji="1" lang="zh-CN" altLang="en-US" sz="1600" b="1" dirty="0">
                <a:latin typeface="+mn-ea"/>
              </a:rPr>
              <a:t>（负数但未超过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k3=53197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-1↙    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k4=65535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-65535↙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k5=1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6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-65536↙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u_short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对应本例的</a:t>
            </a:r>
            <a:r>
              <a:rPr kumimoji="1" lang="en-US" altLang="zh-CN" sz="1600" b="1" dirty="0">
                <a:latin typeface="+mn-ea"/>
              </a:rPr>
              <a:t>k6=0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01199" y="6043294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6D54AF-7A00-44D3-BEAC-B2CCE0B4EBC8}"/>
              </a:ext>
            </a:extLst>
          </p:cNvPr>
          <p:cNvSpPr/>
          <p:nvPr/>
        </p:nvSpPr>
        <p:spPr bwMode="auto">
          <a:xfrm>
            <a:off x="3160557" y="1323973"/>
            <a:ext cx="26361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short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short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F46BC3-FB73-047A-4272-107DD16C3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098" y="2724150"/>
            <a:ext cx="1130300" cy="1714500"/>
          </a:xfrm>
          <a:prstGeom prst="rect">
            <a:avLst/>
          </a:prstGeom>
        </p:spPr>
      </p:pic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E099CB3-0F37-A054-57B0-64996DD5D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619" y="2711450"/>
            <a:ext cx="9525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42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，自行构造不同测试数据，观察不同输入下的运行结果（贴图在清晰可辨的情况下尽可能小）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52045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unsigned int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&gt;&gt;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"k=" &lt;&lt;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good()="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" fail()="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cin.fail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()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796684" y="1323974"/>
            <a:ext cx="610956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贴图即可，不需要写分析结果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 </a:t>
            </a:r>
            <a:r>
              <a:rPr kumimoji="1" lang="zh-CN" altLang="en-US" sz="1600" b="1" dirty="0">
                <a:latin typeface="+mn-ea"/>
              </a:rPr>
              <a:t>（合理范围）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 （超上限）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（负数但未超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（负数且未超过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_____↙</a:t>
            </a:r>
            <a:r>
              <a:rPr kumimoji="1" lang="zh-CN" altLang="en-US" sz="1600" b="1" dirty="0">
                <a:latin typeface="+mn-ea"/>
              </a:rPr>
              <a:t>（负数且超过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A0A7D5-B0D7-457D-AC0F-6DDEF11D5DFA}"/>
              </a:ext>
            </a:extLst>
          </p:cNvPr>
          <p:cNvSpPr/>
          <p:nvPr/>
        </p:nvSpPr>
        <p:spPr bwMode="auto">
          <a:xfrm>
            <a:off x="9610725" y="5919018"/>
            <a:ext cx="2295525" cy="61513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FAA866-F2A8-4472-9C38-3DD113F17631}"/>
              </a:ext>
            </a:extLst>
          </p:cNvPr>
          <p:cNvSpPr/>
          <p:nvPr/>
        </p:nvSpPr>
        <p:spPr bwMode="auto">
          <a:xfrm>
            <a:off x="592113" y="4857749"/>
            <a:ext cx="5204571" cy="167639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结论：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多个输入中，编号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输入的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k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值是不可信的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F3CD21-A63C-4612-8061-61AC09EEECA7}"/>
              </a:ext>
            </a:extLst>
          </p:cNvPr>
          <p:cNvSpPr/>
          <p:nvPr/>
        </p:nvSpPr>
        <p:spPr bwMode="auto">
          <a:xfrm>
            <a:off x="9610724" y="1323973"/>
            <a:ext cx="2295525" cy="3905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u_int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=unsigned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A3F899-4F11-4204-B58C-4B1C2C6F2E27}"/>
              </a:ext>
            </a:extLst>
          </p:cNvPr>
          <p:cNvSpPr/>
          <p:nvPr/>
        </p:nvSpPr>
        <p:spPr bwMode="auto">
          <a:xfrm>
            <a:off x="592111" y="5919019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int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基本同 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unsigned short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，弄懂即可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本页可以不做，空着不扣分</a:t>
            </a:r>
          </a:p>
        </p:txBody>
      </p:sp>
    </p:spTree>
    <p:extLst>
      <p:ext uri="{BB962C8B-B14F-4D97-AF65-F5344CB8AC3E}">
        <p14:creationId xmlns:p14="http://schemas.microsoft.com/office/powerpoint/2010/main" val="681092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E-Compare.</a:t>
            </a:r>
            <a:r>
              <a:rPr lang="zh-CN" altLang="en-US" sz="1600" b="1" dirty="0">
                <a:latin typeface="+mn-ea"/>
              </a:rPr>
              <a:t>仿</a:t>
            </a:r>
            <a:r>
              <a:rPr lang="en-US" altLang="zh-CN" sz="1600" b="1" dirty="0">
                <a:latin typeface="+mn-ea"/>
              </a:rPr>
              <a:t>B-Compare</a:t>
            </a:r>
            <a:r>
              <a:rPr lang="zh-CN" altLang="en-US" sz="1600" b="1" dirty="0">
                <a:latin typeface="+mn-ea"/>
              </a:rPr>
              <a:t>，构造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对比</a:t>
            </a:r>
            <a:r>
              <a:rPr lang="zh-CN" altLang="en-US" sz="1600" b="1" dirty="0">
                <a:latin typeface="+mn-ea"/>
              </a:rPr>
              <a:t>程序（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输入与赋值，</a:t>
            </a:r>
            <a:r>
              <a:rPr lang="en-US" altLang="zh-CN" sz="1600" b="1" dirty="0" err="1">
                <a:latin typeface="+mn-ea"/>
              </a:rPr>
              <a:t>u_int</a:t>
            </a:r>
            <a:r>
              <a:rPr lang="zh-CN" altLang="en-US" sz="1600" b="1" dirty="0">
                <a:latin typeface="+mn-ea"/>
              </a:rPr>
              <a:t>型），观察运行结果并与</a:t>
            </a:r>
            <a:r>
              <a:rPr lang="en-US" altLang="zh-CN" sz="1600" b="1" dirty="0">
                <a:latin typeface="+mn-ea"/>
              </a:rPr>
              <a:t>E</a:t>
            </a:r>
            <a:r>
              <a:rPr lang="zh-CN" altLang="en-US" sz="1600" b="1" dirty="0">
                <a:latin typeface="+mn-ea"/>
              </a:rPr>
              <a:t>的输出结果进行对比分析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注：具体对比程序及输出结果等不要再贴图，自行完成即可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需要回答下列问题（回答问题不是完成作业，而是自己真的弄懂了概念后的总结） 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ED788C-5E8E-4501-B358-D977B6DCCC97}"/>
              </a:ext>
            </a:extLst>
          </p:cNvPr>
          <p:cNvSpPr/>
          <p:nvPr/>
        </p:nvSpPr>
        <p:spPr bwMode="auto">
          <a:xfrm>
            <a:off x="589541" y="2199872"/>
            <a:ext cx="10604640" cy="436455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赋值超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赋值为负数但未超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赋值为负数且未超过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上限加负号后的下限，两者是否一致？如果有区别，区别是？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赋值为负数负数且超过</a:t>
            </a:r>
            <a:r>
              <a:rPr kumimoji="1" lang="en-US" altLang="zh-CN" sz="1600" b="1" dirty="0" err="1">
                <a:latin typeface="+mn-ea"/>
              </a:rPr>
              <a:t>u_int</a:t>
            </a:r>
            <a:r>
              <a:rPr kumimoji="1" lang="zh-CN" altLang="en-US" sz="1600" b="1" dirty="0">
                <a:latin typeface="+mn-ea"/>
              </a:rPr>
              <a:t>上限加负号后的下限？如果有区别，区别是？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A3C1E-E76B-4667-9911-ECC541F32751}"/>
              </a:ext>
            </a:extLst>
          </p:cNvPr>
          <p:cNvSpPr/>
          <p:nvPr/>
        </p:nvSpPr>
        <p:spPr bwMode="auto">
          <a:xfrm>
            <a:off x="592111" y="5948515"/>
            <a:ext cx="5204569" cy="615129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int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基本同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unsigned short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，弄懂即可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本页可以不做，空着不扣分</a:t>
            </a:r>
          </a:p>
        </p:txBody>
      </p:sp>
    </p:spTree>
    <p:extLst>
      <p:ext uri="{BB962C8B-B14F-4D97-AF65-F5344CB8AC3E}">
        <p14:creationId xmlns:p14="http://schemas.microsoft.com/office/powerpoint/2010/main" val="637495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B-E.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名词解释：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输入正确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指数学上合法的数，但不代表一定在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C/C++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的某类型数据的数据范围内（下同）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2.B~2.E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，给出下列问题的分析及结论：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数据在输入正确且范围合理的情况下能够正确存储，数字可信。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数据在输入正确但超上限（未超同类型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上限）的情况下不能正常存储，而存储该类型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上限）的情况下不能正常存储，而存储该类型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数据在输入正确但超下限范围的情况下不能正常存储，而存储该类型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数据在输入正确且范围合理的情况下能够正确存储，数字可信。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数据在输入正确且超上限的情况下不能正常存储，而存储该类型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7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数据在输入正确但为负数（未超同类型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下限）的情况下不能正常存储，而存储该类型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8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下限）的情况下不能正常存储，而存储该类型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数据在输入正确且为负数（超过同类型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上限加负号后的下限）的情况下不能正常存储，而存储该类型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unsigned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上限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对比：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右值超范围的情况下，表现是否相同？总结规律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zh-CN" altLang="en-US" sz="1600" b="1" dirty="0">
                <a:latin typeface="+mn-ea"/>
              </a:rPr>
              <a:t>答：不同，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取上下限，赋值则取相应的位数。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输入与变量赋值，在输入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右值合理范围的情况下，表现是否相同？总结规律 </a:t>
            </a:r>
            <a:r>
              <a:rPr kumimoji="1" lang="zh-CN" altLang="en-US" sz="1600" b="1" dirty="0">
                <a:latin typeface="+mn-ea"/>
              </a:rPr>
              <a:t>答：相同，都能存</a:t>
            </a:r>
            <a:r>
              <a:rPr kumimoji="1" lang="zh-CN" altLang="en-US" sz="1600" b="1">
                <a:latin typeface="+mn-ea"/>
              </a:rPr>
              <a:t>住正确值。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4811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12FC54-E1BA-4398-BA3F-4548284A6D55}"/>
              </a:ext>
            </a:extLst>
          </p:cNvPr>
          <p:cNvSpPr/>
          <p:nvPr/>
        </p:nvSpPr>
        <p:spPr bwMode="auto">
          <a:xfrm>
            <a:off x="592113" y="1323975"/>
            <a:ext cx="401838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="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BE0F45-262C-4875-BBD6-52A6431F363D}"/>
              </a:ext>
            </a:extLst>
          </p:cNvPr>
          <p:cNvSpPr/>
          <p:nvPr/>
        </p:nvSpPr>
        <p:spPr bwMode="auto">
          <a:xfrm>
            <a:off x="4610501" y="1323974"/>
            <a:ext cx="62249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（单个图形字符）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\b</a:t>
            </a:r>
            <a:r>
              <a:rPr lang="zh-CN" altLang="en-US" sz="1200" b="1" dirty="0">
                <a:latin typeface="+mn-ea"/>
              </a:rPr>
              <a:t>（退格键的转义符）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\101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\x41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</a:t>
            </a:r>
            <a:r>
              <a:rPr lang="en-US" altLang="zh-CN" sz="1200" b="1" dirty="0">
                <a:latin typeface="+mn-ea"/>
              </a:rPr>
              <a:t>16</a:t>
            </a:r>
            <a:r>
              <a:rPr lang="zh-CN" altLang="en-US" sz="1200" b="1" dirty="0">
                <a:latin typeface="+mn-ea"/>
              </a:rPr>
              <a:t>进制转义表示）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65</a:t>
            </a:r>
            <a:r>
              <a:rPr lang="zh-CN" altLang="en-US" sz="1200" b="1" dirty="0">
                <a:latin typeface="+mn-ea"/>
              </a:rPr>
              <a:t>（</a:t>
            </a:r>
            <a:r>
              <a:rPr lang="en-US" altLang="zh-CN" sz="1200" b="1" dirty="0">
                <a:latin typeface="+mn-ea"/>
              </a:rPr>
              <a:t>A</a:t>
            </a:r>
            <a:r>
              <a:rPr lang="zh-CN" altLang="en-US" sz="1200" b="1" dirty="0">
                <a:latin typeface="+mn-ea"/>
              </a:rPr>
              <a:t>的</a:t>
            </a:r>
            <a:r>
              <a:rPr lang="en-US" altLang="zh-CN" sz="1200" b="1" dirty="0">
                <a:latin typeface="+mn-ea"/>
              </a:rPr>
              <a:t>ASCII</a:t>
            </a:r>
            <a:r>
              <a:rPr lang="zh-CN" altLang="en-US" sz="1200" b="1" dirty="0">
                <a:latin typeface="+mn-ea"/>
              </a:rPr>
              <a:t>码的十进制整数形式表示）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Ctrl+C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（注意：是</a:t>
            </a:r>
            <a:r>
              <a:rPr lang="en-US" altLang="zh-CN" sz="1200" b="1" dirty="0" err="1">
                <a:latin typeface="+mn-ea"/>
              </a:rPr>
              <a:t>Ctrl+z</a:t>
            </a:r>
            <a:r>
              <a:rPr lang="zh-CN" altLang="en-US" sz="1200" b="1" dirty="0">
                <a:latin typeface="+mn-ea"/>
              </a:rPr>
              <a:t>组合键，注意不要有输入法栏）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08B77F-13F5-402A-BF18-DA9CC95FC05F}"/>
              </a:ext>
            </a:extLst>
          </p:cNvPr>
          <p:cNvSpPr/>
          <p:nvPr/>
        </p:nvSpPr>
        <p:spPr bwMode="auto">
          <a:xfrm>
            <a:off x="592114" y="6154994"/>
            <a:ext cx="4018387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1EA5BF-11CB-655F-081D-1659B8BDD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167" y="1472565"/>
            <a:ext cx="990600" cy="10541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FCD4F9-731D-26E2-080D-CC7A65223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167" y="2758757"/>
            <a:ext cx="990600" cy="1181100"/>
          </a:xfrm>
          <a:prstGeom prst="rect">
            <a:avLst/>
          </a:prstGeom>
        </p:spPr>
      </p:pic>
      <p:pic>
        <p:nvPicPr>
          <p:cNvPr id="12" name="Picture 11" descr="A black background with white text and a purple square with white text&#10;&#10;AI-generated content may be incorrect.">
            <a:extLst>
              <a:ext uri="{FF2B5EF4-FFF2-40B4-BE49-F238E27FC236}">
                <a16:creationId xmlns:a16="http://schemas.microsoft.com/office/drawing/2014/main" id="{6C87B846-38B9-3E29-8E0D-04D6E9703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167" y="4246878"/>
            <a:ext cx="10033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81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单数据情况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G.</a:t>
            </a:r>
            <a:r>
              <a:rPr lang="zh-CN" altLang="en-US" sz="1600" b="1" dirty="0">
                <a:latin typeface="+mn-ea"/>
              </a:rPr>
              <a:t>运行下面的程序，观察不同输入下的运行结果（贴图在清晰可辨的情况下尽可能小）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12FC54-E1BA-4398-BA3F-4548284A6D55}"/>
              </a:ext>
            </a:extLst>
          </p:cNvPr>
          <p:cNvSpPr/>
          <p:nvPr/>
        </p:nvSpPr>
        <p:spPr bwMode="auto">
          <a:xfrm>
            <a:off x="592113" y="1323975"/>
            <a:ext cx="455740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f;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cin.good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&lt;&lt; ' ' &lt;&lt; f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f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注：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setprecision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(20)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表示输出时保留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    20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位有效位数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  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（已超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float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double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的有效位数）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BE0F45-262C-4875-BBD6-52A6431F363D}"/>
              </a:ext>
            </a:extLst>
          </p:cNvPr>
          <p:cNvSpPr/>
          <p:nvPr/>
        </p:nvSpPr>
        <p:spPr bwMode="auto">
          <a:xfrm>
            <a:off x="5149516" y="1323974"/>
            <a:ext cx="568589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</a:t>
            </a:r>
            <a:r>
              <a:rPr lang="zh-CN" altLang="en-US" sz="1200" b="1" dirty="0">
                <a:latin typeface="+mn-ea"/>
              </a:rPr>
              <a:t> （合理范围正数，小数形式）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1.23456e2</a:t>
            </a:r>
            <a:r>
              <a:rPr lang="zh-CN" altLang="en-US" sz="1200" b="1" dirty="0">
                <a:latin typeface="+mn-ea"/>
              </a:rPr>
              <a:t> （合理范围正数，指数形式）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3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-123.456</a:t>
            </a:r>
            <a:r>
              <a:rPr lang="zh-CN" altLang="en-US" sz="1200" b="1" dirty="0">
                <a:latin typeface="+mn-ea"/>
              </a:rPr>
              <a:t>（合理范围负数，小数形式）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4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-1.23456e2</a:t>
            </a:r>
            <a:r>
              <a:rPr lang="zh-CN" altLang="en-US" sz="1200" b="1" dirty="0">
                <a:latin typeface="+mn-ea"/>
              </a:rPr>
              <a:t> （合理范围负数，指数形式）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5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123.456789</a:t>
            </a:r>
            <a:r>
              <a:rPr lang="zh-CN" altLang="en-US" sz="1200" b="1" dirty="0">
                <a:latin typeface="+mn-ea"/>
              </a:rPr>
              <a:t>（合理范围，但超有效位数）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6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6.7e38</a:t>
            </a:r>
            <a:r>
              <a:rPr lang="zh-CN" altLang="en-US" sz="1200" b="1" dirty="0">
                <a:latin typeface="+mn-ea"/>
              </a:rPr>
              <a:t>（尾数超上限但数量级未超，仍是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1.7e39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8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-2.3e39</a:t>
            </a:r>
            <a:r>
              <a:rPr lang="zh-CN" altLang="en-US" sz="1200" b="1" dirty="0">
                <a:latin typeface="+mn-ea"/>
              </a:rPr>
              <a:t>（超上限且数量级已超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en-US" altLang="zh-CN" sz="1200" b="1" baseline="30000" dirty="0">
                <a:latin typeface="+mn-ea"/>
              </a:rPr>
              <a:t>38</a:t>
            </a:r>
            <a:r>
              <a:rPr lang="zh-CN" altLang="en-US" sz="1200" b="1" dirty="0">
                <a:latin typeface="+mn-ea"/>
              </a:rPr>
              <a:t>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9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1.23e-30</a:t>
            </a:r>
            <a:r>
              <a:rPr lang="zh-CN" altLang="en-US" sz="1200" b="1" dirty="0">
                <a:latin typeface="+mn-ea"/>
              </a:rPr>
              <a:t>（合理范围整数但指数很小）</a:t>
            </a: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</a:rPr>
              <a:t>10</a:t>
            </a:r>
            <a:r>
              <a:rPr lang="zh-CN" altLang="en-US" sz="1200" b="1" dirty="0">
                <a:latin typeface="+mn-ea"/>
              </a:rPr>
              <a:t>、键盘输入</a:t>
            </a:r>
            <a:r>
              <a:rPr lang="en-US" altLang="zh-CN" sz="1200" b="1" dirty="0">
                <a:latin typeface="+mn-ea"/>
              </a:rPr>
              <a:t>-1.23e-30</a:t>
            </a:r>
            <a:r>
              <a:rPr lang="zh-CN" altLang="en-US" sz="1200" b="1" dirty="0">
                <a:latin typeface="+mn-ea"/>
              </a:rPr>
              <a:t>（合理范围负数但指数很小）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000F5E-C221-4C0D-B4F7-5C8AC62F384A}"/>
              </a:ext>
            </a:extLst>
          </p:cNvPr>
          <p:cNvSpPr/>
          <p:nvPr/>
        </p:nvSpPr>
        <p:spPr bwMode="auto">
          <a:xfrm>
            <a:off x="592114" y="6154994"/>
            <a:ext cx="4557402" cy="37915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Picture 5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B2735C4C-A5BC-F428-C91F-6EA474B6F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546" y="1323973"/>
            <a:ext cx="2336800" cy="10922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4255B4-0FF7-1F8F-22E2-590D9DEEC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387" y="2459986"/>
            <a:ext cx="2349500" cy="11176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94CA35-9921-9DEF-242F-F4EDD970A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387" y="3765550"/>
            <a:ext cx="1117600" cy="1104900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A6EE25F-EFED-DCFB-B35E-3FF4EF1F4A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263" y="5194302"/>
            <a:ext cx="26289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05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2779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个程序的运行结果，回答问题并将各程序的运行结果截图贴上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8DC93-E504-4A58-84B5-003464006EAB}"/>
              </a:ext>
            </a:extLst>
          </p:cNvPr>
          <p:cNvSpPr/>
          <p:nvPr/>
        </p:nvSpPr>
        <p:spPr bwMode="auto">
          <a:xfrm>
            <a:off x="3948760" y="1323975"/>
            <a:ext cx="314572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&gt;&gt; 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&gt;&gt; 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F42479-BADA-4FA0-A5C5-86FA280CFD24}"/>
              </a:ext>
            </a:extLst>
          </p:cNvPr>
          <p:cNvSpPr/>
          <p:nvPr/>
        </p:nvSpPr>
        <p:spPr bwMode="auto">
          <a:xfrm>
            <a:off x="7094482" y="1323974"/>
            <a:ext cx="374496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88075" y="5665075"/>
            <a:ext cx="10247336" cy="8690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、程序运行后，输入：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/>
              </a:rPr>
              <a:t>↙</a:t>
            </a:r>
            <a:r>
              <a:rPr kumimoji="1" lang="zh-CN" altLang="en-US" sz="1600" b="1" dirty="0">
                <a:latin typeface="宋体"/>
              </a:rPr>
              <a:t>，观察输出结果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、解释第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个和第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个程序的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cin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语句的使用区别：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答：第二个程序在一条语句连续读入四个变量，第三个程序将四个变量分四次在四条语句内读取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65B59E-EF9B-B41B-1DAE-B186A9B3E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258" y="4082654"/>
            <a:ext cx="952500" cy="14732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4FBE66-EF9A-C79E-98A6-99C7933C3D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368" y="1957825"/>
            <a:ext cx="927100" cy="153670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C2CC3D-617B-6A7E-8146-A5CF062E1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5704" y="1957825"/>
            <a:ext cx="8890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62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1   2   3   4</a:t>
            </a:r>
            <a:r>
              <a:rPr kumimoji="1" lang="en-US" altLang="zh-CN" sz="1600" b="1" dirty="0">
                <a:latin typeface="宋体"/>
              </a:rPr>
              <a:t>↙(</a:t>
            </a:r>
            <a:r>
              <a:rPr kumimoji="1" lang="zh-CN" altLang="en-US" sz="1600" b="1" dirty="0">
                <a:latin typeface="宋体"/>
              </a:rPr>
              <a:t>每个数字间多于一个空格</a:t>
            </a:r>
            <a:r>
              <a:rPr kumimoji="1" lang="en-US" altLang="zh-CN" sz="1600" b="1" dirty="0"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3↙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/>
              </a:rPr>
              <a:t>↙ (</a:t>
            </a:r>
            <a:r>
              <a:rPr kumimoji="1" lang="zh-CN" altLang="en-US" sz="1600" b="1" dirty="0">
                <a:latin typeface="宋体"/>
              </a:rPr>
              <a:t>每个数字后立即加回车</a:t>
            </a:r>
            <a:r>
              <a:rPr kumimoji="1" lang="en-US" altLang="zh-CN" sz="1600" b="1" dirty="0"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2</a:t>
            </a:r>
            <a:r>
              <a:rPr kumimoji="1" lang="en-US" altLang="zh-CN" sz="1600" b="1" dirty="0">
                <a:latin typeface="宋体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3↙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        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4</a:t>
            </a:r>
            <a:r>
              <a:rPr kumimoji="1" lang="en-US" altLang="zh-CN" sz="1600" b="1" dirty="0">
                <a:latin typeface="宋体"/>
              </a:rPr>
              <a:t>↙ (</a:t>
            </a:r>
            <a:r>
              <a:rPr kumimoji="1" lang="zh-CN" altLang="en-US" sz="1600" b="1" dirty="0">
                <a:latin typeface="宋体"/>
              </a:rPr>
              <a:t>每个数字后立即加回车 </a:t>
            </a:r>
            <a:r>
              <a:rPr kumimoji="1" lang="en-US" altLang="zh-CN" sz="1600" b="1" dirty="0">
                <a:latin typeface="宋体"/>
              </a:rPr>
              <a:t>+ </a:t>
            </a:r>
            <a:r>
              <a:rPr kumimoji="1" lang="zh-CN" altLang="en-US" sz="1600" b="1" dirty="0">
                <a:latin typeface="宋体"/>
              </a:rPr>
              <a:t>多个空回车</a:t>
            </a:r>
            <a:r>
              <a:rPr kumimoji="1" lang="en-US" altLang="zh-CN" sz="1600" b="1" dirty="0">
                <a:latin typeface="宋体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结论：在输入正确的情况下，回车和空格的作用？分隔数据。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ED2216-CA2C-47F1-AE0D-5A13693DCB2F}"/>
              </a:ext>
            </a:extLst>
          </p:cNvPr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Picture 6" descr="A black screen with white numbers&#10;&#10;AI-generated content may be incorrect.">
            <a:extLst>
              <a:ext uri="{FF2B5EF4-FFF2-40B4-BE49-F238E27FC236}">
                <a16:creationId xmlns:a16="http://schemas.microsoft.com/office/drawing/2014/main" id="{09DE210D-4476-D17E-CCAC-2814101C1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804" y="3506788"/>
            <a:ext cx="1003300" cy="21971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DD7559-ABEA-C823-E862-7D040652F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804" y="1789113"/>
            <a:ext cx="16129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71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程序同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c,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 &gt;&gt;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2 3 4m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3m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2m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1m 2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3 m↙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2 m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1 m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m 2 3 4↙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总结：多个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输入时，错误输入出现在不同位置对输入正确性的影响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要求：综合观察运行结果，加上自己的思考，给出总结性的结论，这个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      而不仅仅是简单的根据结论说错在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1/2/3/4</a:t>
            </a:r>
            <a:r>
              <a:rPr kumimoji="1" lang="zh-CN" altLang="en-US" sz="16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6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 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答：从非法输入之后的输入数据（若有）都不可信，其之前的可信。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578CC7-F3C0-4CC1-9EC8-7E50B139F8D9}"/>
              </a:ext>
            </a:extLst>
          </p:cNvPr>
          <p:cNvSpPr/>
          <p:nvPr/>
        </p:nvSpPr>
        <p:spPr bwMode="auto">
          <a:xfrm>
            <a:off x="592114" y="5899355"/>
            <a:ext cx="3362437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2BEF46-5FDA-E4CC-7020-A67CE8A0C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450" y="2800350"/>
            <a:ext cx="1358900" cy="14605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7DB882-E53F-EEDC-278D-FA91BFD568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452" y="2835275"/>
            <a:ext cx="1054100" cy="14732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DFB95A-DE60-05D1-E08D-0BFDA389F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450" y="1352550"/>
            <a:ext cx="1155700" cy="144780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63FD3D-E158-46E9-4556-F08E72178F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0" y="1365250"/>
            <a:ext cx="13081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16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F2AA7E-8DB2-427E-B681-F6EB24E58864}"/>
              </a:ext>
            </a:extLst>
          </p:cNvPr>
          <p:cNvSpPr/>
          <p:nvPr/>
        </p:nvSpPr>
        <p:spPr bwMode="auto">
          <a:xfrm>
            <a:off x="592114" y="1323975"/>
            <a:ext cx="385475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"a=" &lt;&lt; int(a)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"b=" &lt;&lt; int(b)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"c=" &lt;&lt; int(c)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F31801-29C7-4DED-9652-F1280D13187E}"/>
              </a:ext>
            </a:extLst>
          </p:cNvPr>
          <p:cNvSpPr/>
          <p:nvPr/>
        </p:nvSpPr>
        <p:spPr bwMode="auto">
          <a:xfrm>
            <a:off x="4446872" y="1323974"/>
            <a:ext cx="638853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XYZ↙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X YZ↙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  (</a:t>
            </a:r>
            <a:r>
              <a:rPr kumimoji="1" lang="zh-CN" altLang="en-US" sz="1200" b="1" dirty="0">
                <a:latin typeface="+mn-ea"/>
              </a:rPr>
              <a:t>表示按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组合键，注意不要有输入法栏，下同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en-US" altLang="zh-CN" sz="1200" b="1" dirty="0">
                <a:latin typeface="+mn-ea"/>
              </a:rPr>
              <a:t>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7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>
                <a:latin typeface="+mn-ea"/>
              </a:rPr>
              <a:t>↙   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8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200" b="1" dirty="0" err="1">
                <a:latin typeface="+mn-ea"/>
              </a:rPr>
              <a:t>XYZ</a:t>
            </a:r>
            <a:r>
              <a:rPr kumimoji="1" lang="en-US" altLang="zh-CN" sz="1200" b="1" dirty="0">
                <a:latin typeface="+mn-ea"/>
              </a:rPr>
              <a:t>↙</a:t>
            </a:r>
            <a:r>
              <a:rPr kumimoji="1" lang="zh-CN" altLang="en-US" sz="1200" b="1" dirty="0">
                <a:latin typeface="+mn-ea"/>
              </a:rPr>
              <a:t>（若未出结果则继续输入，可以按回车后多行输入，打印后观察结果）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</a:t>
            </a:r>
            <a:r>
              <a:rPr kumimoji="1" lang="en-US" altLang="zh-CN" sz="1200" b="1" dirty="0">
                <a:latin typeface="+mn-ea"/>
              </a:rPr>
              <a:t>char</a:t>
            </a:r>
            <a:r>
              <a:rPr kumimoji="1" lang="zh-CN" altLang="en-US" sz="1200" b="1" dirty="0">
                <a:latin typeface="+mn-ea"/>
              </a:rPr>
              <a:t>型数据时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、能否输入空格 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答：不能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Ctrl+C</a:t>
            </a:r>
            <a:r>
              <a:rPr kumimoji="1" lang="zh-CN" altLang="en-US" sz="1200" b="1" dirty="0">
                <a:latin typeface="+mn-ea"/>
              </a:rPr>
              <a:t>在输入中表示什么？（可自行查阅资料，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若资料与表现不符，信哪个？</a:t>
            </a:r>
            <a:r>
              <a:rPr kumimoji="1" lang="zh-CN" altLang="en-US" sz="1200" b="1" dirty="0">
                <a:latin typeface="+mn-ea"/>
              </a:rPr>
              <a:t>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答：强制中断程序，立刻停止。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Ctrl+z</a:t>
            </a:r>
            <a:r>
              <a:rPr kumimoji="1" lang="zh-CN" altLang="en-US" sz="1200" b="1" dirty="0">
                <a:latin typeface="+mn-ea"/>
              </a:rPr>
              <a:t>在输入中表示什么？（可自行查阅资料，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若资料与表现不符，信哪个？</a:t>
            </a:r>
            <a:r>
              <a:rPr kumimoji="1" lang="zh-CN" altLang="en-US" sz="1200" b="1" dirty="0">
                <a:latin typeface="+mn-ea"/>
              </a:rPr>
              <a:t>）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答：暂停程序，维持挂起状态。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</a:t>
            </a:r>
            <a:r>
              <a:rPr kumimoji="1" lang="en-US" altLang="zh-CN" sz="1200" b="1" dirty="0" err="1">
                <a:latin typeface="+mn-ea"/>
              </a:rPr>
              <a:t>Ctrl+z</a:t>
            </a:r>
            <a:r>
              <a:rPr kumimoji="1" lang="zh-CN" altLang="en-US" sz="1200" b="1" dirty="0">
                <a:latin typeface="+mn-ea"/>
              </a:rPr>
              <a:t>后不按回车而继续输入的其它字符，能否被读入？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答：不能被读入。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800CF5-54BC-44DE-B243-1DA188E08382}"/>
              </a:ext>
            </a:extLst>
          </p:cNvPr>
          <p:cNvSpPr/>
          <p:nvPr/>
        </p:nvSpPr>
        <p:spPr bwMode="auto">
          <a:xfrm>
            <a:off x="592113" y="5899355"/>
            <a:ext cx="3854759" cy="63479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全部做一遍，任选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题截图即可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多截不限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9D2DC4-A9AA-1BEE-023C-C90DE9AAE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350" y="2323465"/>
            <a:ext cx="1130300" cy="10795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2109F0-87C8-0227-65F4-0CD65A9D06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711" y="1323973"/>
            <a:ext cx="1155700" cy="12700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5EEC19-2456-09F9-84EC-0BD40F201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3871911"/>
            <a:ext cx="99060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96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多个同类型数据的情况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自行构造测试数据，观察不同输入下的运行结果（贴图在清晰可辨的情况下尽可能小）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6D4EED-E461-4B7D-BD56-DA9F1A3BA43A}"/>
              </a:ext>
            </a:extLst>
          </p:cNvPr>
          <p:cNvSpPr/>
          <p:nvPr/>
        </p:nvSpPr>
        <p:spPr bwMode="auto">
          <a:xfrm>
            <a:off x="592113" y="1323975"/>
            <a:ext cx="45285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float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b &gt;&gt;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"a="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"b="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"c="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setprecision</a:t>
            </a:r>
            <a:r>
              <a:rPr lang="en-US" altLang="zh-CN" sz="1600" b="1" dirty="0">
                <a:latin typeface="+mn-ea"/>
              </a:rPr>
              <a:t>(20) &lt;&lt; c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A52329-F404-4190-A468-7F166A5A5AD4}"/>
              </a:ext>
            </a:extLst>
          </p:cNvPr>
          <p:cNvSpPr/>
          <p:nvPr/>
        </p:nvSpPr>
        <p:spPr bwMode="auto">
          <a:xfrm>
            <a:off x="5120640" y="1323974"/>
            <a:ext cx="57147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u="sng" dirty="0">
                <a:latin typeface="+mn-ea"/>
              </a:rPr>
              <a:t>1e39 1e38 1.2e38</a:t>
            </a:r>
            <a:r>
              <a:rPr kumimoji="1" lang="en-US" altLang="zh-CN" sz="1200" b="1" dirty="0">
                <a:latin typeface="+mn-ea"/>
              </a:rPr>
              <a:t>_____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（第</a:t>
            </a:r>
            <a:r>
              <a:rPr kumimoji="1" lang="en-US" altLang="zh-CN" sz="1200" b="1" dirty="0">
                <a:latin typeface="宋体"/>
              </a:rPr>
              <a:t>1</a:t>
            </a:r>
            <a:r>
              <a:rPr kumimoji="1" lang="zh-CN" altLang="en-US" sz="1200" b="1" dirty="0">
                <a:latin typeface="宋体"/>
              </a:rPr>
              <a:t>个超上限，</a:t>
            </a:r>
            <a:r>
              <a:rPr kumimoji="1" lang="en-US" altLang="zh-CN" sz="1200" b="1" dirty="0">
                <a:latin typeface="宋体"/>
              </a:rPr>
              <a:t>2/3</a:t>
            </a:r>
            <a:r>
              <a:rPr kumimoji="1" lang="zh-CN" altLang="en-US" sz="1200" b="1" dirty="0">
                <a:latin typeface="宋体"/>
              </a:rPr>
              <a:t>正常）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en-US" altLang="zh-CN" sz="1200" b="1" u="sng" dirty="0">
                <a:latin typeface="+mn-ea"/>
              </a:rPr>
              <a:t> -1e39 -1e38 1e38 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（第</a:t>
            </a:r>
            <a:r>
              <a:rPr kumimoji="1" lang="en-US" altLang="zh-CN" sz="1200" b="1" dirty="0">
                <a:latin typeface="宋体"/>
              </a:rPr>
              <a:t>1</a:t>
            </a:r>
            <a:r>
              <a:rPr kumimoji="1" lang="zh-CN" altLang="en-US" sz="1200" b="1" dirty="0">
                <a:latin typeface="宋体"/>
              </a:rPr>
              <a:t>个超下限，</a:t>
            </a:r>
            <a:r>
              <a:rPr kumimoji="1" lang="en-US" altLang="zh-CN" sz="1200" b="1" dirty="0">
                <a:latin typeface="宋体"/>
              </a:rPr>
              <a:t>2/3</a:t>
            </a:r>
            <a:r>
              <a:rPr kumimoji="1" lang="zh-CN" altLang="en-US" sz="1200" b="1" dirty="0">
                <a:latin typeface="宋体"/>
              </a:rPr>
              <a:t>正常）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u="sng" dirty="0">
                <a:latin typeface="+mn-ea"/>
              </a:rPr>
              <a:t> 1e38 1e39 1.2e38 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1/3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2</a:t>
            </a:r>
            <a:r>
              <a:rPr kumimoji="1" lang="zh-CN" altLang="en-US" sz="1200" b="1" dirty="0">
                <a:latin typeface="宋体"/>
              </a:rPr>
              <a:t>个超上限）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u="sng" dirty="0">
                <a:latin typeface="+mn-ea"/>
              </a:rPr>
              <a:t> -1e38 -1e39 1e38 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1/3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2</a:t>
            </a:r>
            <a:r>
              <a:rPr kumimoji="1" lang="zh-CN" altLang="en-US" sz="1200" b="1" dirty="0">
                <a:latin typeface="宋体"/>
              </a:rPr>
              <a:t>个超下限）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5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en-US" altLang="zh-CN" sz="1200" b="1" u="sng" dirty="0">
                <a:latin typeface="+mn-ea"/>
              </a:rPr>
              <a:t> 1.2e38 1e38 1e39 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1/2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3</a:t>
            </a:r>
            <a:r>
              <a:rPr kumimoji="1" lang="zh-CN" altLang="en-US" sz="1200" b="1" dirty="0">
                <a:latin typeface="宋体"/>
              </a:rPr>
              <a:t>个超上限）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6</a:t>
            </a:r>
            <a:r>
              <a:rPr kumimoji="1" lang="zh-CN" altLang="en-US" sz="1200" b="1" dirty="0">
                <a:latin typeface="+mn-ea"/>
              </a:rPr>
              <a:t>、输入：</a:t>
            </a:r>
            <a:r>
              <a:rPr kumimoji="1" lang="en-US" altLang="zh-CN" sz="1200" b="1" dirty="0">
                <a:latin typeface="+mn-ea"/>
              </a:rPr>
              <a:t>___</a:t>
            </a:r>
            <a:r>
              <a:rPr kumimoji="1" lang="en-US" altLang="zh-CN" sz="1200" b="1" u="sng" dirty="0">
                <a:latin typeface="+mn-ea"/>
              </a:rPr>
              <a:t> 1e38 -1e38 -1e39 </a:t>
            </a:r>
            <a:r>
              <a:rPr kumimoji="1" lang="en-US" altLang="zh-CN" sz="1200" b="1" dirty="0">
                <a:latin typeface="+mn-ea"/>
              </a:rPr>
              <a:t>____</a:t>
            </a:r>
            <a:r>
              <a:rPr kumimoji="1" lang="en-US" altLang="zh-CN" sz="1200" b="1" dirty="0">
                <a:latin typeface="宋体"/>
              </a:rPr>
              <a:t>↙ </a:t>
            </a:r>
            <a:r>
              <a:rPr kumimoji="1" lang="zh-CN" altLang="en-US" sz="1200" b="1" dirty="0">
                <a:latin typeface="宋体"/>
              </a:rPr>
              <a:t>（</a:t>
            </a:r>
            <a:r>
              <a:rPr kumimoji="1" lang="en-US" altLang="zh-CN" sz="1200" b="1" dirty="0">
                <a:latin typeface="宋体"/>
              </a:rPr>
              <a:t>1/2</a:t>
            </a:r>
            <a:r>
              <a:rPr kumimoji="1" lang="zh-CN" altLang="en-US" sz="1200" b="1" dirty="0">
                <a:latin typeface="宋体"/>
              </a:rPr>
              <a:t>正常，第</a:t>
            </a:r>
            <a:r>
              <a:rPr kumimoji="1" lang="en-US" altLang="zh-CN" sz="1200" b="1" dirty="0">
                <a:latin typeface="宋体"/>
              </a:rPr>
              <a:t>3</a:t>
            </a:r>
            <a:r>
              <a:rPr kumimoji="1" lang="zh-CN" altLang="en-US" sz="1200" b="1" dirty="0">
                <a:latin typeface="宋体"/>
              </a:rPr>
              <a:t>个超下限）</a:t>
            </a: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总结：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、多个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输入时，错误输入出现在不同位置对输入正确性的影响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要求：综合观察运行结果，加上自己的思考，给出总结性的结论，这个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  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结论要能对多个输入情况下不同位置的错误情况有普遍适应性，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         而不仅仅是简单的根据结论说错在</a:t>
            </a: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1/2/3</a:t>
            </a:r>
            <a:r>
              <a:rPr kumimoji="1" lang="zh-CN" altLang="en-US" sz="1200" b="1" dirty="0">
                <a:solidFill>
                  <a:srgbClr val="0000CC"/>
                </a:solidFill>
                <a:latin typeface="+mn-ea"/>
              </a:rPr>
              <a:t>位置</a:t>
            </a:r>
            <a:endParaRPr kumimoji="1" lang="en-US" altLang="zh-CN" sz="1200" b="1" dirty="0">
              <a:solidFill>
                <a:srgbClr val="0000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CC"/>
                </a:solidFill>
                <a:latin typeface="+mn-ea"/>
              </a:rPr>
              <a:t>     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（提示：从什么位置开始值不可信？）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答：从</a:t>
            </a:r>
            <a:r>
              <a:rPr kumimoji="1" lang="zh-CN" altLang="en-CN" sz="1200" b="1" dirty="0">
                <a:latin typeface="+mn-ea"/>
              </a:rPr>
              <a:t>第一个超限</a:t>
            </a:r>
            <a:r>
              <a:rPr kumimoji="1" lang="zh-CN" altLang="en-US" sz="1200" b="1" dirty="0">
                <a:latin typeface="+mn-ea"/>
              </a:rPr>
              <a:t>数据开始后的数据不可信。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、将</a:t>
            </a:r>
            <a:r>
              <a:rPr kumimoji="1" lang="en-US" altLang="zh-CN" sz="1200" b="1" dirty="0">
                <a:latin typeface="+mn-ea"/>
              </a:rPr>
              <a:t>float</a:t>
            </a:r>
            <a:r>
              <a:rPr kumimoji="1" lang="zh-CN" altLang="en-US" sz="1200" b="1" dirty="0">
                <a:latin typeface="+mn-ea"/>
              </a:rPr>
              <a:t>替换为</a:t>
            </a:r>
            <a:r>
              <a:rPr kumimoji="1" lang="en-US" altLang="zh-CN" sz="1200" b="1" dirty="0">
                <a:latin typeface="+mn-ea"/>
              </a:rPr>
              <a:t>double</a:t>
            </a:r>
            <a:r>
              <a:rPr kumimoji="1" lang="zh-CN" altLang="en-US" sz="1200" b="1" dirty="0">
                <a:latin typeface="+mn-ea"/>
              </a:rPr>
              <a:t>，上述结论是否仍然成立？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答：成立。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673423-433A-4315-B2A4-DADF5ABFC8AB}"/>
              </a:ext>
            </a:extLst>
          </p:cNvPr>
          <p:cNvSpPr/>
          <p:nvPr/>
        </p:nvSpPr>
        <p:spPr bwMode="auto">
          <a:xfrm>
            <a:off x="592113" y="6223819"/>
            <a:ext cx="4528527" cy="310331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全部做一遍，任选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题截图即可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多截不限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)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84E160-8F5E-A487-97B9-2F049DF46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194" y="1323973"/>
            <a:ext cx="1538693" cy="1478352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7B4331F-E198-FC2E-C265-7C21A1A13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194" y="3227324"/>
            <a:ext cx="2047533" cy="140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54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8352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a, b,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1</a:t>
            </a:r>
            <a:r>
              <a:rPr kumimoji="1" lang="zh-CN" altLang="en-US" sz="1600" b="1" dirty="0">
                <a:latin typeface="宋体"/>
              </a:rPr>
              <a:t>、如果编译有</a:t>
            </a:r>
            <a:r>
              <a:rPr kumimoji="1" lang="en-US" altLang="zh-CN" sz="1600" b="1" dirty="0">
                <a:latin typeface="宋体"/>
              </a:rPr>
              <a:t>error</a:t>
            </a:r>
            <a:r>
              <a:rPr kumimoji="1" lang="zh-CN" altLang="en-US" sz="1600" b="1" dirty="0">
                <a:latin typeface="宋体"/>
              </a:rPr>
              <a:t>或</a:t>
            </a:r>
            <a:r>
              <a:rPr kumimoji="1" lang="en-US" altLang="zh-CN" sz="1600" b="1" dirty="0">
                <a:latin typeface="宋体"/>
              </a:rPr>
              <a:t>warning</a:t>
            </a:r>
            <a:r>
              <a:rPr kumimoji="1" lang="zh-CN" altLang="en-US" sz="1600" b="1" dirty="0">
                <a:latin typeface="宋体"/>
              </a:rPr>
              <a:t>，则贴相应信息的截图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2</a:t>
            </a:r>
            <a:r>
              <a:rPr kumimoji="1" lang="zh-CN" altLang="en-US" sz="1600" b="1" dirty="0">
                <a:latin typeface="宋体"/>
              </a:rPr>
              <a:t>、如果能运行</a:t>
            </a:r>
            <a:r>
              <a:rPr kumimoji="1" lang="en-US" altLang="zh-CN" sz="1600" b="1" dirty="0">
                <a:latin typeface="宋体"/>
              </a:rPr>
              <a:t>(</a:t>
            </a:r>
            <a:r>
              <a:rPr kumimoji="1" lang="zh-CN" altLang="en-US" sz="1600" b="1" dirty="0">
                <a:latin typeface="宋体"/>
              </a:rPr>
              <a:t>包括有</a:t>
            </a:r>
            <a:r>
              <a:rPr kumimoji="1" lang="en-US" altLang="zh-CN" sz="1600" b="1" dirty="0">
                <a:latin typeface="宋体"/>
              </a:rPr>
              <a:t>warning)</a:t>
            </a:r>
            <a:r>
              <a:rPr kumimoji="1" lang="zh-CN" altLang="en-US" sz="1600" b="1" dirty="0">
                <a:latin typeface="宋体"/>
              </a:rPr>
              <a:t>，则输入三个正确的</a:t>
            </a:r>
            <a:r>
              <a:rPr kumimoji="1" lang="en-US" altLang="zh-CN" sz="1600" b="1" dirty="0">
                <a:latin typeface="宋体"/>
              </a:rPr>
              <a:t>int</a:t>
            </a:r>
            <a:r>
              <a:rPr kumimoji="1" lang="zh-CN" altLang="en-US" sz="1600" b="1" dirty="0">
                <a:latin typeface="宋体"/>
              </a:rPr>
              <a:t>型数据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  (</a:t>
            </a:r>
            <a:r>
              <a:rPr kumimoji="1" lang="zh-CN" altLang="en-US" sz="1600" b="1" dirty="0">
                <a:latin typeface="宋体"/>
              </a:rPr>
              <a:t>例</a:t>
            </a:r>
            <a:r>
              <a:rPr kumimoji="1" lang="en-US" altLang="zh-CN" sz="1600" b="1" dirty="0">
                <a:latin typeface="宋体"/>
              </a:rPr>
              <a:t> :1 2 3↙)</a:t>
            </a:r>
            <a:r>
              <a:rPr kumimoji="1" lang="zh-CN" altLang="en-US" sz="1600" b="1" dirty="0">
                <a:latin typeface="宋体"/>
              </a:rPr>
              <a:t>，观察输出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/>
              </a:rPr>
              <a:t>3</a:t>
            </a:r>
            <a:r>
              <a:rPr kumimoji="1" lang="zh-CN" altLang="en-US" sz="1600" b="1" dirty="0">
                <a:latin typeface="宋体"/>
              </a:rPr>
              <a:t>、分析为什么只有某个变量的结果是正确的</a:t>
            </a: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宋体"/>
              </a:rPr>
              <a:t>答：根据逗号运算法则，只有</a:t>
            </a:r>
            <a:r>
              <a:rPr kumimoji="1" lang="en-US" altLang="zh-CN" sz="1600" b="1" dirty="0" err="1">
                <a:latin typeface="宋体"/>
              </a:rPr>
              <a:t>cin</a:t>
            </a:r>
            <a:r>
              <a:rPr kumimoji="1" lang="en-US" altLang="zh-CN" sz="1600" b="1" dirty="0">
                <a:latin typeface="宋体"/>
              </a:rPr>
              <a:t> &gt;&gt; a</a:t>
            </a:r>
            <a:r>
              <a:rPr kumimoji="1" lang="zh-CN" altLang="en-US" sz="1600" b="1" dirty="0">
                <a:latin typeface="宋体"/>
              </a:rPr>
              <a:t>语句被执行，只有</a:t>
            </a:r>
            <a:r>
              <a:rPr kumimoji="1" lang="en-US" altLang="zh-CN" sz="1600" b="1" dirty="0">
                <a:latin typeface="宋体"/>
              </a:rPr>
              <a:t>a</a:t>
            </a:r>
            <a:r>
              <a:rPr kumimoji="1" lang="zh-CN" altLang="en-US" sz="1600" b="1" dirty="0">
                <a:latin typeface="宋体"/>
              </a:rPr>
              <a:t>被成功读入了。</a:t>
            </a:r>
            <a:endParaRPr kumimoji="1" lang="en-US" altLang="zh-CN" sz="1600" b="1" dirty="0">
              <a:latin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2D407B-F60E-42B1-9BF5-16B982B4B761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6A185A22-FD10-D164-5281-9AAF13471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3429000"/>
            <a:ext cx="3492500" cy="12827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6C4332-2220-4548-3E5B-67DB8C447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786" y="3402965"/>
            <a:ext cx="11303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64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a=66, b=67, c=68;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答：只有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被成功读入，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没有被读入，因此保留初始值。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22FAFD-0008-A142-F5C7-BCD10B955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182" y="3929061"/>
            <a:ext cx="11176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49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a+10;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、分析为什么编译有错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、结论：流提取运算符后面必须跟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</a:rPr>
              <a:t>b)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，不能是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en-US" altLang="zh-CN" sz="1600" b="1" u="sng" dirty="0">
                <a:latin typeface="+mn-ea"/>
              </a:rPr>
              <a:t>a)</a:t>
            </a:r>
            <a:r>
              <a:rPr kumimoji="1" lang="zh-CN" altLang="en-US" sz="1600" b="1" u="sng" dirty="0">
                <a:latin typeface="+mn-ea"/>
              </a:rPr>
              <a:t>、</a:t>
            </a:r>
            <a:r>
              <a:rPr kumimoji="1" lang="en-US" altLang="zh-CN" sz="1600" b="1" u="sng" dirty="0">
                <a:latin typeface="+mn-ea"/>
              </a:rPr>
              <a:t>c)</a:t>
            </a:r>
            <a:r>
              <a:rPr kumimoji="1" lang="en-US" altLang="zh-CN" sz="1600" b="1" dirty="0">
                <a:latin typeface="+mn-ea"/>
              </a:rPr>
              <a:t>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a)</a:t>
            </a:r>
            <a:r>
              <a:rPr kumimoji="1" lang="zh-CN" altLang="en-US" sz="1600" b="1" dirty="0">
                <a:latin typeface="+mn-ea"/>
              </a:rPr>
              <a:t> 常量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变量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表达式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2D407B-F60E-42B1-9BF5-16B982B4B761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88C02A9-CD6C-6018-47C5-5087CF93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758" y="3069600"/>
            <a:ext cx="6886653" cy="13329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ADD0BB-D8BC-6C37-0331-C7F69DC53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486" y="4519819"/>
            <a:ext cx="7772400" cy="108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514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a=66, b=67, c=68;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a,b,c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、运行后，输入三个正确的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型数据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例</a:t>
            </a:r>
            <a:r>
              <a:rPr kumimoji="1" lang="en-US" altLang="zh-CN" sz="1600" b="1" dirty="0">
                <a:latin typeface="+mn-ea"/>
              </a:rPr>
              <a:t> :1 2 3↙</a:t>
            </a:r>
            <a:r>
              <a:rPr kumimoji="1" lang="zh-CN" altLang="en-US" sz="1600" b="1" dirty="0">
                <a:latin typeface="+mn-ea"/>
              </a:rPr>
              <a:t>，注意不要是预置值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观察输出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、通过观察三个变量的输出，你得到了什么结论？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答：只有第一个数据被读取，且只赋值给了最后一个变量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进行比较，分析为什么结果有差异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答：比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多了括号，整个表达式返回的是变量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、和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进行比较，与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得出的结论矛盾吗？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答：不矛盾，因为最后得到的结果是变量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，也就是运算符后跟的是变量。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9F1640-5355-59CB-BA8B-18F0697F4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4678680"/>
            <a:ext cx="10160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46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611348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c1, c2;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float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c1 &gt;&gt; c2 &gt;&gt; a &gt;&gt; b;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c1 &lt;&lt; ' '&lt;&lt; c2 &lt;&lt;' '&lt;&lt; a &lt;&lt;' '&lt;&lt;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6705600" y="1323974"/>
            <a:ext cx="41298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︺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表示空格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1234︺56.78↙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1︺2︺34︺56.78↙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、分析在以上两种不同输入的情况下，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为什么输出相同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提示：空格的作用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答：空格作为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默认的空白符号之一起分隔作用但并不会被读入。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Picture 5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DB74D2D2-D8C4-6B59-0560-E7F7CB37D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43" y="4406900"/>
            <a:ext cx="1828800" cy="9398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13197B-DB4F-12A0-94D6-88871318F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350" y="4406900"/>
            <a:ext cx="1638300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220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的基本理解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dirty="0">
                <a:latin typeface="+mn-ea"/>
              </a:rPr>
              <a:t>其他情况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33566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 &gt;&gt;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3948758" y="1323974"/>
            <a:ext cx="688665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、如果编译有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或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，则贴相应信息的截图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信息太多则前五行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、结论：在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中不能跟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en-US" altLang="zh-CN" sz="1600" b="1" u="sng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_____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0616B9-B2CD-47AC-BDFB-F8A3B5CA529D}"/>
              </a:ext>
            </a:extLst>
          </p:cNvPr>
          <p:cNvSpPr/>
          <p:nvPr/>
        </p:nvSpPr>
        <p:spPr bwMode="auto">
          <a:xfrm>
            <a:off x="8539886" y="6043295"/>
            <a:ext cx="2295525" cy="4908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F9AA5-7903-A7B9-55C4-D673EFD60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078" y="5018782"/>
            <a:ext cx="7772400" cy="887612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EE086D2-D085-EDA0-188D-A914FCCB3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885" y="3662918"/>
            <a:ext cx="7772400" cy="121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90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cout</a:t>
            </a:r>
            <a:r>
              <a:rPr lang="zh-CN" altLang="en-US" sz="2800" b="1" dirty="0">
                <a:latin typeface="+mn-ea"/>
              </a:rPr>
              <a:t>的基本使用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2116563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3424</TotalTime>
  <Words>8137</Words>
  <Application>Microsoft Macintosh PowerPoint</Application>
  <PresentationFormat>Widescreen</PresentationFormat>
  <Paragraphs>984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等线</vt:lpstr>
      <vt:lpstr>宋体</vt:lpstr>
      <vt:lpstr>Times New Roman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Tonhie Xavier</cp:lastModifiedBy>
  <cp:revision>222</cp:revision>
  <dcterms:created xsi:type="dcterms:W3CDTF">2020-08-13T13:39:53Z</dcterms:created>
  <dcterms:modified xsi:type="dcterms:W3CDTF">2025-03-14T11:58:23Z</dcterms:modified>
</cp:coreProperties>
</file>