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notesMasterIdLst>
    <p:notesMasterId r:id="rId38"/>
  </p:notesMasterIdLst>
  <p:sldIdLst>
    <p:sldId id="449" r:id="rId2"/>
    <p:sldId id="1268" r:id="rId3"/>
    <p:sldId id="1269" r:id="rId4"/>
    <p:sldId id="1230" r:id="rId5"/>
    <p:sldId id="492" r:id="rId6"/>
    <p:sldId id="1267" r:id="rId7"/>
    <p:sldId id="1265" r:id="rId8"/>
    <p:sldId id="1237" r:id="rId9"/>
    <p:sldId id="1236" r:id="rId10"/>
    <p:sldId id="1238" r:id="rId11"/>
    <p:sldId id="1239" r:id="rId12"/>
    <p:sldId id="1240" r:id="rId13"/>
    <p:sldId id="1241" r:id="rId14"/>
    <p:sldId id="1244" r:id="rId15"/>
    <p:sldId id="1243" r:id="rId16"/>
    <p:sldId id="1245" r:id="rId17"/>
    <p:sldId id="1252" r:id="rId18"/>
    <p:sldId id="1255" r:id="rId19"/>
    <p:sldId id="1254" r:id="rId20"/>
    <p:sldId id="1246" r:id="rId21"/>
    <p:sldId id="1256" r:id="rId22"/>
    <p:sldId id="1257" r:id="rId23"/>
    <p:sldId id="1258" r:id="rId24"/>
    <p:sldId id="1247" r:id="rId25"/>
    <p:sldId id="1259" r:id="rId26"/>
    <p:sldId id="1249" r:id="rId27"/>
    <p:sldId id="1263" r:id="rId28"/>
    <p:sldId id="1260" r:id="rId29"/>
    <p:sldId id="1250" r:id="rId30"/>
    <p:sldId id="1261" r:id="rId31"/>
    <p:sldId id="1262" r:id="rId32"/>
    <p:sldId id="1231" r:id="rId33"/>
    <p:sldId id="1186" r:id="rId34"/>
    <p:sldId id="1234" r:id="rId35"/>
    <p:sldId id="1235" r:id="rId36"/>
    <p:sldId id="1232" r:id="rId3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arry" initials="L" lastIdx="1" clrIdx="0">
    <p:extLst>
      <p:ext uri="{19B8F6BF-5375-455C-9EA6-DF929625EA0E}">
        <p15:presenceInfo xmlns:p15="http://schemas.microsoft.com/office/powerpoint/2012/main" userId="Larry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5797" autoAdjust="0"/>
    <p:restoredTop sz="90951" autoAdjust="0"/>
  </p:normalViewPr>
  <p:slideViewPr>
    <p:cSldViewPr snapToGrid="0">
      <p:cViewPr>
        <p:scale>
          <a:sx n="110" d="100"/>
          <a:sy n="110" d="100"/>
        </p:scale>
        <p:origin x="-448" y="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ommentAuthors" Target="commentAuthor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F4E512-F0DE-40DA-A281-500184A3244D}" type="datetimeFigureOut">
              <a:rPr lang="zh-CN" altLang="en-US" smtClean="0"/>
              <a:t>2025/3/17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90452-1689-4497-A9A0-B842EEA687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2755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49300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81096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115B22-8194-4FC8-9614-86C592EEABA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464608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5F2CA6-A39B-48F7-84D1-AF91BD07D67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18223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C41597-7941-4461-A03D-7D307C3317F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67330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7E5104-8735-46A8-9820-8BD5C44B645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99038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BB04D0-EC69-4E34-9026-1132273F6FE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59773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34D7FE-E00D-4DCA-A0A7-A306174DC0C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73834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E46EFE-F103-4F45-8883-0DE6C66B1B8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68583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75AF18-52E2-4048-A908-642605843CB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51156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2A61F9-4BE0-4887-A67C-4D288CA5699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02731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7B2B09-852B-4EAA-A08A-0953A9F6334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54775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1CDC42-DFEF-458F-BD1B-2EFAEEF6801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00059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FF534AEE-0681-4001-91D8-DF8F111160F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D90EEA7F-39F9-4B97-AF58-835331598C9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2268" y="5786"/>
            <a:ext cx="1183064" cy="1183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9806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要求：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、完成本文档中所有的题目并写出分析、运行结果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、无特殊说明，均使用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编译即可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、直接在本文件上作答，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写出答案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截图（不允许手写、手写拍照截图）</a:t>
            </a:r>
            <a:r>
              <a:rPr lang="zh-CN" altLang="en-US" sz="1600" b="1" dirty="0">
                <a:latin typeface="+mn-ea"/>
              </a:rPr>
              <a:t>即可；填写答案时，为适应所填内容或贴图，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允许调整</a:t>
            </a:r>
            <a:r>
              <a:rPr lang="zh-CN" altLang="en-US" sz="1600" b="1" dirty="0">
                <a:latin typeface="+mn-ea"/>
              </a:rPr>
              <a:t>页面的字体大小、颜色、文本框的位置等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贴图要有效部分即可，不需要全部内容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在保证一页一题的前提下，具体页面布局可以自行发挥，简单易读即可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不允许</a:t>
            </a:r>
            <a:r>
              <a:rPr lang="zh-CN" altLang="en-US" sz="1600" b="1" dirty="0">
                <a:latin typeface="+mn-ea"/>
              </a:rPr>
              <a:t>手写在纸上，再拍照贴图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</a:t>
            </a:r>
            <a:r>
              <a:rPr lang="zh-CN" altLang="en-US" sz="1600" b="1" dirty="0">
                <a:latin typeface="+mn-ea"/>
              </a:rPr>
              <a:t>在各种软件工具上完成（不含手写），再截图贴图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 </a:t>
            </a:r>
            <a:r>
              <a:rPr lang="zh-CN" altLang="en-US" sz="1600" b="1" dirty="0">
                <a:latin typeface="+mn-ea"/>
              </a:rPr>
              <a:t>如果某题要求</a:t>
            </a:r>
            <a:r>
              <a:rPr lang="en-US" altLang="zh-CN" sz="1600" b="1" dirty="0" err="1">
                <a:latin typeface="+mn-ea"/>
              </a:rPr>
              <a:t>VS+Dev</a:t>
            </a:r>
            <a:r>
              <a:rPr lang="zh-CN" altLang="en-US" sz="1600" b="1" dirty="0">
                <a:latin typeface="+mn-ea"/>
              </a:rPr>
              <a:t>的，则如果两个编译器运行结果一致，贴</a:t>
            </a:r>
            <a:r>
              <a:rPr lang="en-US" altLang="zh-CN" sz="1600" b="1" dirty="0">
                <a:latin typeface="+mn-ea"/>
              </a:rPr>
              <a:t>VS</a:t>
            </a:r>
            <a:r>
              <a:rPr lang="zh-CN" altLang="en-US" sz="1600" b="1" dirty="0">
                <a:latin typeface="+mn-ea"/>
              </a:rPr>
              <a:t>的一张图即可，如果不一致，则两个图都要贴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、转换为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后提交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3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月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19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日前</a:t>
            </a:r>
            <a:r>
              <a:rPr lang="zh-CN" altLang="en-US" sz="1600" b="1" dirty="0">
                <a:latin typeface="+mn-ea"/>
              </a:rPr>
              <a:t>网上提交本次作业（在“文档作业”中提交）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82000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贴图要求：只需要截取输出窗口中的有效部分即可，如果全部截取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截取过大，则视为无效贴图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 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例：无效贴图                                                                       例：有效贴图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F2BCB20-A7D3-4325-B240-F17B741FF5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853" y="1614221"/>
            <a:ext cx="8291512" cy="489989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DC82EAA-7133-41BE-BA1F-9E1E133998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5148" y="1614221"/>
            <a:ext cx="2257143" cy="600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499718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附：用</a:t>
            </a:r>
            <a:r>
              <a:rPr lang="en-US" altLang="zh-CN" sz="1600" b="1" dirty="0">
                <a:latin typeface="+mn-ea"/>
              </a:rPr>
              <a:t>WPS</a:t>
            </a:r>
            <a:r>
              <a:rPr lang="zh-CN" altLang="en-US" sz="1600" b="1" dirty="0">
                <a:latin typeface="+mn-ea"/>
              </a:rPr>
              <a:t>等其他第三方软件打开</a:t>
            </a:r>
            <a:r>
              <a:rPr lang="en-US" altLang="zh-CN" sz="1600" b="1" dirty="0">
                <a:latin typeface="+mn-ea"/>
              </a:rPr>
              <a:t>PPT</a:t>
            </a:r>
            <a:r>
              <a:rPr lang="zh-CN" altLang="en-US" sz="1600" b="1" dirty="0">
                <a:latin typeface="+mn-ea"/>
              </a:rPr>
              <a:t>，将代码复制到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中后，如果出现类似下面的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编译报错</a:t>
            </a:r>
            <a:r>
              <a:rPr lang="zh-CN" altLang="en-US" sz="1600" b="1" dirty="0">
                <a:latin typeface="+mn-ea"/>
              </a:rPr>
              <a:t>，则观察源程序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</a:t>
            </a:r>
            <a:r>
              <a:rPr lang="zh-CN" altLang="en-US" sz="1600" b="1" dirty="0">
                <a:latin typeface="+mn-ea"/>
              </a:rPr>
              <a:t>编辑窗的右下角是否为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，如果是，单击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，在弹出中选择</a:t>
            </a:r>
            <a:r>
              <a:rPr lang="en-US" altLang="zh-CN" sz="1600" b="1" dirty="0">
                <a:latin typeface="+mn-ea"/>
              </a:rPr>
              <a:t>CRLF</a:t>
            </a:r>
            <a:r>
              <a:rPr lang="zh-CN" altLang="en-US" sz="1600" b="1" dirty="0">
                <a:latin typeface="+mn-ea"/>
              </a:rPr>
              <a:t>，再次</a:t>
            </a:r>
            <a:r>
              <a:rPr lang="en-US" altLang="zh-CN" sz="1600" b="1" dirty="0">
                <a:latin typeface="+mn-ea"/>
              </a:rPr>
              <a:t>CTRL+F5</a:t>
            </a:r>
            <a:r>
              <a:rPr lang="zh-CN" altLang="en-US" sz="1600" b="1" dirty="0">
                <a:latin typeface="+mn-ea"/>
              </a:rPr>
              <a:t>运行即可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5" name="箭头: 右 4">
            <a:extLst>
              <a:ext uri="{FF2B5EF4-FFF2-40B4-BE49-F238E27FC236}">
                <a16:creationId xmlns:a16="http://schemas.microsoft.com/office/drawing/2014/main" id="{83A95833-2AE8-4AB2-8186-65B0BE7B5B20}"/>
              </a:ext>
            </a:extLst>
          </p:cNvPr>
          <p:cNvSpPr/>
          <p:nvPr/>
        </p:nvSpPr>
        <p:spPr bwMode="auto">
          <a:xfrm>
            <a:off x="8023460" y="4571893"/>
            <a:ext cx="638175" cy="452423"/>
          </a:xfrm>
          <a:prstGeom prst="rightArrow">
            <a:avLst/>
          </a:prstGeom>
          <a:solidFill>
            <a:srgbClr val="FF0000">
              <a:alpha val="40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273DA64-1F34-46A4-9B77-30180EAB99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146" y="1623695"/>
            <a:ext cx="9229725" cy="501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6988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2800" b="1" dirty="0">
                <a:latin typeface="+mn-ea"/>
              </a:rPr>
              <a:t>特别提示：</a:t>
            </a:r>
            <a:endParaRPr lang="en-US" altLang="zh-CN" sz="2800" b="1" dirty="0">
              <a:latin typeface="+mn-ea"/>
            </a:endParaRPr>
          </a:p>
          <a:p>
            <a:pPr algn="l"/>
            <a:r>
              <a:rPr lang="en-US" altLang="zh-CN" sz="2800" b="1" dirty="0">
                <a:latin typeface="+mn-ea"/>
              </a:rPr>
              <a:t>1</a:t>
            </a:r>
            <a:r>
              <a:rPr lang="zh-CN" altLang="en-US" sz="2800" b="1" dirty="0">
                <a:latin typeface="+mn-ea"/>
              </a:rPr>
              <a:t>、做题过程中，先按要求输入，如果想替换数据，也要先做完指定输入</a:t>
            </a:r>
            <a:endParaRPr lang="en-US" altLang="zh-CN" sz="2800" b="1" dirty="0">
              <a:latin typeface="+mn-ea"/>
            </a:endParaRPr>
          </a:p>
          <a:p>
            <a:pPr algn="l"/>
            <a:r>
              <a:rPr lang="en-US" altLang="zh-CN" sz="2800" b="1" dirty="0">
                <a:latin typeface="+mn-ea"/>
              </a:rPr>
              <a:t>2</a:t>
            </a:r>
            <a:r>
              <a:rPr lang="zh-CN" altLang="en-US" sz="2800" b="1" dirty="0">
                <a:latin typeface="+mn-ea"/>
              </a:rPr>
              <a:t>、如果替换数据后出现某些问题，先记录下来，不要问，等全部完成后，</a:t>
            </a:r>
            <a:endParaRPr lang="en-US" altLang="zh-CN" sz="2800" b="1" dirty="0">
              <a:latin typeface="+mn-ea"/>
            </a:endParaRPr>
          </a:p>
          <a:p>
            <a:pPr algn="l"/>
            <a:r>
              <a:rPr lang="en-US" altLang="zh-CN" sz="2800" b="1" dirty="0">
                <a:latin typeface="+mn-ea"/>
              </a:rPr>
              <a:t>   </a:t>
            </a:r>
            <a:r>
              <a:rPr lang="zh-CN" altLang="en-US" sz="2800" b="1" dirty="0">
                <a:latin typeface="+mn-ea"/>
              </a:rPr>
              <a:t>还想不通再问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也许你的问题在后面的题目中有答案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</a:rPr>
              <a:t>)</a:t>
            </a:r>
          </a:p>
          <a:p>
            <a:pPr algn="l"/>
            <a:r>
              <a:rPr lang="en-US" altLang="zh-CN" sz="2800" b="1" dirty="0">
                <a:latin typeface="+mn-ea"/>
              </a:rPr>
              <a:t>3</a:t>
            </a:r>
            <a:r>
              <a:rPr lang="zh-CN" altLang="en-US" sz="2800" b="1" dirty="0">
                <a:latin typeface="+mn-ea"/>
              </a:rPr>
              <a:t>、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不要偷懒、不要自以为是的脑补结论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</a:rPr>
              <a:t>!!!</a:t>
            </a:r>
          </a:p>
          <a:p>
            <a:pPr algn="l"/>
            <a:r>
              <a:rPr lang="en-US" altLang="zh-CN" sz="2800" b="1" dirty="0">
                <a:latin typeface="+mn-ea"/>
              </a:rPr>
              <a:t>4</a:t>
            </a:r>
            <a:r>
              <a:rPr lang="zh-CN" altLang="en-US" sz="2800" b="1" dirty="0">
                <a:latin typeface="+mn-ea"/>
              </a:rPr>
              <a:t>、先得到题目要求的小结论，再综合考虑上下题目间关系，得到综合结论</a:t>
            </a:r>
            <a:endParaRPr lang="en-US" altLang="zh-CN" sz="2800" b="1" dirty="0">
              <a:latin typeface="+mn-ea"/>
            </a:endParaRPr>
          </a:p>
          <a:p>
            <a:pPr algn="l"/>
            <a:r>
              <a:rPr lang="en-US" altLang="zh-CN" sz="2800" b="1" dirty="0">
                <a:latin typeface="+mn-ea"/>
              </a:rPr>
              <a:t>5</a:t>
            </a:r>
            <a:r>
              <a:rPr lang="zh-CN" altLang="en-US" sz="2800" b="1" dirty="0">
                <a:latin typeface="+mn-ea"/>
              </a:rPr>
              <a:t>、这些结论，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是让你记住的，不是让你完成作业后就忘掉了</a:t>
            </a:r>
          </a:p>
          <a:p>
            <a:pPr algn="l"/>
            <a:r>
              <a:rPr lang="en-US" altLang="zh-CN" sz="2800" b="1" dirty="0">
                <a:latin typeface="+mn-ea"/>
              </a:rPr>
              <a:t>6</a:t>
            </a:r>
            <a:r>
              <a:rPr lang="zh-CN" altLang="en-US" sz="2800" b="1" dirty="0">
                <a:latin typeface="+mn-ea"/>
              </a:rPr>
              <a:t>、换位思考</a:t>
            </a:r>
            <a:r>
              <a:rPr lang="en-US" altLang="zh-CN" sz="2800" b="1" dirty="0">
                <a:latin typeface="+mn-ea"/>
              </a:rPr>
              <a:t>(</a:t>
            </a:r>
            <a:r>
              <a:rPr lang="zh-CN" altLang="en-US" sz="2800" b="1" dirty="0">
                <a:latin typeface="+mn-ea"/>
              </a:rPr>
              <a:t>从老师角度出发</a:t>
            </a:r>
            <a:r>
              <a:rPr lang="en-US" altLang="zh-CN" sz="2800" b="1" dirty="0">
                <a:latin typeface="+mn-ea"/>
              </a:rPr>
              <a:t>)</a:t>
            </a:r>
            <a:r>
              <a:rPr lang="zh-CN" altLang="en-US" sz="2800" b="1" dirty="0">
                <a:latin typeface="+mn-ea"/>
              </a:rPr>
              <a:t>，这些题的目的是希望掌握什么学习方法？</a:t>
            </a:r>
            <a:endParaRPr lang="en-US" altLang="zh-CN" sz="28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00352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说明：</a:t>
            </a:r>
            <a:r>
              <a:rPr lang="en-US" altLang="zh-CN" sz="1600" b="1" dirty="0">
                <a:latin typeface="+mn-ea"/>
              </a:rPr>
              <a:t>C++</a:t>
            </a:r>
            <a:r>
              <a:rPr lang="zh-CN" altLang="en-US" sz="1600" b="1" dirty="0">
                <a:latin typeface="+mn-ea"/>
              </a:rPr>
              <a:t>中的格式控制很丰富，实现方法也有多种，下表列出的只是常用一部分，用于本次作业</a:t>
            </a:r>
            <a:endParaRPr lang="en-US" altLang="zh-CN" sz="1600" b="1" dirty="0">
              <a:latin typeface="+mn-ea"/>
            </a:endParaRPr>
          </a:p>
        </p:txBody>
      </p:sp>
      <p:graphicFrame>
        <p:nvGraphicFramePr>
          <p:cNvPr id="6" name="表格 11">
            <a:extLst>
              <a:ext uri="{FF2B5EF4-FFF2-40B4-BE49-F238E27FC236}">
                <a16:creationId xmlns:a16="http://schemas.microsoft.com/office/drawing/2014/main" id="{077349B2-0795-42D4-B88A-83371CD83D9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565386"/>
              </p:ext>
            </p:extLst>
          </p:nvPr>
        </p:nvGraphicFramePr>
        <p:xfrm>
          <a:off x="859057" y="1370538"/>
          <a:ext cx="10158413" cy="508740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001983">
                  <a:extLst>
                    <a:ext uri="{9D8B030D-6E8A-4147-A177-3AD203B41FA5}">
                      <a16:colId xmlns:a16="http://schemas.microsoft.com/office/drawing/2014/main" val="2298219816"/>
                    </a:ext>
                  </a:extLst>
                </a:gridCol>
                <a:gridCol w="7156430">
                  <a:extLst>
                    <a:ext uri="{9D8B030D-6E8A-4147-A177-3AD203B41FA5}">
                      <a16:colId xmlns:a16="http://schemas.microsoft.com/office/drawing/2014/main" val="1624764447"/>
                    </a:ext>
                  </a:extLst>
                </a:gridCol>
              </a:tblGrid>
              <a:tr h="29985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控制符</a:t>
                      </a:r>
                    </a:p>
                  </a:txBody>
                  <a:tcPr marL="7471" marR="7471" marT="4269" marB="42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作用</a:t>
                      </a:r>
                    </a:p>
                  </a:txBody>
                  <a:tcPr marL="7471" marR="7471" marT="4269" marB="42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1858551"/>
                  </a:ext>
                </a:extLst>
              </a:tr>
              <a:tr h="299856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dec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设置整数为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进制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1919502"/>
                  </a:ext>
                </a:extLst>
              </a:tr>
              <a:tr h="299856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hex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设置整数为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16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进制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6101644"/>
                  </a:ext>
                </a:extLst>
              </a:tr>
              <a:tr h="299856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oct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设置整数为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进制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6416682"/>
                  </a:ext>
                </a:extLst>
              </a:tr>
              <a:tr h="299856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setbase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(n)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设置整数为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n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进制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(n=8,10,16)</a:t>
                      </a: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7631303"/>
                  </a:ext>
                </a:extLst>
              </a:tr>
              <a:tr h="299856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setfill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(c)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设置填充字符，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可以是字符常量或字符变量</a:t>
                      </a: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1947795"/>
                  </a:ext>
                </a:extLst>
              </a:tr>
              <a:tr h="589568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setprecision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(n)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设置实数的精度为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n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位。在以一般十进制形式输出时，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n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代表有效数字。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l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在以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fixed(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固定小数位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形式和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scientific(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指数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形式输出时，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n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为小数位数</a:t>
                      </a: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5579112"/>
                  </a:ext>
                </a:extLst>
              </a:tr>
              <a:tr h="299856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setw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(n)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设置字段宽度为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n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044405"/>
                  </a:ext>
                </a:extLst>
              </a:tr>
              <a:tr h="299856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setiosflags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ios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::fixed)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设置浮点数以固定的小数位数显示</a:t>
                      </a: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823469"/>
                  </a:ext>
                </a:extLst>
              </a:tr>
              <a:tr h="299856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setiosflags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ios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::scientific)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设置浮点数以科学计数法（即指数形式）显示</a:t>
                      </a: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5854254"/>
                  </a:ext>
                </a:extLst>
              </a:tr>
              <a:tr h="299856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setiosflags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ios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::left)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输出数据左对齐</a:t>
                      </a: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4189258"/>
                  </a:ext>
                </a:extLst>
              </a:tr>
              <a:tr h="299856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setiosflags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ios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::right)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输出数据右对齐</a:t>
                      </a: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1628640"/>
                  </a:ext>
                </a:extLst>
              </a:tr>
              <a:tr h="299856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setiosflags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ios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::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skipws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忽略前导的空格</a:t>
                      </a: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7431080"/>
                  </a:ext>
                </a:extLst>
              </a:tr>
              <a:tr h="299856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setiosflags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ios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::uppercase)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在以科学计数法输出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和十六进制输出字母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X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时，以大写表示</a:t>
                      </a: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523211"/>
                  </a:ext>
                </a:extLst>
              </a:tr>
              <a:tr h="299856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setiosflags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ios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::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showpos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输出正数时，给出“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+”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号</a:t>
                      </a: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349764"/>
                  </a:ext>
                </a:extLst>
              </a:tr>
              <a:tr h="299856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esetiosflags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(*)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终止已设置的输出格式状态，括号内为具体内容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本处用*替代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6194680"/>
                  </a:ext>
                </a:extLst>
              </a:tr>
            </a:tbl>
          </a:graphicData>
        </a:graphic>
      </p:graphicFrame>
      <p:sp>
        <p:nvSpPr>
          <p:cNvPr id="2" name="矩形 1">
            <a:extLst>
              <a:ext uri="{FF2B5EF4-FFF2-40B4-BE49-F238E27FC236}">
                <a16:creationId xmlns:a16="http://schemas.microsoft.com/office/drawing/2014/main" id="{F971B0D8-CF69-458E-B399-EDA0A8708DD2}"/>
              </a:ext>
            </a:extLst>
          </p:cNvPr>
          <p:cNvSpPr/>
          <p:nvPr/>
        </p:nvSpPr>
        <p:spPr bwMode="auto">
          <a:xfrm>
            <a:off x="8380071" y="1370538"/>
            <a:ext cx="3631843" cy="178862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重要提示：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、后面作业需要的知识点，除非明确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   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提示自行上网查找，都先在本文档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   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中查找是否有符合要求的设置项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2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、不看本页，网上瞎找，然后说作业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   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多的，本课程及本作业不背锅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671728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sz="1200" b="1" dirty="0">
              <a:latin typeface="+mn-ea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进制前导符的使用：回答问题并将程序的运行结果截图贴上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允许多页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CA606D2-55A2-40E0-8D6D-3A0DF7E73037}"/>
              </a:ext>
            </a:extLst>
          </p:cNvPr>
          <p:cNvSpPr/>
          <p:nvPr/>
        </p:nvSpPr>
        <p:spPr bwMode="auto">
          <a:xfrm>
            <a:off x="592114" y="1323973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200" b="1" dirty="0">
                <a:latin typeface="+mn-ea"/>
              </a:rPr>
              <a:t>#include &lt;iostream&gt;</a:t>
            </a:r>
          </a:p>
          <a:p>
            <a:r>
              <a:rPr lang="en-US" altLang="zh-CN" sz="1200" b="1" dirty="0">
                <a:latin typeface="+mn-ea"/>
              </a:rPr>
              <a:t>#include &lt;</a:t>
            </a:r>
            <a:r>
              <a:rPr lang="en-US" altLang="zh-CN" sz="1200" b="1" dirty="0" err="1">
                <a:latin typeface="+mn-ea"/>
              </a:rPr>
              <a:t>iomanip</a:t>
            </a:r>
            <a:r>
              <a:rPr lang="en-US" altLang="zh-CN" sz="1200" b="1" dirty="0">
                <a:latin typeface="+mn-ea"/>
              </a:rPr>
              <a:t>&gt;</a:t>
            </a:r>
          </a:p>
          <a:p>
            <a:r>
              <a:rPr lang="en-US" altLang="zh-CN" sz="1200" b="1" dirty="0">
                <a:latin typeface="+mn-ea"/>
              </a:rPr>
              <a:t>using namespace std;</a:t>
            </a:r>
          </a:p>
          <a:p>
            <a:endParaRPr lang="zh-CN" altLang="en-US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int main()</a:t>
            </a:r>
          </a:p>
          <a:p>
            <a:r>
              <a:rPr lang="en-US" altLang="zh-CN" sz="1200" b="1" dirty="0">
                <a:latin typeface="+mn-ea"/>
              </a:rPr>
              <a:t>{</a:t>
            </a:r>
          </a:p>
          <a:p>
            <a:r>
              <a:rPr lang="en-US" altLang="zh-CN" sz="1200" b="1" dirty="0">
                <a:latin typeface="+mn-ea"/>
              </a:rPr>
              <a:t>    short a1 = 1234, a2 = 0x1234, a3 = 01234, a4 = 0b1101001;  //</a:t>
            </a:r>
            <a:r>
              <a:rPr lang="zh-CN" altLang="en-US" sz="1200" b="1" dirty="0">
                <a:latin typeface="+mn-ea"/>
              </a:rPr>
              <a:t>常量为各进制表示正数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</a:t>
            </a:r>
            <a:r>
              <a:rPr lang="en-US" altLang="zh-CN" sz="1200" b="1" dirty="0" err="1">
                <a:latin typeface="+mn-ea"/>
              </a:rPr>
              <a:t>dec</a:t>
            </a:r>
            <a:r>
              <a:rPr lang="en-US" altLang="zh-CN" sz="1200" b="1" dirty="0">
                <a:latin typeface="+mn-ea"/>
              </a:rPr>
              <a:t>:" &lt;&lt; </a:t>
            </a:r>
            <a:r>
              <a:rPr lang="en-US" altLang="zh-CN" sz="1200" b="1" dirty="0" err="1">
                <a:latin typeface="+mn-ea"/>
              </a:rPr>
              <a:t>dec</a:t>
            </a:r>
            <a:r>
              <a:rPr lang="en-US" altLang="zh-CN" sz="1200" b="1" dirty="0">
                <a:latin typeface="+mn-ea"/>
              </a:rPr>
              <a:t> &lt;&lt; a1 &lt;&lt; ' ' &lt;&lt; a2 &lt;&lt; ' ' &lt;&lt; a3 &lt;&lt; ' ' &lt;&lt; a4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"hex:" &lt;&lt; hex &lt;&lt; a1 &lt;&lt; ' ' &lt;&lt; a2 &lt;&lt; ' ' &lt;&lt; a3 &lt;&lt; ' ' &lt;&lt; a4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"oct:" &lt;&lt; oct &lt;&lt; a1 &lt;&lt; ' ' &lt;&lt; a2 &lt;&lt; ' ' &lt;&lt; a3 &lt;&lt; ' ' &lt;&lt; a4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endParaRPr lang="zh-CN" altLang="en-US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short b1 = -1234, b2 = -0x1234, b3 = -01234, b4 = -0b1101001;  //</a:t>
            </a:r>
            <a:r>
              <a:rPr lang="zh-CN" altLang="en-US" sz="1200" b="1" dirty="0">
                <a:latin typeface="+mn-ea"/>
              </a:rPr>
              <a:t>常量为各进制表示负数</a:t>
            </a:r>
          </a:p>
          <a:p>
            <a:r>
              <a:rPr lang="fr-FR" altLang="zh-CN" sz="1200" b="1" dirty="0">
                <a:latin typeface="+mn-ea"/>
              </a:rPr>
              <a:t>    cout &lt;&lt; "dec:" &lt;&lt; dec &lt;&lt; b1 &lt;&lt; ' ' &lt;&lt; b2 &lt;&lt; ' ' &lt;&lt; b3 &lt;&lt; ' ' &lt;&lt; b4 &lt;&lt; endl;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"hex:" &lt;&lt; hex &lt;&lt; b1 &lt;&lt; ' ' &lt;&lt; b2 &lt;&lt; ' ' &lt;&lt; b3 &lt;&lt; ' ' &lt;&lt; b4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"oct:" &lt;&lt; oct &lt;&lt; b1 &lt;&lt; ' ' &lt;&lt; b2 &lt;&lt; ' ' &lt;&lt; b3 &lt;&lt; ' ' &lt;&lt; b4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endParaRPr lang="zh-CN" altLang="en-US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short c1 = 40000, c2 = 0x9876, c3 = 0171234, c4 = 0b1101010100111100;  //</a:t>
            </a:r>
            <a:r>
              <a:rPr lang="zh-CN" altLang="en-US" sz="1200" b="1" dirty="0">
                <a:latin typeface="+mn-ea"/>
              </a:rPr>
              <a:t>赋值后最高位均为</a:t>
            </a:r>
            <a:r>
              <a:rPr lang="en-US" altLang="zh-CN" sz="1200" b="1" dirty="0">
                <a:latin typeface="+mn-ea"/>
              </a:rPr>
              <a:t>1</a:t>
            </a:r>
            <a:r>
              <a:rPr lang="zh-CN" altLang="en-US" sz="1200" b="1" dirty="0">
                <a:latin typeface="+mn-ea"/>
              </a:rPr>
              <a:t>，有</a:t>
            </a:r>
            <a:r>
              <a:rPr lang="en-US" altLang="zh-CN" sz="1200" b="1" dirty="0">
                <a:latin typeface="+mn-ea"/>
              </a:rPr>
              <a:t>warning</a:t>
            </a:r>
            <a:endParaRPr lang="zh-CN" altLang="en-US" sz="1200" b="1" dirty="0">
              <a:latin typeface="+mn-ea"/>
            </a:endParaRPr>
          </a:p>
          <a:p>
            <a:r>
              <a:rPr lang="fr-FR" altLang="zh-CN" sz="1200" b="1" dirty="0">
                <a:latin typeface="+mn-ea"/>
              </a:rPr>
              <a:t>    cout &lt;&lt; "dec:" &lt;&lt; dec &lt;&lt; c1 &lt;&lt; ' ' &lt;&lt; c2 &lt;&lt; ' ' &lt;&lt; c3 &lt;&lt; ' ' &lt;&lt; c4 &lt;&lt; endl;</a:t>
            </a:r>
          </a:p>
          <a:p>
            <a:r>
              <a:rPr lang="fr-FR" altLang="zh-CN" sz="1200" b="1" dirty="0">
                <a:latin typeface="+mn-ea"/>
              </a:rPr>
              <a:t>    cout &lt;&lt; "hex:" &lt;&lt; hex &lt;&lt; c1 &lt;&lt; ' ' &lt;&lt; c2 &lt;&lt; ' ' &lt;&lt; c3 &lt;&lt; ' ' &lt;&lt; c4 &lt;&lt; endl;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"oct:" &lt;&lt; oct &lt;&lt; c1 &lt;&lt; ' ' &lt;&lt; c2 &lt;&lt; ' ' &lt;&lt; c3 &lt;&lt; ' ' &lt;&lt; c4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endParaRPr lang="zh-CN" altLang="en-US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return 0;</a:t>
            </a:r>
          </a:p>
          <a:p>
            <a:r>
              <a:rPr lang="en-US" altLang="zh-CN" sz="1200" b="1" dirty="0">
                <a:latin typeface="+mn-ea"/>
              </a:rPr>
              <a:t>}</a:t>
            </a:r>
          </a:p>
          <a:p>
            <a:endParaRPr lang="en-US" altLang="zh-CN" sz="12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</a:rPr>
              <a:t>允许贴图覆盖代码部分</a:t>
            </a:r>
          </a:p>
        </p:txBody>
      </p:sp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50D647A3-3228-2673-D7D5-2691E0B790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6893" y="1454759"/>
            <a:ext cx="3543300" cy="294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3030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总结及结论：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、源程序中的整数，有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kumimoji="1" lang="en-US" altLang="zh-CN" sz="1600" b="1" u="sng" dirty="0">
                <a:latin typeface="+mn-ea"/>
              </a:rPr>
              <a:t>4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kumimoji="1" lang="zh-CN" altLang="en-US" sz="1600" b="1" dirty="0">
                <a:latin typeface="+mn-ea"/>
              </a:rPr>
              <a:t>种不同进制的表示形式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、无论源程序中整型常量表示为何种进制，它的机内存储均为</a:t>
            </a:r>
            <a:r>
              <a:rPr kumimoji="1" lang="en-US" altLang="zh-CN" sz="1600" b="1" dirty="0">
                <a:latin typeface="+mn-ea"/>
              </a:rPr>
              <a:t>____</a:t>
            </a:r>
            <a:r>
              <a:rPr kumimoji="1" lang="zh-CN" altLang="en-US" sz="1600" b="1" u="sng" dirty="0">
                <a:latin typeface="+mn-ea"/>
              </a:rPr>
              <a:t>二进制</a:t>
            </a:r>
            <a:r>
              <a:rPr kumimoji="1" lang="zh-CN" altLang="en-CN" sz="1600" b="1" u="sng" dirty="0">
                <a:latin typeface="+mn-ea"/>
              </a:rPr>
              <a:t>补码</a:t>
            </a:r>
            <a:r>
              <a:rPr kumimoji="1" lang="en-US" altLang="zh-CN" sz="1600" b="1" dirty="0">
                <a:latin typeface="+mn-ea"/>
              </a:rPr>
              <a:t>_____</a:t>
            </a:r>
            <a:r>
              <a:rPr kumimoji="1" lang="zh-CN" altLang="en-US" sz="1600" b="1" dirty="0">
                <a:latin typeface="+mn-ea"/>
              </a:rPr>
              <a:t>形式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、如果想使数据输出时使用不同进制，要加</a:t>
            </a:r>
            <a:r>
              <a:rPr kumimoji="1" lang="en-US" altLang="zh-CN" sz="1600" b="1" dirty="0">
                <a:latin typeface="+mn-ea"/>
              </a:rPr>
              <a:t>____</a:t>
            </a:r>
            <a:r>
              <a:rPr kumimoji="1" lang="en-US" altLang="zh-CN" sz="1600" b="1" u="sng" dirty="0" err="1">
                <a:latin typeface="+mn-ea"/>
              </a:rPr>
              <a:t>dec,hex,oct</a:t>
            </a:r>
            <a:r>
              <a:rPr kumimoji="1" lang="en-US" altLang="zh-CN" sz="1600" b="1" dirty="0">
                <a:latin typeface="+mn-ea"/>
              </a:rPr>
              <a:t>_____</a:t>
            </a:r>
            <a:r>
              <a:rPr kumimoji="1" lang="zh-CN" altLang="en-US" sz="1600" b="1" dirty="0">
                <a:latin typeface="+mn-ea"/>
              </a:rPr>
              <a:t>等进制前导符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4</a:t>
            </a:r>
            <a:r>
              <a:rPr kumimoji="1" lang="zh-CN" altLang="en-US" sz="1600" b="1" dirty="0">
                <a:latin typeface="+mn-ea"/>
              </a:rPr>
              <a:t>、输出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zh-CN" altLang="en-US" sz="1600" b="1" u="sng" dirty="0">
                <a:latin typeface="+mn-ea"/>
              </a:rPr>
              <a:t>无</a:t>
            </a:r>
            <a:r>
              <a:rPr kumimoji="1" lang="en-US" altLang="zh-CN" sz="1600" b="1" dirty="0">
                <a:latin typeface="+mn-ea"/>
              </a:rPr>
              <a:t>_(</a:t>
            </a:r>
            <a:r>
              <a:rPr kumimoji="1" lang="zh-CN" altLang="en-US" sz="1600" b="1" dirty="0">
                <a:latin typeface="+mn-ea"/>
              </a:rPr>
              <a:t>有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无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二进制前导符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5</a:t>
            </a:r>
            <a:r>
              <a:rPr kumimoji="1" lang="zh-CN" altLang="en-US" sz="1600" b="1" dirty="0">
                <a:latin typeface="+mn-ea"/>
              </a:rPr>
              <a:t>、只有</a:t>
            </a:r>
            <a:r>
              <a:rPr kumimoji="1" lang="en-US" altLang="zh-CN" sz="1600" b="1" dirty="0">
                <a:latin typeface="+mn-ea"/>
              </a:rPr>
              <a:t>____</a:t>
            </a:r>
            <a:r>
              <a:rPr kumimoji="1" lang="zh-CN" altLang="en-US" sz="1600" b="1" u="sng" dirty="0">
                <a:latin typeface="+mn-ea"/>
              </a:rPr>
              <a:t>十</a:t>
            </a:r>
            <a:r>
              <a:rPr kumimoji="1" lang="en-US" altLang="zh-CN" sz="1600" b="1" dirty="0">
                <a:latin typeface="+mn-ea"/>
              </a:rPr>
              <a:t>____</a:t>
            </a:r>
            <a:r>
              <a:rPr kumimoji="1" lang="zh-CN" altLang="en-US" sz="1600" b="1" dirty="0">
                <a:latin typeface="+mn-ea"/>
              </a:rPr>
              <a:t>进制有负数形式输出；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16</a:t>
            </a:r>
            <a:r>
              <a:rPr kumimoji="1" lang="zh-CN" altLang="en-US" sz="1600" b="1" dirty="0">
                <a:latin typeface="+mn-ea"/>
              </a:rPr>
              <a:t>进制输出负数时，特征是</a:t>
            </a:r>
            <a:r>
              <a:rPr kumimoji="1" lang="en-US" altLang="zh-CN" sz="1600" b="1" dirty="0">
                <a:latin typeface="+mn-ea"/>
              </a:rPr>
              <a:t>__</a:t>
            </a:r>
            <a:r>
              <a:rPr kumimoji="1" lang="zh-CN" altLang="en-US" sz="1600" b="1" u="sng" dirty="0">
                <a:latin typeface="+mn-ea"/>
              </a:rPr>
              <a:t>二进制补码当作无符号数转换为</a:t>
            </a:r>
            <a:r>
              <a:rPr kumimoji="1" lang="en-US" altLang="zh-CN" sz="1600" b="1" u="sng" dirty="0">
                <a:latin typeface="+mn-ea"/>
              </a:rPr>
              <a:t>16</a:t>
            </a:r>
            <a:r>
              <a:rPr kumimoji="1" lang="zh-CN" altLang="en-US" sz="1600" b="1" u="sng" dirty="0">
                <a:latin typeface="+mn-ea"/>
              </a:rPr>
              <a:t>进制输出</a:t>
            </a:r>
            <a:r>
              <a:rPr kumimoji="1" lang="en-US" altLang="zh-CN" sz="1600" b="1" dirty="0">
                <a:latin typeface="+mn-ea"/>
              </a:rPr>
              <a:t>__</a:t>
            </a:r>
            <a:r>
              <a:rPr kumimoji="1" lang="zh-CN" altLang="en-US" sz="1600" b="1" dirty="0">
                <a:latin typeface="+mn-ea"/>
              </a:rPr>
              <a:t>；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8</a:t>
            </a:r>
            <a:r>
              <a:rPr kumimoji="1" lang="zh-CN" altLang="en-US" sz="1600" b="1" dirty="0">
                <a:latin typeface="+mn-ea"/>
              </a:rPr>
              <a:t>进制输出负数时，特征是</a:t>
            </a:r>
            <a:r>
              <a:rPr kumimoji="1" lang="en-US" altLang="zh-CN" sz="1600" b="1" dirty="0">
                <a:latin typeface="+mn-ea"/>
              </a:rPr>
              <a:t>__</a:t>
            </a:r>
            <a:r>
              <a:rPr kumimoji="1" lang="zh-CN" altLang="en-US" sz="1600" b="1" u="sng" dirty="0">
                <a:latin typeface="+mn-ea"/>
              </a:rPr>
              <a:t>二进制补码当作无符号数转换为</a:t>
            </a:r>
            <a:r>
              <a:rPr kumimoji="1" lang="en-US" altLang="zh-CN" sz="1600" b="1" u="sng" dirty="0">
                <a:latin typeface="+mn-ea"/>
              </a:rPr>
              <a:t>8</a:t>
            </a:r>
            <a:r>
              <a:rPr kumimoji="1" lang="zh-CN" altLang="en-US" sz="1600" b="1" u="sng" dirty="0">
                <a:latin typeface="+mn-ea"/>
              </a:rPr>
              <a:t>进制输出</a:t>
            </a:r>
            <a:r>
              <a:rPr kumimoji="1" lang="en-US" altLang="zh-CN" sz="1600" b="1" dirty="0">
                <a:latin typeface="+mn-ea"/>
              </a:rPr>
              <a:t>_</a:t>
            </a:r>
            <a:endParaRPr lang="zh-CN" altLang="en-US" sz="16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039049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进制前导符的连续使用：回答问题并将程序的运行结果截图贴上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31B6A17-5E7C-4625-90AE-6C7D682CA9B0}"/>
              </a:ext>
            </a:extLst>
          </p:cNvPr>
          <p:cNvSpPr/>
          <p:nvPr/>
        </p:nvSpPr>
        <p:spPr bwMode="auto">
          <a:xfrm>
            <a:off x="588076" y="5534025"/>
            <a:ext cx="10247336" cy="100012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结论：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 err="1">
                <a:latin typeface="+mn-ea"/>
              </a:rPr>
              <a:t>dec</a:t>
            </a:r>
            <a:r>
              <a:rPr kumimoji="1" lang="en-US" altLang="zh-CN" sz="1600" b="1" dirty="0">
                <a:latin typeface="+mn-ea"/>
              </a:rPr>
              <a:t>/hex/oct</a:t>
            </a:r>
            <a:r>
              <a:rPr kumimoji="1" lang="zh-CN" altLang="en-US" sz="1600" b="1" dirty="0">
                <a:latin typeface="+mn-ea"/>
              </a:rPr>
              <a:t>等进制前导符设置后，对后面的</a:t>
            </a:r>
            <a:r>
              <a:rPr kumimoji="1" lang="en-US" altLang="zh-CN" sz="1600" b="1" dirty="0">
                <a:latin typeface="+mn-ea"/>
              </a:rPr>
              <a:t>__</a:t>
            </a:r>
            <a:r>
              <a:rPr kumimoji="1" lang="zh-CN" altLang="en-US" sz="1600" b="1" u="sng" dirty="0">
                <a:latin typeface="+mn-ea"/>
              </a:rPr>
              <a:t>所有</a:t>
            </a:r>
            <a:r>
              <a:rPr kumimoji="1" lang="en-US" altLang="zh-CN" sz="1600" b="1" dirty="0">
                <a:latin typeface="+mn-ea"/>
              </a:rPr>
              <a:t>_(</a:t>
            </a:r>
            <a:r>
              <a:rPr kumimoji="1" lang="zh-CN" altLang="en-US" sz="1600" b="1" dirty="0">
                <a:latin typeface="+mn-ea"/>
              </a:rPr>
              <a:t>仅一个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所有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数据有效，直到用另一个控制符去改变为止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CA606D2-55A2-40E0-8D6D-3A0DF7E73037}"/>
              </a:ext>
            </a:extLst>
          </p:cNvPr>
          <p:cNvSpPr/>
          <p:nvPr/>
        </p:nvSpPr>
        <p:spPr bwMode="auto">
          <a:xfrm>
            <a:off x="588075" y="1323973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400" b="1" dirty="0">
                <a:latin typeface="+mn-ea"/>
              </a:rPr>
              <a:t>#include &lt;iostream&gt;</a:t>
            </a:r>
          </a:p>
          <a:p>
            <a:r>
              <a:rPr lang="en-US" altLang="zh-CN" sz="1400" b="1" dirty="0">
                <a:latin typeface="+mn-ea"/>
              </a:rPr>
              <a:t>#include &lt;</a:t>
            </a:r>
            <a:r>
              <a:rPr lang="en-US" altLang="zh-CN" sz="1400" b="1" dirty="0" err="1">
                <a:latin typeface="+mn-ea"/>
              </a:rPr>
              <a:t>iomanip</a:t>
            </a:r>
            <a:r>
              <a:rPr lang="en-US" altLang="zh-CN" sz="1400" b="1" dirty="0">
                <a:latin typeface="+mn-ea"/>
              </a:rPr>
              <a:t>&gt;</a:t>
            </a:r>
          </a:p>
          <a:p>
            <a:endParaRPr lang="en-US" altLang="zh-CN" sz="1400" b="1" dirty="0">
              <a:latin typeface="+mn-ea"/>
            </a:endParaRPr>
          </a:p>
          <a:p>
            <a:r>
              <a:rPr lang="en-US" altLang="zh-CN" sz="1400" b="1" dirty="0">
                <a:latin typeface="+mn-ea"/>
              </a:rPr>
              <a:t>using namespace std;</a:t>
            </a:r>
          </a:p>
          <a:p>
            <a:r>
              <a:rPr lang="en-US" altLang="zh-CN" sz="1400" b="1" dirty="0">
                <a:latin typeface="+mn-ea"/>
              </a:rPr>
              <a:t>int main()</a:t>
            </a:r>
          </a:p>
          <a:p>
            <a:r>
              <a:rPr lang="en-US" altLang="zh-CN" sz="1400" b="1" dirty="0">
                <a:latin typeface="+mn-ea"/>
              </a:rPr>
              <a:t>{</a:t>
            </a:r>
          </a:p>
          <a:p>
            <a:r>
              <a:rPr lang="en-US" altLang="zh-CN" sz="1400" b="1" dirty="0">
                <a:latin typeface="+mn-ea"/>
              </a:rPr>
              <a:t>    int a = 10;</a:t>
            </a:r>
          </a:p>
          <a:p>
            <a:r>
              <a:rPr lang="en-US" altLang="zh-CN" sz="1400" b="1" dirty="0">
                <a:latin typeface="+mn-ea"/>
              </a:rPr>
              <a:t>    </a:t>
            </a:r>
            <a:r>
              <a:rPr lang="en-US" altLang="zh-CN" sz="1400" b="1" dirty="0" err="1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cout</a:t>
            </a:r>
            <a:r>
              <a:rPr lang="en-US" altLang="zh-CN" sz="14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 &lt;&lt; ”2454307" &lt;&lt; </a:t>
            </a:r>
            <a:r>
              <a:rPr lang="en-US" altLang="zh-CN" sz="1400" b="1" dirty="0" err="1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endl</a:t>
            </a:r>
            <a:r>
              <a:rPr lang="en-US" altLang="zh-CN" sz="14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;</a:t>
            </a:r>
            <a:r>
              <a:rPr lang="en-US" altLang="zh-CN" sz="1400" b="1" dirty="0">
                <a:solidFill>
                  <a:srgbClr val="FF0000"/>
                </a:solidFill>
                <a:latin typeface="+mn-ea"/>
              </a:rPr>
              <a:t>  //</a:t>
            </a:r>
            <a:r>
              <a:rPr lang="zh-CN" altLang="en-US" sz="1400" b="1" dirty="0">
                <a:solidFill>
                  <a:srgbClr val="FF0000"/>
                </a:solidFill>
                <a:latin typeface="+mn-ea"/>
              </a:rPr>
              <a:t>此处必须改为你的学号，否则本作业</a:t>
            </a:r>
            <a:r>
              <a:rPr lang="en-US" altLang="zh-CN" sz="1400" b="1" dirty="0">
                <a:solidFill>
                  <a:srgbClr val="FF0000"/>
                </a:solidFill>
                <a:latin typeface="+mn-ea"/>
              </a:rPr>
              <a:t>0</a:t>
            </a:r>
            <a:r>
              <a:rPr lang="zh-CN" altLang="en-US" sz="1400" b="1" dirty="0">
                <a:solidFill>
                  <a:srgbClr val="FF0000"/>
                </a:solidFill>
                <a:latin typeface="+mn-ea"/>
              </a:rPr>
              <a:t>分（后续含学号的所有作业要求相同）</a:t>
            </a:r>
            <a:endParaRPr lang="en-US" altLang="zh-CN" sz="1400" b="1" dirty="0">
              <a:latin typeface="+mn-ea"/>
            </a:endParaRPr>
          </a:p>
          <a:p>
            <a:r>
              <a:rPr lang="en-US" altLang="zh-CN" sz="1400" b="1" dirty="0">
                <a:latin typeface="+mn-ea"/>
              </a:rPr>
              <a:t>    </a:t>
            </a:r>
            <a:r>
              <a:rPr lang="en-US" altLang="zh-CN" sz="1400" b="1" dirty="0" err="1">
                <a:latin typeface="+mn-ea"/>
              </a:rPr>
              <a:t>cout</a:t>
            </a:r>
            <a:r>
              <a:rPr lang="en-US" altLang="zh-CN" sz="1400" b="1" dirty="0">
                <a:latin typeface="+mn-ea"/>
              </a:rPr>
              <a:t> &lt;&lt; a &lt;&lt; ' ' &lt;&lt; a+1 &lt;&lt; ' ' &lt;&lt; a+2 &lt;&lt; </a:t>
            </a:r>
            <a:r>
              <a:rPr lang="en-US" altLang="zh-CN" sz="1400" b="1" dirty="0" err="1">
                <a:latin typeface="+mn-ea"/>
              </a:rPr>
              <a:t>endl</a:t>
            </a:r>
            <a:r>
              <a:rPr lang="en-US" altLang="zh-CN" sz="1400" b="1" dirty="0">
                <a:latin typeface="+mn-ea"/>
              </a:rPr>
              <a:t>; </a:t>
            </a:r>
          </a:p>
          <a:p>
            <a:r>
              <a:rPr lang="en-US" altLang="zh-CN" sz="1400" b="1" dirty="0">
                <a:latin typeface="+mn-ea"/>
              </a:rPr>
              <a:t>    </a:t>
            </a:r>
            <a:r>
              <a:rPr lang="en-US" altLang="zh-CN" sz="1400" b="1" dirty="0" err="1">
                <a:latin typeface="+mn-ea"/>
              </a:rPr>
              <a:t>cout</a:t>
            </a:r>
            <a:r>
              <a:rPr lang="en-US" altLang="zh-CN" sz="1400" b="1" dirty="0">
                <a:latin typeface="+mn-ea"/>
              </a:rPr>
              <a:t> &lt;&lt; hex;</a:t>
            </a:r>
          </a:p>
          <a:p>
            <a:r>
              <a:rPr lang="en-US" altLang="zh-CN" sz="1400" b="1" dirty="0">
                <a:latin typeface="+mn-ea"/>
              </a:rPr>
              <a:t>    </a:t>
            </a:r>
            <a:r>
              <a:rPr lang="en-US" altLang="zh-CN" sz="1400" b="1" dirty="0" err="1">
                <a:latin typeface="+mn-ea"/>
              </a:rPr>
              <a:t>cout</a:t>
            </a:r>
            <a:r>
              <a:rPr lang="en-US" altLang="zh-CN" sz="1400" b="1" dirty="0">
                <a:latin typeface="+mn-ea"/>
              </a:rPr>
              <a:t> &lt;&lt; a &lt;&lt; ' ' &lt;&lt; a+1 &lt;&lt; ' ' &lt;&lt; a+2 &lt;&lt; </a:t>
            </a:r>
            <a:r>
              <a:rPr lang="en-US" altLang="zh-CN" sz="1400" b="1" dirty="0" err="1">
                <a:latin typeface="+mn-ea"/>
              </a:rPr>
              <a:t>endl</a:t>
            </a:r>
            <a:r>
              <a:rPr lang="en-US" altLang="zh-CN" sz="1400" b="1" dirty="0">
                <a:latin typeface="+mn-ea"/>
              </a:rPr>
              <a:t>; </a:t>
            </a:r>
            <a:endParaRPr lang="zh-CN" altLang="en-US" sz="1400" b="1" dirty="0">
              <a:latin typeface="+mn-ea"/>
            </a:endParaRPr>
          </a:p>
          <a:p>
            <a:r>
              <a:rPr lang="en-US" altLang="zh-CN" sz="1400" b="1" dirty="0">
                <a:latin typeface="+mn-ea"/>
              </a:rPr>
              <a:t>    </a:t>
            </a:r>
            <a:r>
              <a:rPr lang="en-US" altLang="zh-CN" sz="1400" b="1" dirty="0" err="1">
                <a:latin typeface="+mn-ea"/>
              </a:rPr>
              <a:t>cout</a:t>
            </a:r>
            <a:r>
              <a:rPr lang="en-US" altLang="zh-CN" sz="1400" b="1" dirty="0">
                <a:latin typeface="+mn-ea"/>
              </a:rPr>
              <a:t> &lt;&lt; oct;</a:t>
            </a:r>
          </a:p>
          <a:p>
            <a:r>
              <a:rPr lang="en-US" altLang="zh-CN" sz="1400" b="1" dirty="0">
                <a:latin typeface="+mn-ea"/>
              </a:rPr>
              <a:t>    </a:t>
            </a:r>
            <a:r>
              <a:rPr lang="en-US" altLang="zh-CN" sz="1400" b="1" dirty="0" err="1">
                <a:latin typeface="+mn-ea"/>
              </a:rPr>
              <a:t>cout</a:t>
            </a:r>
            <a:r>
              <a:rPr lang="en-US" altLang="zh-CN" sz="1400" b="1" dirty="0">
                <a:latin typeface="+mn-ea"/>
              </a:rPr>
              <a:t> &lt;&lt; a &lt;&lt; ' ' &lt;&lt; a+1 &lt;&lt; ' ' &lt;&lt; a+2 &lt;&lt; </a:t>
            </a:r>
            <a:r>
              <a:rPr lang="en-US" altLang="zh-CN" sz="1400" b="1" dirty="0" err="1">
                <a:latin typeface="+mn-ea"/>
              </a:rPr>
              <a:t>endl</a:t>
            </a:r>
            <a:r>
              <a:rPr lang="en-US" altLang="zh-CN" sz="1400" b="1" dirty="0">
                <a:latin typeface="+mn-ea"/>
              </a:rPr>
              <a:t>; </a:t>
            </a:r>
          </a:p>
          <a:p>
            <a:r>
              <a:rPr lang="en-US" altLang="zh-CN" sz="1400" b="1" dirty="0">
                <a:latin typeface="+mn-ea"/>
              </a:rPr>
              <a:t>    </a:t>
            </a:r>
            <a:r>
              <a:rPr lang="en-US" altLang="zh-CN" sz="1400" b="1" dirty="0" err="1">
                <a:latin typeface="+mn-ea"/>
              </a:rPr>
              <a:t>cout</a:t>
            </a:r>
            <a:r>
              <a:rPr lang="en-US" altLang="zh-CN" sz="1400" b="1" dirty="0">
                <a:latin typeface="+mn-ea"/>
              </a:rPr>
              <a:t> &lt;&lt; </a:t>
            </a:r>
            <a:r>
              <a:rPr lang="en-US" altLang="zh-CN" sz="1400" b="1" dirty="0" err="1">
                <a:latin typeface="+mn-ea"/>
              </a:rPr>
              <a:t>dec</a:t>
            </a:r>
            <a:r>
              <a:rPr lang="en-US" altLang="zh-CN" sz="1400" b="1" dirty="0">
                <a:latin typeface="+mn-ea"/>
              </a:rPr>
              <a:t>;</a:t>
            </a:r>
          </a:p>
          <a:p>
            <a:r>
              <a:rPr lang="en-US" altLang="zh-CN" sz="1400" b="1" dirty="0">
                <a:latin typeface="+mn-ea"/>
              </a:rPr>
              <a:t>    </a:t>
            </a:r>
            <a:r>
              <a:rPr lang="en-US" altLang="zh-CN" sz="1400" b="1" dirty="0" err="1">
                <a:latin typeface="+mn-ea"/>
              </a:rPr>
              <a:t>cout</a:t>
            </a:r>
            <a:r>
              <a:rPr lang="en-US" altLang="zh-CN" sz="1400" b="1" dirty="0">
                <a:latin typeface="+mn-ea"/>
              </a:rPr>
              <a:t> &lt;&lt; a &lt;&lt; ' ' &lt;&lt; a+1 &lt;&lt; ' ' &lt;&lt; a+2 &lt;&lt; </a:t>
            </a:r>
            <a:r>
              <a:rPr lang="en-US" altLang="zh-CN" sz="1400" b="1" dirty="0" err="1">
                <a:latin typeface="+mn-ea"/>
              </a:rPr>
              <a:t>endl</a:t>
            </a:r>
            <a:r>
              <a:rPr lang="en-US" altLang="zh-CN" sz="1400" b="1" dirty="0">
                <a:latin typeface="+mn-ea"/>
              </a:rPr>
              <a:t>; </a:t>
            </a:r>
          </a:p>
          <a:p>
            <a:endParaRPr lang="en-US" altLang="zh-CN" sz="1400" b="1" dirty="0">
              <a:latin typeface="+mn-ea"/>
            </a:endParaRPr>
          </a:p>
          <a:p>
            <a:r>
              <a:rPr lang="en-US" altLang="zh-CN" sz="1400" b="1" dirty="0">
                <a:latin typeface="+mn-ea"/>
              </a:rPr>
              <a:t>    return 0;</a:t>
            </a:r>
          </a:p>
          <a:p>
            <a:r>
              <a:rPr lang="en-US" altLang="zh-CN" sz="1400" b="1" dirty="0">
                <a:latin typeface="+mn-ea"/>
              </a:rPr>
              <a:t>}</a:t>
            </a:r>
          </a:p>
          <a:p>
            <a:endParaRPr lang="en-US" altLang="zh-CN" sz="1400" b="1" dirty="0">
              <a:latin typeface="+mn-ea"/>
            </a:endParaRP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D8F5C05-0F70-C209-A23E-92F0C8386C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3614" y="3122610"/>
            <a:ext cx="1498600" cy="161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2882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sz="1200" b="1" dirty="0">
              <a:latin typeface="+mn-ea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en-US" altLang="zh-CN" sz="1600" b="1" dirty="0" err="1">
                <a:latin typeface="+mn-ea"/>
              </a:rPr>
              <a:t>C.setbase</a:t>
            </a:r>
            <a:r>
              <a:rPr lang="zh-CN" altLang="en-US" sz="1600" b="1" dirty="0">
                <a:latin typeface="+mn-ea"/>
              </a:rPr>
              <a:t>的使用：同</a:t>
            </a:r>
            <a:r>
              <a:rPr lang="en-US" altLang="zh-CN" sz="1600" b="1" dirty="0">
                <a:latin typeface="+mn-ea"/>
              </a:rPr>
              <a:t>1.A</a:t>
            </a:r>
            <a:r>
              <a:rPr lang="zh-CN" altLang="en-US" sz="1600" b="1" dirty="0">
                <a:latin typeface="+mn-ea"/>
              </a:rPr>
              <a:t>的形式，按要求自行构造测试程序，回答问题并将程序的运行结果截图贴上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允许多页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31B6A17-5E7C-4625-90AE-6C7D682CA9B0}"/>
              </a:ext>
            </a:extLst>
          </p:cNvPr>
          <p:cNvSpPr/>
          <p:nvPr/>
        </p:nvSpPr>
        <p:spPr bwMode="auto">
          <a:xfrm>
            <a:off x="5013434" y="1323974"/>
            <a:ext cx="5821978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自行构造若干组测试数据，运行并截图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结论：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 err="1">
                <a:latin typeface="+mn-ea"/>
              </a:rPr>
              <a:t>setbase</a:t>
            </a:r>
            <a:r>
              <a:rPr kumimoji="1" lang="zh-CN" altLang="en-US" sz="1600" b="1" dirty="0">
                <a:latin typeface="+mn-ea"/>
              </a:rPr>
              <a:t>中允许的合法值有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kumimoji="1" lang="en-US" altLang="zh-CN" sz="1600" b="1" u="sng" dirty="0">
                <a:latin typeface="+mn-ea"/>
              </a:rPr>
              <a:t>8, 10, 16</a:t>
            </a:r>
            <a:r>
              <a:rPr kumimoji="1" lang="en-US" altLang="zh-CN" sz="1600" b="1" dirty="0">
                <a:latin typeface="+mn-ea"/>
              </a:rPr>
              <a:t>___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、当</a:t>
            </a:r>
            <a:r>
              <a:rPr kumimoji="1" lang="en-US" altLang="zh-CN" sz="1600" b="1" dirty="0" err="1">
                <a:latin typeface="+mn-ea"/>
              </a:rPr>
              <a:t>setbase</a:t>
            </a:r>
            <a:r>
              <a:rPr kumimoji="1" lang="zh-CN" altLang="en-US" sz="1600" b="1" dirty="0">
                <a:latin typeface="+mn-ea"/>
              </a:rPr>
              <a:t>中出现非法值时，处理方法是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zh-CN" altLang="en-US" sz="1600" b="1" dirty="0">
                <a:latin typeface="+mn-ea"/>
              </a:rPr>
              <a:t>将进制设为</a:t>
            </a:r>
            <a:r>
              <a:rPr kumimoji="1" lang="en-US" altLang="zh-CN" sz="1600" b="1" dirty="0">
                <a:latin typeface="+mn-ea"/>
              </a:rPr>
              <a:t>10</a:t>
            </a:r>
            <a:r>
              <a:rPr kumimoji="1" lang="zh-CN" altLang="en-US" sz="1600" b="1" dirty="0">
                <a:latin typeface="+mn-ea"/>
              </a:rPr>
              <a:t>进制</a:t>
            </a:r>
            <a:r>
              <a:rPr kumimoji="1" lang="en-US" altLang="zh-CN" sz="1600" b="1" dirty="0">
                <a:latin typeface="+mn-ea"/>
              </a:rPr>
              <a:t>__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 err="1">
                <a:latin typeface="+mn-ea"/>
              </a:rPr>
              <a:t>setbase</a:t>
            </a:r>
            <a:r>
              <a:rPr kumimoji="1" lang="zh-CN" altLang="en-US" sz="1600" b="1" dirty="0">
                <a:latin typeface="+mn-ea"/>
              </a:rPr>
              <a:t>设置后，对后面的</a:t>
            </a:r>
            <a:r>
              <a:rPr kumimoji="1" lang="en-US" altLang="zh-CN" sz="1600" b="1" dirty="0">
                <a:latin typeface="+mn-ea"/>
              </a:rPr>
              <a:t>____</a:t>
            </a:r>
            <a:r>
              <a:rPr kumimoji="1" lang="zh-CN" altLang="en-US" sz="1600" b="1" u="sng" dirty="0">
                <a:latin typeface="+mn-ea"/>
              </a:rPr>
              <a:t>所有</a:t>
            </a:r>
            <a:r>
              <a:rPr kumimoji="1" lang="en-US" altLang="zh-CN" sz="1600" b="1" dirty="0">
                <a:latin typeface="+mn-ea"/>
              </a:rPr>
              <a:t>____(</a:t>
            </a:r>
            <a:r>
              <a:rPr kumimoji="1" lang="zh-CN" altLang="en-US" sz="1600" b="1" dirty="0">
                <a:latin typeface="+mn-ea"/>
              </a:rPr>
              <a:t>仅一个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所有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数据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有效，直到用另一个</a:t>
            </a:r>
            <a:r>
              <a:rPr kumimoji="1" lang="en-US" altLang="zh-CN" sz="1600" b="1" dirty="0" err="1">
                <a:latin typeface="+mn-ea"/>
              </a:rPr>
              <a:t>setbase</a:t>
            </a:r>
            <a:r>
              <a:rPr kumimoji="1" lang="zh-CN" altLang="en-US" sz="1600" b="1" dirty="0">
                <a:latin typeface="+mn-ea"/>
              </a:rPr>
              <a:t>去改变为止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CA606D2-55A2-40E0-8D6D-3A0DF7E73037}"/>
              </a:ext>
            </a:extLst>
          </p:cNvPr>
          <p:cNvSpPr/>
          <p:nvPr/>
        </p:nvSpPr>
        <p:spPr bwMode="auto">
          <a:xfrm>
            <a:off x="592115" y="1323973"/>
            <a:ext cx="4421319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#include &lt;</a:t>
            </a:r>
            <a:r>
              <a:rPr lang="en-US" altLang="zh-CN" sz="1600" b="1" dirty="0" err="1">
                <a:latin typeface="+mn-ea"/>
              </a:rPr>
              <a:t>iomanip</a:t>
            </a:r>
            <a:r>
              <a:rPr lang="en-US" altLang="zh-CN" sz="1600" b="1" dirty="0">
                <a:latin typeface="+mn-ea"/>
              </a:rPr>
              <a:t>&gt;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}//</a:t>
            </a:r>
            <a:r>
              <a:rPr lang="zh-CN" altLang="en-US" sz="1600" b="1" dirty="0">
                <a:latin typeface="+mn-ea"/>
              </a:rPr>
              <a:t>允许直接贴构造的程序，不用再输入到这里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构造的程序要求能看出对右侧问题的回答</a:t>
            </a:r>
            <a:endParaRPr lang="zh-CN" altLang="en-US" sz="1600" b="1" dirty="0">
              <a:latin typeface="+mn-ea"/>
            </a:endParaRP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将构造的程序直接贴图上来，左侧不写也可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8" name="Picture 7" descr="A computer screen shot of a program&#10;&#10;AI-generated content may be incorrect.">
            <a:extLst>
              <a:ext uri="{FF2B5EF4-FFF2-40B4-BE49-F238E27FC236}">
                <a16:creationId xmlns:a16="http://schemas.microsoft.com/office/drawing/2014/main" id="{B010800B-52B1-EF0E-4833-FA9746536A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114" y="1323971"/>
            <a:ext cx="4421319" cy="3559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0570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sz="1200" b="1" dirty="0">
              <a:latin typeface="+mn-ea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en-US" altLang="zh-CN" sz="1600" b="1" dirty="0" err="1">
                <a:latin typeface="+mn-ea"/>
              </a:rPr>
              <a:t>D.</a:t>
            </a:r>
            <a:r>
              <a:rPr lang="en-US" altLang="zh-CN" sz="1600" b="1" kern="1200" dirty="0" err="1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ios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::uppercase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的使用</a:t>
            </a:r>
            <a:r>
              <a:rPr lang="zh-CN" altLang="en-US" sz="1600" b="1" dirty="0">
                <a:latin typeface="+mn-ea"/>
              </a:rPr>
              <a:t>：按要求自行构造测试程序，能对比看出用和不用的差别即可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31B6A17-5E7C-4625-90AE-6C7D682CA9B0}"/>
              </a:ext>
            </a:extLst>
          </p:cNvPr>
          <p:cNvSpPr/>
          <p:nvPr/>
        </p:nvSpPr>
        <p:spPr bwMode="auto">
          <a:xfrm>
            <a:off x="5013434" y="1323974"/>
            <a:ext cx="5821978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测试程序中的数据类型为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int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，自行构造若干组测试数据，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运行并截图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结论：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>
                <a:latin typeface="+mn-ea"/>
              </a:rPr>
              <a:t>uppercase</a:t>
            </a:r>
            <a:r>
              <a:rPr kumimoji="1" lang="zh-CN" altLang="en-US" sz="1600" b="1" dirty="0">
                <a:latin typeface="+mn-ea"/>
              </a:rPr>
              <a:t>和</a:t>
            </a:r>
            <a:r>
              <a:rPr kumimoji="1" lang="en-US" altLang="zh-CN" sz="1600" b="1" dirty="0">
                <a:latin typeface="+mn-ea"/>
              </a:rPr>
              <a:t>__</a:t>
            </a:r>
            <a:r>
              <a:rPr kumimoji="1" lang="zh-CN" altLang="en-US" sz="1600" b="1" u="sng" dirty="0">
                <a:latin typeface="+mn-ea"/>
              </a:rPr>
              <a:t>十六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zh-CN" altLang="en-US" sz="1600" b="1" dirty="0">
                <a:latin typeface="+mn-ea"/>
              </a:rPr>
              <a:t>进制一起使用才能看出效果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>
                <a:latin typeface="+mn-ea"/>
              </a:rPr>
              <a:t>uppercase</a:t>
            </a:r>
            <a:r>
              <a:rPr kumimoji="1" lang="zh-CN" altLang="en-US" sz="1600" b="1" dirty="0">
                <a:latin typeface="+mn-ea"/>
              </a:rPr>
              <a:t>设置后，对后面的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kumimoji="1" lang="zh-CN" altLang="en-US" sz="1600" b="1" u="sng" dirty="0">
                <a:latin typeface="+mn-ea"/>
              </a:rPr>
              <a:t>所有</a:t>
            </a:r>
            <a:r>
              <a:rPr kumimoji="1" lang="en-US" altLang="zh-CN" sz="1600" b="1" dirty="0">
                <a:latin typeface="+mn-ea"/>
              </a:rPr>
              <a:t>___(</a:t>
            </a:r>
            <a:r>
              <a:rPr kumimoji="1" lang="zh-CN" altLang="en-US" sz="1600" b="1" dirty="0">
                <a:latin typeface="+mn-ea"/>
              </a:rPr>
              <a:t>仅一个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所有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数据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有效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、同一个程序中，设置完</a:t>
            </a:r>
            <a:r>
              <a:rPr kumimoji="1" lang="en-US" altLang="zh-CN" sz="1600" b="1" dirty="0">
                <a:latin typeface="+mn-ea"/>
              </a:rPr>
              <a:t>uppercase</a:t>
            </a:r>
            <a:r>
              <a:rPr kumimoji="1" lang="zh-CN" altLang="en-US" sz="1600" b="1" dirty="0">
                <a:latin typeface="+mn-ea"/>
              </a:rPr>
              <a:t>，如果想恢复小写，具体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的做法是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en-US" altLang="zh-CN" sz="1600" b="1" u="sng" dirty="0" err="1">
                <a:latin typeface="+mn-ea"/>
              </a:rPr>
              <a:t>resetiosflags</a:t>
            </a:r>
            <a:r>
              <a:rPr kumimoji="1" lang="en-US" altLang="zh-CN" sz="1600" b="1" u="sng" dirty="0">
                <a:latin typeface="+mn-ea"/>
              </a:rPr>
              <a:t>(</a:t>
            </a:r>
            <a:r>
              <a:rPr kumimoji="1" lang="en-US" altLang="zh-CN" sz="1600" b="1" u="sng" dirty="0" err="1">
                <a:latin typeface="+mn-ea"/>
              </a:rPr>
              <a:t>ios</a:t>
            </a:r>
            <a:r>
              <a:rPr kumimoji="1" lang="en-US" altLang="zh-CN" sz="1600" b="1" u="sng" dirty="0">
                <a:latin typeface="+mn-ea"/>
              </a:rPr>
              <a:t>::uppercase)</a:t>
            </a:r>
            <a:r>
              <a:rPr kumimoji="1" lang="en-US" altLang="zh-CN" sz="1600" b="1" dirty="0">
                <a:latin typeface="+mn-ea"/>
              </a:rPr>
              <a:t>___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  (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本小问如果不会，先不要问，先往后做，看后面的题目是否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   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有相似问题可以启发你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CA606D2-55A2-40E0-8D6D-3A0DF7E73037}"/>
              </a:ext>
            </a:extLst>
          </p:cNvPr>
          <p:cNvSpPr/>
          <p:nvPr/>
        </p:nvSpPr>
        <p:spPr bwMode="auto">
          <a:xfrm>
            <a:off x="592115" y="1323973"/>
            <a:ext cx="4421319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#include &lt;</a:t>
            </a:r>
            <a:r>
              <a:rPr lang="en-US" altLang="zh-CN" sz="1600" b="1" dirty="0" err="1">
                <a:latin typeface="+mn-ea"/>
              </a:rPr>
              <a:t>iomanip</a:t>
            </a:r>
            <a:r>
              <a:rPr lang="en-US" altLang="zh-CN" sz="1600" b="1" dirty="0">
                <a:latin typeface="+mn-ea"/>
              </a:rPr>
              <a:t>&gt;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}//</a:t>
            </a:r>
            <a:r>
              <a:rPr lang="zh-CN" altLang="en-US" sz="1600" b="1" dirty="0">
                <a:latin typeface="+mn-ea"/>
              </a:rPr>
              <a:t>允许直接贴构造的程序，不用再输入到这里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构造的程序要求能看出对右侧问题的回答</a:t>
            </a:r>
            <a:endParaRPr lang="zh-CN" altLang="en-US" sz="1600" b="1" dirty="0">
              <a:latin typeface="+mn-ea"/>
            </a:endParaRP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将构造的程序直接贴图上来，左侧不写也可</a:t>
            </a:r>
            <a:endParaRPr lang="zh-CN" altLang="en-US" sz="1600" b="1" dirty="0">
              <a:latin typeface="+mn-ea"/>
            </a:endParaRPr>
          </a:p>
        </p:txBody>
      </p:sp>
      <p:pic>
        <p:nvPicPr>
          <p:cNvPr id="13" name="Picture 12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9D0825E3-711D-2854-20F8-E4D2320D61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113" y="1323971"/>
            <a:ext cx="4463738" cy="2772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090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sz="1200" b="1" dirty="0">
              <a:latin typeface="+mn-ea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en-US" altLang="zh-CN" sz="1600" b="1" dirty="0" err="1">
                <a:latin typeface="+mn-ea"/>
              </a:rPr>
              <a:t>E.</a:t>
            </a:r>
            <a:r>
              <a:rPr lang="en-US" altLang="zh-CN" sz="1600" b="1" kern="1200" dirty="0" err="1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ios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::</a:t>
            </a:r>
            <a:r>
              <a:rPr lang="en-US" altLang="zh-CN" sz="1600" b="1" kern="1200" dirty="0" err="1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showpos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的使用</a:t>
            </a:r>
            <a:r>
              <a:rPr lang="zh-CN" altLang="en-US" sz="1600" b="1" dirty="0">
                <a:latin typeface="+mn-ea"/>
              </a:rPr>
              <a:t>：按要求自行构造测试程序，能对比看出用和不用的差别即可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31B6A17-5E7C-4625-90AE-6C7D682CA9B0}"/>
              </a:ext>
            </a:extLst>
          </p:cNvPr>
          <p:cNvSpPr/>
          <p:nvPr/>
        </p:nvSpPr>
        <p:spPr bwMode="auto">
          <a:xfrm>
            <a:off x="5013434" y="1323974"/>
            <a:ext cx="5821978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测试程序中的数据类型为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int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，自行构造若干组测试数据，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运行并截图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结论：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 err="1">
                <a:latin typeface="+mn-ea"/>
              </a:rPr>
              <a:t>showpos</a:t>
            </a:r>
            <a:r>
              <a:rPr kumimoji="1" lang="zh-CN" altLang="en-US" sz="1600" b="1" dirty="0">
                <a:latin typeface="+mn-ea"/>
              </a:rPr>
              <a:t>和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zh-CN" altLang="en-US" sz="1600" b="1" dirty="0">
                <a:latin typeface="+mn-ea"/>
              </a:rPr>
              <a:t>十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zh-CN" altLang="en-US" sz="1600" b="1" dirty="0">
                <a:latin typeface="+mn-ea"/>
              </a:rPr>
              <a:t>进制一起使用才能看出效果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 err="1">
                <a:latin typeface="+mn-ea"/>
              </a:rPr>
              <a:t>showpos</a:t>
            </a:r>
            <a:r>
              <a:rPr kumimoji="1" lang="zh-CN" altLang="en-US" sz="1600" b="1" dirty="0">
                <a:latin typeface="+mn-ea"/>
              </a:rPr>
              <a:t>设置后，对后面的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kumimoji="1" lang="zh-CN" altLang="en-US" sz="1600" b="1" u="sng" dirty="0">
                <a:latin typeface="+mn-ea"/>
              </a:rPr>
              <a:t>所有</a:t>
            </a:r>
            <a:r>
              <a:rPr kumimoji="1" lang="en-US" altLang="zh-CN" sz="1600" b="1" dirty="0">
                <a:latin typeface="+mn-ea"/>
              </a:rPr>
              <a:t>___(</a:t>
            </a:r>
            <a:r>
              <a:rPr kumimoji="1" lang="zh-CN" altLang="en-US" sz="1600" b="1" dirty="0">
                <a:latin typeface="+mn-ea"/>
              </a:rPr>
              <a:t>仅一个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所有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数据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有效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、同一个程序中，设置完</a:t>
            </a:r>
            <a:r>
              <a:rPr kumimoji="1" lang="en-US" altLang="zh-CN" sz="1600" b="1" dirty="0" err="1">
                <a:latin typeface="+mn-ea"/>
              </a:rPr>
              <a:t>showpos</a:t>
            </a:r>
            <a:r>
              <a:rPr kumimoji="1" lang="zh-CN" altLang="en-US" sz="1600" b="1" dirty="0">
                <a:latin typeface="+mn-ea"/>
              </a:rPr>
              <a:t>，如果想取消，具体的做法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是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kumimoji="1" lang="zh-CN" altLang="en-US" sz="1600" b="1" u="sng" dirty="0">
                <a:latin typeface="+mn-ea"/>
              </a:rPr>
              <a:t>添加前导符</a:t>
            </a:r>
            <a:r>
              <a:rPr kumimoji="1" lang="en-US" altLang="zh-CN" sz="1600" b="1" u="sng" dirty="0" err="1">
                <a:latin typeface="+mn-ea"/>
              </a:rPr>
              <a:t>resetiosflags</a:t>
            </a:r>
            <a:r>
              <a:rPr kumimoji="1" lang="en-US" altLang="zh-CN" sz="1600" b="1" u="sng" dirty="0">
                <a:latin typeface="+mn-ea"/>
              </a:rPr>
              <a:t>(</a:t>
            </a:r>
            <a:r>
              <a:rPr kumimoji="1" lang="en-US" altLang="zh-CN" sz="1600" b="1" u="sng" dirty="0" err="1">
                <a:latin typeface="+mn-ea"/>
              </a:rPr>
              <a:t>ios</a:t>
            </a:r>
            <a:r>
              <a:rPr kumimoji="1" lang="en-US" altLang="zh-CN" sz="1600" b="1" u="sng" dirty="0">
                <a:latin typeface="+mn-ea"/>
              </a:rPr>
              <a:t>::</a:t>
            </a:r>
            <a:r>
              <a:rPr kumimoji="1" lang="en-US" altLang="zh-CN" sz="1600" b="1" u="sng" dirty="0" err="1">
                <a:latin typeface="+mn-ea"/>
              </a:rPr>
              <a:t>showpos</a:t>
            </a:r>
            <a:r>
              <a:rPr kumimoji="1" lang="en-US" altLang="zh-CN" sz="1600" b="1" u="sng" dirty="0">
                <a:latin typeface="+mn-ea"/>
              </a:rPr>
              <a:t>)</a:t>
            </a:r>
            <a:r>
              <a:rPr kumimoji="1" lang="en-US" altLang="zh-CN" sz="1600" b="1" dirty="0">
                <a:latin typeface="+mn-ea"/>
              </a:rPr>
              <a:t>_____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  (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本小问如果不会，先不要问，先往后做，看后面的题目是否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   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有相似问题可以启发你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CA606D2-55A2-40E0-8D6D-3A0DF7E73037}"/>
              </a:ext>
            </a:extLst>
          </p:cNvPr>
          <p:cNvSpPr/>
          <p:nvPr/>
        </p:nvSpPr>
        <p:spPr bwMode="auto">
          <a:xfrm>
            <a:off x="592115" y="1323973"/>
            <a:ext cx="4421319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#include &lt;</a:t>
            </a:r>
            <a:r>
              <a:rPr lang="en-US" altLang="zh-CN" sz="1600" b="1" dirty="0" err="1">
                <a:latin typeface="+mn-ea"/>
              </a:rPr>
              <a:t>iomanip</a:t>
            </a:r>
            <a:r>
              <a:rPr lang="en-US" altLang="zh-CN" sz="1600" b="1" dirty="0">
                <a:latin typeface="+mn-ea"/>
              </a:rPr>
              <a:t>&gt;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}//</a:t>
            </a:r>
            <a:r>
              <a:rPr lang="zh-CN" altLang="en-US" sz="1600" b="1" dirty="0">
                <a:latin typeface="+mn-ea"/>
              </a:rPr>
              <a:t>允许直接贴构造的程序，不用再输入到这里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构造的程序要求能看出对右侧问题的回答</a:t>
            </a:r>
            <a:endParaRPr lang="zh-CN" altLang="en-US" sz="1600" b="1" dirty="0">
              <a:latin typeface="+mn-ea"/>
            </a:endParaRP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将构造的程序直接贴图上来，左侧不写也可</a:t>
            </a:r>
            <a:endParaRPr lang="zh-CN" altLang="en-US" sz="1600" b="1" dirty="0">
              <a:latin typeface="+mn-ea"/>
            </a:endParaRPr>
          </a:p>
        </p:txBody>
      </p:sp>
      <p:pic>
        <p:nvPicPr>
          <p:cNvPr id="4" name="Picture 3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5F912124-BC53-7D65-BE40-7A47DF4207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113" y="1323971"/>
            <a:ext cx="4411705" cy="2834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3796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sz="1200" b="1" dirty="0">
              <a:latin typeface="+mn-ea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en-US" altLang="zh-CN" sz="1600" b="1" dirty="0" err="1">
                <a:latin typeface="+mn-ea"/>
              </a:rPr>
              <a:t>F.</a:t>
            </a:r>
            <a:r>
              <a:rPr lang="en-US" altLang="zh-CN" sz="1600" b="1" dirty="0" err="1">
                <a:latin typeface="+mn-ea"/>
                <a:cs typeface="Times New Roman" panose="02020603050405020304" pitchFamily="18" charset="0"/>
              </a:rPr>
              <a:t>setprecision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的使用 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- 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单独使用 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- (1)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31B6A17-5E7C-4625-90AE-6C7D682CA9B0}"/>
              </a:ext>
            </a:extLst>
          </p:cNvPr>
          <p:cNvSpPr/>
          <p:nvPr/>
        </p:nvSpPr>
        <p:spPr bwMode="auto">
          <a:xfrm>
            <a:off x="5009396" y="1323974"/>
            <a:ext cx="582601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本例贴图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CA606D2-55A2-40E0-8D6D-3A0DF7E73037}"/>
              </a:ext>
            </a:extLst>
          </p:cNvPr>
          <p:cNvSpPr/>
          <p:nvPr/>
        </p:nvSpPr>
        <p:spPr bwMode="auto">
          <a:xfrm>
            <a:off x="592115" y="1323973"/>
            <a:ext cx="4417281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000" b="1" dirty="0">
                <a:latin typeface="+mn-ea"/>
              </a:rPr>
              <a:t>#include &lt;iostream&gt;</a:t>
            </a:r>
          </a:p>
          <a:p>
            <a:r>
              <a:rPr lang="en-US" altLang="zh-CN" sz="1000" b="1" dirty="0">
                <a:latin typeface="+mn-ea"/>
              </a:rPr>
              <a:t>#include &lt;</a:t>
            </a:r>
            <a:r>
              <a:rPr lang="en-US" altLang="zh-CN" sz="1000" b="1" dirty="0" err="1">
                <a:latin typeface="+mn-ea"/>
              </a:rPr>
              <a:t>iomanip</a:t>
            </a:r>
            <a:r>
              <a:rPr lang="en-US" altLang="zh-CN" sz="1000" b="1" dirty="0">
                <a:latin typeface="+mn-ea"/>
              </a:rPr>
              <a:t>&gt;</a:t>
            </a:r>
          </a:p>
          <a:p>
            <a:r>
              <a:rPr lang="en-US" altLang="zh-CN" sz="1000" b="1" dirty="0">
                <a:latin typeface="+mn-ea"/>
              </a:rPr>
              <a:t>using namespace std;</a:t>
            </a:r>
          </a:p>
          <a:p>
            <a:r>
              <a:rPr lang="en-US" altLang="zh-CN" sz="1000" b="1" dirty="0">
                <a:latin typeface="+mn-ea"/>
              </a:rPr>
              <a:t>int main()</a:t>
            </a:r>
          </a:p>
          <a:p>
            <a:r>
              <a:rPr lang="en-US" altLang="zh-CN" sz="1000" b="1" dirty="0">
                <a:latin typeface="+mn-ea"/>
              </a:rPr>
              <a:t>{</a:t>
            </a:r>
          </a:p>
          <a:p>
            <a:r>
              <a:rPr lang="en-US" altLang="zh-CN" sz="1000" b="1" dirty="0">
                <a:latin typeface="+mn-ea"/>
              </a:rPr>
              <a:t>    float f1 = 1234.5678F;</a:t>
            </a:r>
          </a:p>
          <a:p>
            <a:r>
              <a:rPr lang="en-US" altLang="zh-CN" sz="1000" b="1" dirty="0">
                <a:latin typeface="+mn-ea"/>
              </a:rPr>
              <a:t>    float f2 = 8765.4321F;</a:t>
            </a:r>
          </a:p>
          <a:p>
            <a:endParaRPr lang="en-US" altLang="zh-CN" sz="1000" b="1" dirty="0">
              <a:latin typeface="+mn-ea"/>
            </a:endParaRPr>
          </a:p>
          <a:p>
            <a:r>
              <a:rPr lang="zh-CN" altLang="en-US" sz="1000" b="1" dirty="0">
                <a:latin typeface="+mn-ea"/>
              </a:rPr>
              <a:t>    </a:t>
            </a:r>
            <a:r>
              <a:rPr lang="en-US" altLang="zh-CN" sz="1000" b="1" dirty="0">
                <a:latin typeface="+mn-ea"/>
              </a:rPr>
              <a:t>/* </a:t>
            </a:r>
            <a:r>
              <a:rPr lang="zh-CN" altLang="en-US" sz="1000" b="1" dirty="0">
                <a:latin typeface="+mn-ea"/>
              </a:rPr>
              <a:t>第</a:t>
            </a:r>
            <a:r>
              <a:rPr lang="en-US" altLang="zh-CN" sz="1000" b="1" dirty="0">
                <a:latin typeface="+mn-ea"/>
              </a:rPr>
              <a:t>1</a:t>
            </a:r>
            <a:r>
              <a:rPr lang="zh-CN" altLang="en-US" sz="1000" b="1" dirty="0">
                <a:latin typeface="+mn-ea"/>
              </a:rPr>
              <a:t>组：不设或非法 *</a:t>
            </a:r>
            <a:r>
              <a:rPr lang="en-US" altLang="zh-CN" sz="1000" b="1" dirty="0">
                <a:latin typeface="+mn-ea"/>
              </a:rPr>
              <a:t>/</a:t>
            </a:r>
            <a:endParaRPr lang="zh-CN" altLang="en-US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    </a:t>
            </a:r>
            <a:r>
              <a:rPr lang="en-US" altLang="zh-CN" sz="1000" b="1" dirty="0" err="1">
                <a:latin typeface="+mn-ea"/>
              </a:rPr>
              <a:t>cout</a:t>
            </a:r>
            <a:r>
              <a:rPr lang="en-US" altLang="zh-CN" sz="1000" b="1" dirty="0">
                <a:latin typeface="+mn-ea"/>
              </a:rPr>
              <a:t> &lt;&lt; f1 &lt;&lt; ' ' &lt;&lt; f2 &lt;&lt; </a:t>
            </a:r>
            <a:r>
              <a:rPr lang="en-US" altLang="zh-CN" sz="1000" b="1" dirty="0" err="1">
                <a:latin typeface="+mn-ea"/>
              </a:rPr>
              <a:t>endl</a:t>
            </a:r>
            <a:r>
              <a:rPr lang="en-US" altLang="zh-CN" sz="1000" b="1" dirty="0">
                <a:latin typeface="+mn-ea"/>
              </a:rPr>
              <a:t>;</a:t>
            </a:r>
          </a:p>
          <a:p>
            <a:r>
              <a:rPr lang="en-US" altLang="zh-CN" sz="1000" b="1" dirty="0">
                <a:latin typeface="+mn-ea"/>
              </a:rPr>
              <a:t>    </a:t>
            </a:r>
            <a:r>
              <a:rPr lang="en-US" altLang="zh-CN" sz="1000" b="1" dirty="0" err="1">
                <a:latin typeface="+mn-ea"/>
              </a:rPr>
              <a:t>cout</a:t>
            </a:r>
            <a:r>
              <a:rPr lang="en-US" altLang="zh-CN" sz="1000" b="1" dirty="0">
                <a:latin typeface="+mn-ea"/>
              </a:rPr>
              <a:t> &lt;&lt; </a:t>
            </a:r>
            <a:r>
              <a:rPr lang="en-US" altLang="zh-CN" sz="1000" b="1" dirty="0" err="1">
                <a:latin typeface="+mn-ea"/>
              </a:rPr>
              <a:t>setprecision</a:t>
            </a:r>
            <a:r>
              <a:rPr lang="en-US" altLang="zh-CN" sz="1000" b="1" dirty="0">
                <a:latin typeface="+mn-ea"/>
              </a:rPr>
              <a:t>(0) &lt;&lt; f1 &lt;&lt; ' ' &lt;&lt; f2 &lt;&lt; </a:t>
            </a:r>
            <a:r>
              <a:rPr lang="en-US" altLang="zh-CN" sz="1000" b="1" dirty="0" err="1">
                <a:latin typeface="+mn-ea"/>
              </a:rPr>
              <a:t>endl</a:t>
            </a:r>
            <a:r>
              <a:rPr lang="en-US" altLang="zh-CN" sz="1000" b="1" dirty="0">
                <a:latin typeface="+mn-ea"/>
              </a:rPr>
              <a:t>;</a:t>
            </a:r>
          </a:p>
          <a:p>
            <a:endParaRPr lang="en-US" altLang="zh-CN" sz="1000" b="1" dirty="0">
              <a:latin typeface="+mn-ea"/>
            </a:endParaRPr>
          </a:p>
          <a:p>
            <a:r>
              <a:rPr lang="zh-CN" altLang="en-US" sz="1000" b="1" dirty="0">
                <a:latin typeface="+mn-ea"/>
              </a:rPr>
              <a:t>    </a:t>
            </a:r>
            <a:r>
              <a:rPr lang="en-US" altLang="zh-CN" sz="1000" b="1" dirty="0">
                <a:latin typeface="+mn-ea"/>
              </a:rPr>
              <a:t>/* </a:t>
            </a:r>
            <a:r>
              <a:rPr lang="zh-CN" altLang="en-US" sz="1000" b="1" dirty="0">
                <a:latin typeface="+mn-ea"/>
              </a:rPr>
              <a:t>第</a:t>
            </a:r>
            <a:r>
              <a:rPr lang="en-US" altLang="zh-CN" sz="1000" b="1" dirty="0">
                <a:latin typeface="+mn-ea"/>
              </a:rPr>
              <a:t>2</a:t>
            </a:r>
            <a:r>
              <a:rPr lang="zh-CN" altLang="en-US" sz="1000" b="1" dirty="0">
                <a:latin typeface="+mn-ea"/>
              </a:rPr>
              <a:t>组：小于等于整数位数 *</a:t>
            </a:r>
            <a:r>
              <a:rPr lang="en-US" altLang="zh-CN" sz="1000" b="1" dirty="0">
                <a:latin typeface="+mn-ea"/>
              </a:rPr>
              <a:t>/</a:t>
            </a:r>
            <a:endParaRPr lang="zh-CN" altLang="en-US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    </a:t>
            </a:r>
            <a:r>
              <a:rPr lang="en-US" altLang="zh-CN" sz="1000" b="1" dirty="0" err="1">
                <a:latin typeface="+mn-ea"/>
              </a:rPr>
              <a:t>cout</a:t>
            </a:r>
            <a:r>
              <a:rPr lang="en-US" altLang="zh-CN" sz="1000" b="1" dirty="0">
                <a:latin typeface="+mn-ea"/>
              </a:rPr>
              <a:t> &lt;&lt; </a:t>
            </a:r>
            <a:r>
              <a:rPr lang="en-US" altLang="zh-CN" sz="1000" b="1" dirty="0" err="1">
                <a:latin typeface="+mn-ea"/>
              </a:rPr>
              <a:t>endl</a:t>
            </a:r>
            <a:r>
              <a:rPr lang="en-US" altLang="zh-CN" sz="1000" b="1" dirty="0">
                <a:latin typeface="+mn-ea"/>
              </a:rPr>
              <a:t>;</a:t>
            </a:r>
          </a:p>
          <a:p>
            <a:r>
              <a:rPr lang="en-US" altLang="zh-CN" sz="1000" b="1" dirty="0">
                <a:latin typeface="+mn-ea"/>
              </a:rPr>
              <a:t>    </a:t>
            </a:r>
            <a:r>
              <a:rPr lang="en-US" altLang="zh-CN" sz="1000" b="1" dirty="0" err="1">
                <a:latin typeface="+mn-ea"/>
              </a:rPr>
              <a:t>cout</a:t>
            </a:r>
            <a:r>
              <a:rPr lang="en-US" altLang="zh-CN" sz="1000" b="1" dirty="0">
                <a:latin typeface="+mn-ea"/>
              </a:rPr>
              <a:t> &lt;&lt; </a:t>
            </a:r>
            <a:r>
              <a:rPr lang="en-US" altLang="zh-CN" sz="1000" b="1" dirty="0" err="1">
                <a:latin typeface="+mn-ea"/>
              </a:rPr>
              <a:t>setprecision</a:t>
            </a:r>
            <a:r>
              <a:rPr lang="en-US" altLang="zh-CN" sz="1000" b="1" dirty="0">
                <a:latin typeface="+mn-ea"/>
              </a:rPr>
              <a:t>(1) &lt;&lt; f1 &lt;&lt; ' ' &lt;&lt; f2 &lt;&lt; </a:t>
            </a:r>
            <a:r>
              <a:rPr lang="en-US" altLang="zh-CN" sz="1000" b="1" dirty="0" err="1">
                <a:latin typeface="+mn-ea"/>
              </a:rPr>
              <a:t>endl</a:t>
            </a:r>
            <a:r>
              <a:rPr lang="en-US" altLang="zh-CN" sz="1000" b="1" dirty="0">
                <a:latin typeface="+mn-ea"/>
              </a:rPr>
              <a:t>;</a:t>
            </a:r>
          </a:p>
          <a:p>
            <a:r>
              <a:rPr lang="en-US" altLang="zh-CN" sz="1000" b="1" dirty="0">
                <a:latin typeface="+mn-ea"/>
              </a:rPr>
              <a:t>    </a:t>
            </a:r>
            <a:r>
              <a:rPr lang="en-US" altLang="zh-CN" sz="1000" b="1" dirty="0" err="1">
                <a:latin typeface="+mn-ea"/>
              </a:rPr>
              <a:t>cout</a:t>
            </a:r>
            <a:r>
              <a:rPr lang="en-US" altLang="zh-CN" sz="1000" b="1" dirty="0">
                <a:latin typeface="+mn-ea"/>
              </a:rPr>
              <a:t> &lt;&lt; </a:t>
            </a:r>
            <a:r>
              <a:rPr lang="en-US" altLang="zh-CN" sz="1000" b="1" dirty="0" err="1">
                <a:latin typeface="+mn-ea"/>
              </a:rPr>
              <a:t>setprecision</a:t>
            </a:r>
            <a:r>
              <a:rPr lang="en-US" altLang="zh-CN" sz="1000" b="1" dirty="0">
                <a:latin typeface="+mn-ea"/>
              </a:rPr>
              <a:t>(2) &lt;&lt; f1 &lt;&lt; ' ' &lt;&lt; f2 &lt;&lt; </a:t>
            </a:r>
            <a:r>
              <a:rPr lang="en-US" altLang="zh-CN" sz="1000" b="1" dirty="0" err="1">
                <a:latin typeface="+mn-ea"/>
              </a:rPr>
              <a:t>endl</a:t>
            </a:r>
            <a:r>
              <a:rPr lang="en-US" altLang="zh-CN" sz="1000" b="1" dirty="0">
                <a:latin typeface="+mn-ea"/>
              </a:rPr>
              <a:t>;</a:t>
            </a:r>
          </a:p>
          <a:p>
            <a:r>
              <a:rPr lang="en-US" altLang="zh-CN" sz="1000" b="1" dirty="0">
                <a:latin typeface="+mn-ea"/>
              </a:rPr>
              <a:t>    </a:t>
            </a:r>
            <a:r>
              <a:rPr lang="en-US" altLang="zh-CN" sz="1000" b="1" dirty="0" err="1">
                <a:latin typeface="+mn-ea"/>
              </a:rPr>
              <a:t>cout</a:t>
            </a:r>
            <a:r>
              <a:rPr lang="en-US" altLang="zh-CN" sz="1000" b="1" dirty="0">
                <a:latin typeface="+mn-ea"/>
              </a:rPr>
              <a:t> &lt;&lt; </a:t>
            </a:r>
            <a:r>
              <a:rPr lang="en-US" altLang="zh-CN" sz="1000" b="1" dirty="0" err="1">
                <a:latin typeface="+mn-ea"/>
              </a:rPr>
              <a:t>setprecision</a:t>
            </a:r>
            <a:r>
              <a:rPr lang="en-US" altLang="zh-CN" sz="1000" b="1" dirty="0">
                <a:latin typeface="+mn-ea"/>
              </a:rPr>
              <a:t>(3) &lt;&lt; f1 &lt;&lt; ' ' &lt;&lt; f2 &lt;&lt; </a:t>
            </a:r>
            <a:r>
              <a:rPr lang="en-US" altLang="zh-CN" sz="1000" b="1" dirty="0" err="1">
                <a:latin typeface="+mn-ea"/>
              </a:rPr>
              <a:t>endl</a:t>
            </a:r>
            <a:r>
              <a:rPr lang="en-US" altLang="zh-CN" sz="1000" b="1" dirty="0">
                <a:latin typeface="+mn-ea"/>
              </a:rPr>
              <a:t>;</a:t>
            </a:r>
          </a:p>
          <a:p>
            <a:r>
              <a:rPr lang="en-US" altLang="zh-CN" sz="1000" b="1" dirty="0">
                <a:latin typeface="+mn-ea"/>
              </a:rPr>
              <a:t>    </a:t>
            </a:r>
            <a:r>
              <a:rPr lang="en-US" altLang="zh-CN" sz="1000" b="1" dirty="0" err="1">
                <a:latin typeface="+mn-ea"/>
              </a:rPr>
              <a:t>cout</a:t>
            </a:r>
            <a:r>
              <a:rPr lang="en-US" altLang="zh-CN" sz="1000" b="1" dirty="0">
                <a:latin typeface="+mn-ea"/>
              </a:rPr>
              <a:t> &lt;&lt; </a:t>
            </a:r>
            <a:r>
              <a:rPr lang="en-US" altLang="zh-CN" sz="1000" b="1" dirty="0" err="1">
                <a:latin typeface="+mn-ea"/>
              </a:rPr>
              <a:t>setprecision</a:t>
            </a:r>
            <a:r>
              <a:rPr lang="en-US" altLang="zh-CN" sz="1000" b="1" dirty="0">
                <a:latin typeface="+mn-ea"/>
              </a:rPr>
              <a:t>(4) &lt;&lt; f1 &lt;&lt; ' ' &lt;&lt; f2 &lt;&lt; </a:t>
            </a:r>
            <a:r>
              <a:rPr lang="en-US" altLang="zh-CN" sz="1000" b="1" dirty="0" err="1">
                <a:latin typeface="+mn-ea"/>
              </a:rPr>
              <a:t>endl</a:t>
            </a:r>
            <a:r>
              <a:rPr lang="en-US" altLang="zh-CN" sz="1000" b="1" dirty="0">
                <a:latin typeface="+mn-ea"/>
              </a:rPr>
              <a:t>;</a:t>
            </a:r>
          </a:p>
          <a:p>
            <a:endParaRPr lang="en-US" altLang="zh-CN" sz="1000" b="1" dirty="0">
              <a:latin typeface="+mn-ea"/>
            </a:endParaRPr>
          </a:p>
          <a:p>
            <a:r>
              <a:rPr lang="zh-CN" altLang="en-US" sz="1000" b="1" dirty="0">
                <a:latin typeface="+mn-ea"/>
              </a:rPr>
              <a:t>    </a:t>
            </a:r>
            <a:r>
              <a:rPr lang="en-US" altLang="zh-CN" sz="1000" b="1" dirty="0">
                <a:latin typeface="+mn-ea"/>
              </a:rPr>
              <a:t>/* </a:t>
            </a:r>
            <a:r>
              <a:rPr lang="zh-CN" altLang="en-US" sz="1000" b="1" dirty="0">
                <a:latin typeface="+mn-ea"/>
              </a:rPr>
              <a:t>第</a:t>
            </a:r>
            <a:r>
              <a:rPr lang="en-US" altLang="zh-CN" sz="1000" b="1" dirty="0">
                <a:latin typeface="+mn-ea"/>
              </a:rPr>
              <a:t>3</a:t>
            </a:r>
            <a:r>
              <a:rPr lang="zh-CN" altLang="en-US" sz="1000" b="1" dirty="0">
                <a:latin typeface="+mn-ea"/>
              </a:rPr>
              <a:t>组：大于整数位数，但小与等于</a:t>
            </a:r>
            <a:r>
              <a:rPr lang="en-US" altLang="zh-CN" sz="1000" b="1" dirty="0">
                <a:latin typeface="+mn-ea"/>
              </a:rPr>
              <a:t>float</a:t>
            </a:r>
            <a:r>
              <a:rPr lang="zh-CN" altLang="en-US" sz="1000" b="1" dirty="0">
                <a:latin typeface="+mn-ea"/>
              </a:rPr>
              <a:t>型有效数字 *</a:t>
            </a:r>
            <a:r>
              <a:rPr lang="en-US" altLang="zh-CN" sz="1000" b="1" dirty="0">
                <a:latin typeface="+mn-ea"/>
              </a:rPr>
              <a:t>/</a:t>
            </a:r>
            <a:endParaRPr lang="zh-CN" altLang="en-US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    </a:t>
            </a:r>
            <a:r>
              <a:rPr lang="en-US" altLang="zh-CN" sz="1000" b="1" dirty="0" err="1">
                <a:latin typeface="+mn-ea"/>
              </a:rPr>
              <a:t>cout</a:t>
            </a:r>
            <a:r>
              <a:rPr lang="en-US" altLang="zh-CN" sz="1000" b="1" dirty="0">
                <a:latin typeface="+mn-ea"/>
              </a:rPr>
              <a:t> &lt;&lt; </a:t>
            </a:r>
            <a:r>
              <a:rPr lang="en-US" altLang="zh-CN" sz="1000" b="1" dirty="0" err="1">
                <a:latin typeface="+mn-ea"/>
              </a:rPr>
              <a:t>endl</a:t>
            </a:r>
            <a:r>
              <a:rPr lang="en-US" altLang="zh-CN" sz="1000" b="1" dirty="0">
                <a:latin typeface="+mn-ea"/>
              </a:rPr>
              <a:t>;</a:t>
            </a:r>
          </a:p>
          <a:p>
            <a:r>
              <a:rPr lang="en-US" altLang="zh-CN" sz="1000" b="1" dirty="0">
                <a:latin typeface="+mn-ea"/>
              </a:rPr>
              <a:t>    </a:t>
            </a:r>
            <a:r>
              <a:rPr lang="en-US" altLang="zh-CN" sz="1000" b="1" dirty="0" err="1">
                <a:latin typeface="+mn-ea"/>
              </a:rPr>
              <a:t>cout</a:t>
            </a:r>
            <a:r>
              <a:rPr lang="en-US" altLang="zh-CN" sz="1000" b="1" dirty="0">
                <a:latin typeface="+mn-ea"/>
              </a:rPr>
              <a:t> &lt;&lt; </a:t>
            </a:r>
            <a:r>
              <a:rPr lang="en-US" altLang="zh-CN" sz="1000" b="1" dirty="0" err="1">
                <a:latin typeface="+mn-ea"/>
              </a:rPr>
              <a:t>setprecision</a:t>
            </a:r>
            <a:r>
              <a:rPr lang="en-US" altLang="zh-CN" sz="1000" b="1" dirty="0">
                <a:latin typeface="+mn-ea"/>
              </a:rPr>
              <a:t>(5) &lt;&lt; f1 &lt;&lt; ' ' &lt;&lt; f2 &lt;&lt; </a:t>
            </a:r>
            <a:r>
              <a:rPr lang="en-US" altLang="zh-CN" sz="1000" b="1" dirty="0" err="1">
                <a:latin typeface="+mn-ea"/>
              </a:rPr>
              <a:t>endl</a:t>
            </a:r>
            <a:r>
              <a:rPr lang="en-US" altLang="zh-CN" sz="1000" b="1" dirty="0">
                <a:latin typeface="+mn-ea"/>
              </a:rPr>
              <a:t>;</a:t>
            </a:r>
          </a:p>
          <a:p>
            <a:r>
              <a:rPr lang="en-US" altLang="zh-CN" sz="1000" b="1" dirty="0">
                <a:latin typeface="+mn-ea"/>
              </a:rPr>
              <a:t>    </a:t>
            </a:r>
            <a:r>
              <a:rPr lang="en-US" altLang="zh-CN" sz="1000" b="1" dirty="0" err="1">
                <a:latin typeface="+mn-ea"/>
              </a:rPr>
              <a:t>cout</a:t>
            </a:r>
            <a:r>
              <a:rPr lang="en-US" altLang="zh-CN" sz="1000" b="1" dirty="0">
                <a:latin typeface="+mn-ea"/>
              </a:rPr>
              <a:t> &lt;&lt; </a:t>
            </a:r>
            <a:r>
              <a:rPr lang="en-US" altLang="zh-CN" sz="1000" b="1" dirty="0" err="1">
                <a:latin typeface="+mn-ea"/>
              </a:rPr>
              <a:t>setprecision</a:t>
            </a:r>
            <a:r>
              <a:rPr lang="en-US" altLang="zh-CN" sz="1000" b="1" dirty="0">
                <a:latin typeface="+mn-ea"/>
              </a:rPr>
              <a:t>(6) &lt;&lt; f1 &lt;&lt; ' ' &lt;&lt; f2 &lt;&lt; </a:t>
            </a:r>
            <a:r>
              <a:rPr lang="en-US" altLang="zh-CN" sz="1000" b="1" dirty="0" err="1">
                <a:latin typeface="+mn-ea"/>
              </a:rPr>
              <a:t>endl</a:t>
            </a:r>
            <a:r>
              <a:rPr lang="en-US" altLang="zh-CN" sz="1000" b="1" dirty="0">
                <a:latin typeface="+mn-ea"/>
              </a:rPr>
              <a:t>;</a:t>
            </a:r>
          </a:p>
          <a:p>
            <a:r>
              <a:rPr lang="en-US" altLang="zh-CN" sz="1000" b="1" dirty="0">
                <a:latin typeface="+mn-ea"/>
              </a:rPr>
              <a:t>    </a:t>
            </a:r>
            <a:r>
              <a:rPr lang="en-US" altLang="zh-CN" sz="1000" b="1" dirty="0" err="1">
                <a:latin typeface="+mn-ea"/>
              </a:rPr>
              <a:t>cout</a:t>
            </a:r>
            <a:r>
              <a:rPr lang="en-US" altLang="zh-CN" sz="1000" b="1" dirty="0">
                <a:latin typeface="+mn-ea"/>
              </a:rPr>
              <a:t> &lt;&lt; </a:t>
            </a:r>
            <a:r>
              <a:rPr lang="en-US" altLang="zh-CN" sz="1000" b="1" dirty="0" err="1">
                <a:latin typeface="+mn-ea"/>
              </a:rPr>
              <a:t>setprecision</a:t>
            </a:r>
            <a:r>
              <a:rPr lang="en-US" altLang="zh-CN" sz="1000" b="1" dirty="0">
                <a:latin typeface="+mn-ea"/>
              </a:rPr>
              <a:t>(7) &lt;&lt; f1 &lt;&lt; ' ' &lt;&lt; f2 &lt;&lt; </a:t>
            </a:r>
            <a:r>
              <a:rPr lang="en-US" altLang="zh-CN" sz="1000" b="1" dirty="0" err="1">
                <a:latin typeface="+mn-ea"/>
              </a:rPr>
              <a:t>endl</a:t>
            </a:r>
            <a:r>
              <a:rPr lang="en-US" altLang="zh-CN" sz="1000" b="1" dirty="0">
                <a:latin typeface="+mn-ea"/>
              </a:rPr>
              <a:t>;</a:t>
            </a:r>
          </a:p>
          <a:p>
            <a:endParaRPr lang="en-US" altLang="zh-CN" sz="1000" b="1" dirty="0">
              <a:latin typeface="+mn-ea"/>
            </a:endParaRPr>
          </a:p>
          <a:p>
            <a:r>
              <a:rPr lang="zh-CN" altLang="en-US" sz="1000" b="1" dirty="0">
                <a:latin typeface="+mn-ea"/>
              </a:rPr>
              <a:t>    </a:t>
            </a:r>
            <a:r>
              <a:rPr lang="en-US" altLang="zh-CN" sz="1000" b="1" dirty="0">
                <a:latin typeface="+mn-ea"/>
              </a:rPr>
              <a:t>/* </a:t>
            </a:r>
            <a:r>
              <a:rPr lang="zh-CN" altLang="en-US" sz="1000" b="1" dirty="0">
                <a:latin typeface="+mn-ea"/>
              </a:rPr>
              <a:t>第</a:t>
            </a:r>
            <a:r>
              <a:rPr lang="en-US" altLang="zh-CN" sz="1000" b="1" dirty="0">
                <a:latin typeface="+mn-ea"/>
              </a:rPr>
              <a:t>4</a:t>
            </a:r>
            <a:r>
              <a:rPr lang="zh-CN" altLang="en-US" sz="1000" b="1" dirty="0">
                <a:latin typeface="+mn-ea"/>
              </a:rPr>
              <a:t>组：大于</a:t>
            </a:r>
            <a:r>
              <a:rPr lang="en-US" altLang="zh-CN" sz="1000" b="1" dirty="0">
                <a:latin typeface="+mn-ea"/>
              </a:rPr>
              <a:t>float</a:t>
            </a:r>
            <a:r>
              <a:rPr lang="zh-CN" altLang="en-US" sz="1000" b="1" dirty="0">
                <a:latin typeface="+mn-ea"/>
              </a:rPr>
              <a:t>型有效数字 *</a:t>
            </a:r>
            <a:r>
              <a:rPr lang="en-US" altLang="zh-CN" sz="1000" b="1" dirty="0">
                <a:latin typeface="+mn-ea"/>
              </a:rPr>
              <a:t>/</a:t>
            </a:r>
            <a:endParaRPr lang="zh-CN" altLang="en-US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    </a:t>
            </a:r>
            <a:r>
              <a:rPr lang="en-US" altLang="zh-CN" sz="1000" b="1" dirty="0" err="1">
                <a:latin typeface="+mn-ea"/>
              </a:rPr>
              <a:t>cout</a:t>
            </a:r>
            <a:r>
              <a:rPr lang="en-US" altLang="zh-CN" sz="1000" b="1" dirty="0">
                <a:latin typeface="+mn-ea"/>
              </a:rPr>
              <a:t> &lt;&lt; </a:t>
            </a:r>
            <a:r>
              <a:rPr lang="en-US" altLang="zh-CN" sz="1000" b="1" dirty="0" err="1">
                <a:latin typeface="+mn-ea"/>
              </a:rPr>
              <a:t>endl</a:t>
            </a:r>
            <a:r>
              <a:rPr lang="en-US" altLang="zh-CN" sz="1000" b="1" dirty="0">
                <a:latin typeface="+mn-ea"/>
              </a:rPr>
              <a:t>;</a:t>
            </a:r>
          </a:p>
          <a:p>
            <a:r>
              <a:rPr lang="en-US" altLang="zh-CN" sz="1000" b="1" dirty="0">
                <a:latin typeface="+mn-ea"/>
              </a:rPr>
              <a:t>    </a:t>
            </a:r>
            <a:r>
              <a:rPr lang="en-US" altLang="zh-CN" sz="1000" b="1" dirty="0" err="1">
                <a:latin typeface="+mn-ea"/>
              </a:rPr>
              <a:t>cout</a:t>
            </a:r>
            <a:r>
              <a:rPr lang="en-US" altLang="zh-CN" sz="1000" b="1" dirty="0">
                <a:latin typeface="+mn-ea"/>
              </a:rPr>
              <a:t> &lt;&lt; </a:t>
            </a:r>
            <a:r>
              <a:rPr lang="en-US" altLang="zh-CN" sz="1000" b="1" dirty="0" err="1">
                <a:latin typeface="+mn-ea"/>
              </a:rPr>
              <a:t>setprecision</a:t>
            </a:r>
            <a:r>
              <a:rPr lang="en-US" altLang="zh-CN" sz="1000" b="1" dirty="0">
                <a:latin typeface="+mn-ea"/>
              </a:rPr>
              <a:t>(8) &lt;&lt; f1 &lt;&lt; ' ' &lt;&lt; f2 &lt;&lt; </a:t>
            </a:r>
            <a:r>
              <a:rPr lang="en-US" altLang="zh-CN" sz="1000" b="1" dirty="0" err="1">
                <a:latin typeface="+mn-ea"/>
              </a:rPr>
              <a:t>endl</a:t>
            </a:r>
            <a:r>
              <a:rPr lang="en-US" altLang="zh-CN" sz="1000" b="1" dirty="0">
                <a:latin typeface="+mn-ea"/>
              </a:rPr>
              <a:t>;</a:t>
            </a:r>
          </a:p>
          <a:p>
            <a:r>
              <a:rPr lang="en-US" altLang="zh-CN" sz="1000" b="1" dirty="0">
                <a:latin typeface="+mn-ea"/>
              </a:rPr>
              <a:t>    </a:t>
            </a:r>
            <a:r>
              <a:rPr lang="en-US" altLang="zh-CN" sz="1000" b="1" dirty="0" err="1">
                <a:latin typeface="+mn-ea"/>
              </a:rPr>
              <a:t>cout</a:t>
            </a:r>
            <a:r>
              <a:rPr lang="en-US" altLang="zh-CN" sz="1000" b="1" dirty="0">
                <a:latin typeface="+mn-ea"/>
              </a:rPr>
              <a:t> &lt;&lt; </a:t>
            </a:r>
            <a:r>
              <a:rPr lang="en-US" altLang="zh-CN" sz="1000" b="1" dirty="0" err="1">
                <a:latin typeface="+mn-ea"/>
              </a:rPr>
              <a:t>setprecision</a:t>
            </a:r>
            <a:r>
              <a:rPr lang="en-US" altLang="zh-CN" sz="1000" b="1" dirty="0">
                <a:latin typeface="+mn-ea"/>
              </a:rPr>
              <a:t>(9) &lt;&lt; f1 &lt;&lt; ' ' &lt;&lt; f2 &lt;&lt; </a:t>
            </a:r>
            <a:r>
              <a:rPr lang="en-US" altLang="zh-CN" sz="1000" b="1" dirty="0" err="1">
                <a:latin typeface="+mn-ea"/>
              </a:rPr>
              <a:t>endl</a:t>
            </a:r>
            <a:r>
              <a:rPr lang="en-US" altLang="zh-CN" sz="1000" b="1" dirty="0">
                <a:latin typeface="+mn-ea"/>
              </a:rPr>
              <a:t>;</a:t>
            </a:r>
          </a:p>
          <a:p>
            <a:r>
              <a:rPr lang="en-US" altLang="zh-CN" sz="1000" b="1" dirty="0">
                <a:latin typeface="+mn-ea"/>
              </a:rPr>
              <a:t>    </a:t>
            </a:r>
            <a:r>
              <a:rPr lang="en-US" altLang="zh-CN" sz="1000" b="1" dirty="0" err="1">
                <a:latin typeface="+mn-ea"/>
              </a:rPr>
              <a:t>cout</a:t>
            </a:r>
            <a:r>
              <a:rPr lang="en-US" altLang="zh-CN" sz="1000" b="1" dirty="0">
                <a:latin typeface="+mn-ea"/>
              </a:rPr>
              <a:t> &lt;&lt; </a:t>
            </a:r>
            <a:r>
              <a:rPr lang="en-US" altLang="zh-CN" sz="1000" b="1" dirty="0" err="1">
                <a:latin typeface="+mn-ea"/>
              </a:rPr>
              <a:t>setprecision</a:t>
            </a:r>
            <a:r>
              <a:rPr lang="en-US" altLang="zh-CN" sz="1000" b="1" dirty="0">
                <a:latin typeface="+mn-ea"/>
              </a:rPr>
              <a:t>(10) &lt;&lt; f1 &lt;&lt; ' ' &lt;&lt; f2 &lt;&lt; </a:t>
            </a:r>
            <a:r>
              <a:rPr lang="en-US" altLang="zh-CN" sz="1000" b="1" dirty="0" err="1">
                <a:latin typeface="+mn-ea"/>
              </a:rPr>
              <a:t>endl</a:t>
            </a:r>
            <a:r>
              <a:rPr lang="en-US" altLang="zh-CN" sz="1000" b="1" dirty="0">
                <a:latin typeface="+mn-ea"/>
              </a:rPr>
              <a:t>;</a:t>
            </a:r>
          </a:p>
          <a:p>
            <a:r>
              <a:rPr lang="en-US" altLang="zh-CN" sz="1000" b="1" dirty="0">
                <a:latin typeface="+mn-ea"/>
              </a:rPr>
              <a:t>    </a:t>
            </a:r>
            <a:r>
              <a:rPr lang="en-US" altLang="zh-CN" sz="1000" b="1" dirty="0" err="1">
                <a:latin typeface="+mn-ea"/>
              </a:rPr>
              <a:t>cout</a:t>
            </a:r>
            <a:r>
              <a:rPr lang="en-US" altLang="zh-CN" sz="1000" b="1" dirty="0">
                <a:latin typeface="+mn-ea"/>
              </a:rPr>
              <a:t> &lt;&lt; </a:t>
            </a:r>
            <a:r>
              <a:rPr lang="en-US" altLang="zh-CN" sz="1000" b="1" dirty="0" err="1">
                <a:latin typeface="+mn-ea"/>
              </a:rPr>
              <a:t>setprecision</a:t>
            </a:r>
            <a:r>
              <a:rPr lang="en-US" altLang="zh-CN" sz="1000" b="1" dirty="0">
                <a:latin typeface="+mn-ea"/>
              </a:rPr>
              <a:t>(25) &lt;&lt; f1 &lt;&lt; ' ' &lt;&lt; f2 &lt;&lt; </a:t>
            </a:r>
            <a:r>
              <a:rPr lang="en-US" altLang="zh-CN" sz="1000" b="1" dirty="0" err="1">
                <a:latin typeface="+mn-ea"/>
              </a:rPr>
              <a:t>endl</a:t>
            </a:r>
            <a:r>
              <a:rPr lang="en-US" altLang="zh-CN" sz="1000" b="1" dirty="0">
                <a:latin typeface="+mn-ea"/>
              </a:rPr>
              <a:t>;</a:t>
            </a:r>
          </a:p>
          <a:p>
            <a:endParaRPr lang="zh-CN" altLang="en-US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    return 0;</a:t>
            </a:r>
          </a:p>
          <a:p>
            <a:r>
              <a:rPr lang="en-US" altLang="zh-CN" sz="1000" b="1" dirty="0">
                <a:latin typeface="+mn-ea"/>
              </a:rPr>
              <a:t>}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5F4BCE1-7EFF-4574-A662-0B3C3B991C9B}"/>
              </a:ext>
            </a:extLst>
          </p:cNvPr>
          <p:cNvSpPr/>
          <p:nvPr/>
        </p:nvSpPr>
        <p:spPr bwMode="auto">
          <a:xfrm>
            <a:off x="861848" y="2133601"/>
            <a:ext cx="1538452" cy="342899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8410E29-1F44-D84D-54C1-671332DF14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3904" y="1973260"/>
            <a:ext cx="3937000" cy="391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4780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sz="1200" b="1" dirty="0">
              <a:latin typeface="+mn-ea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en-US" altLang="zh-CN" sz="1600" b="1" dirty="0" err="1">
                <a:latin typeface="+mn-ea"/>
              </a:rPr>
              <a:t>F.</a:t>
            </a:r>
            <a:r>
              <a:rPr lang="en-US" altLang="zh-CN" sz="1600" b="1" dirty="0" err="1">
                <a:latin typeface="+mn-ea"/>
                <a:cs typeface="Times New Roman" panose="02020603050405020304" pitchFamily="18" charset="0"/>
              </a:rPr>
              <a:t>setprecision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的使用 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- 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单独使用 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- (2)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CA606D2-55A2-40E0-8D6D-3A0DF7E73037}"/>
              </a:ext>
            </a:extLst>
          </p:cNvPr>
          <p:cNvSpPr/>
          <p:nvPr/>
        </p:nvSpPr>
        <p:spPr bwMode="auto">
          <a:xfrm>
            <a:off x="592114" y="1323973"/>
            <a:ext cx="10247335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050" b="1" dirty="0">
                <a:latin typeface="+mn-ea"/>
              </a:rPr>
              <a:t>#include &lt;iostream&gt;</a:t>
            </a:r>
          </a:p>
          <a:p>
            <a:r>
              <a:rPr lang="en-US" altLang="zh-CN" sz="1050" b="1" dirty="0">
                <a:latin typeface="+mn-ea"/>
              </a:rPr>
              <a:t>#include &lt;</a:t>
            </a:r>
            <a:r>
              <a:rPr lang="en-US" altLang="zh-CN" sz="1050" b="1" dirty="0" err="1">
                <a:latin typeface="+mn-ea"/>
              </a:rPr>
              <a:t>iomanip</a:t>
            </a:r>
            <a:r>
              <a:rPr lang="en-US" altLang="zh-CN" sz="1050" b="1" dirty="0">
                <a:latin typeface="+mn-ea"/>
              </a:rPr>
              <a:t>&gt;</a:t>
            </a:r>
          </a:p>
          <a:p>
            <a:r>
              <a:rPr lang="en-US" altLang="zh-CN" sz="1050" b="1" dirty="0">
                <a:latin typeface="+mn-ea"/>
              </a:rPr>
              <a:t>using namespace std;</a:t>
            </a:r>
          </a:p>
          <a:p>
            <a:r>
              <a:rPr lang="en-US" altLang="zh-CN" sz="1050" b="1" dirty="0">
                <a:latin typeface="+mn-ea"/>
              </a:rPr>
              <a:t>int main()</a:t>
            </a:r>
          </a:p>
          <a:p>
            <a:r>
              <a:rPr lang="en-US" altLang="zh-CN" sz="1050" b="1" dirty="0">
                <a:latin typeface="+mn-ea"/>
              </a:rPr>
              <a:t>{</a:t>
            </a:r>
          </a:p>
          <a:p>
            <a:r>
              <a:rPr lang="en-US" altLang="zh-CN" sz="1050" b="1" dirty="0">
                <a:latin typeface="+mn-ea"/>
              </a:rPr>
              <a:t>    float f1 = 1234567890123456789.0F;</a:t>
            </a:r>
          </a:p>
          <a:p>
            <a:r>
              <a:rPr lang="en-US" altLang="zh-CN" sz="1050" b="1" dirty="0">
                <a:latin typeface="+mn-ea"/>
              </a:rPr>
              <a:t>    float f2 = 9876543210987654321.0F;</a:t>
            </a:r>
          </a:p>
          <a:p>
            <a:endParaRPr lang="zh-CN" altLang="en-US" sz="1050" b="1" dirty="0">
              <a:latin typeface="+mn-ea"/>
            </a:endParaRPr>
          </a:p>
          <a:p>
            <a:r>
              <a:rPr lang="zh-CN" altLang="en-US" sz="1050" b="1" dirty="0">
                <a:latin typeface="+mn-ea"/>
              </a:rPr>
              <a:t>    </a:t>
            </a:r>
            <a:r>
              <a:rPr lang="en-US" altLang="zh-CN" sz="1050" b="1" dirty="0">
                <a:latin typeface="+mn-ea"/>
              </a:rPr>
              <a:t>/* </a:t>
            </a:r>
            <a:r>
              <a:rPr lang="zh-CN" altLang="en-US" sz="1050" b="1" dirty="0">
                <a:latin typeface="+mn-ea"/>
              </a:rPr>
              <a:t>第</a:t>
            </a:r>
            <a:r>
              <a:rPr lang="en-US" altLang="zh-CN" sz="1050" b="1" dirty="0">
                <a:latin typeface="+mn-ea"/>
              </a:rPr>
              <a:t>1</a:t>
            </a:r>
            <a:r>
              <a:rPr lang="zh-CN" altLang="en-US" sz="1050" b="1" dirty="0">
                <a:latin typeface="+mn-ea"/>
              </a:rPr>
              <a:t>组：不设或非法 *</a:t>
            </a:r>
            <a:r>
              <a:rPr lang="en-US" altLang="zh-CN" sz="1050" b="1" dirty="0">
                <a:latin typeface="+mn-ea"/>
              </a:rPr>
              <a:t>/</a:t>
            </a:r>
            <a:endParaRPr lang="zh-CN" altLang="en-US" sz="1050" b="1" dirty="0">
              <a:latin typeface="+mn-ea"/>
            </a:endParaRPr>
          </a:p>
          <a:p>
            <a:r>
              <a:rPr lang="en-US" altLang="zh-CN" sz="1050" b="1" dirty="0">
                <a:latin typeface="+mn-ea"/>
              </a:rPr>
              <a:t>    </a:t>
            </a:r>
            <a:r>
              <a:rPr lang="en-US" altLang="zh-CN" sz="1050" b="1" dirty="0" err="1">
                <a:latin typeface="+mn-ea"/>
              </a:rPr>
              <a:t>cout</a:t>
            </a:r>
            <a:r>
              <a:rPr lang="en-US" altLang="zh-CN" sz="1050" b="1" dirty="0">
                <a:latin typeface="+mn-ea"/>
              </a:rPr>
              <a:t> &lt;&lt; f1 &lt;&lt; ' ' &lt;&lt; f2 &lt;&lt; </a:t>
            </a:r>
            <a:r>
              <a:rPr lang="en-US" altLang="zh-CN" sz="1050" b="1" dirty="0" err="1">
                <a:latin typeface="+mn-ea"/>
              </a:rPr>
              <a:t>endl</a:t>
            </a:r>
            <a:r>
              <a:rPr lang="en-US" altLang="zh-CN" sz="1050" b="1" dirty="0">
                <a:latin typeface="+mn-ea"/>
              </a:rPr>
              <a:t>;</a:t>
            </a:r>
          </a:p>
          <a:p>
            <a:r>
              <a:rPr lang="en-US" altLang="zh-CN" sz="1050" b="1" dirty="0">
                <a:latin typeface="+mn-ea"/>
              </a:rPr>
              <a:t>    </a:t>
            </a:r>
            <a:r>
              <a:rPr lang="en-US" altLang="zh-CN" sz="1050" b="1" dirty="0" err="1">
                <a:latin typeface="+mn-ea"/>
              </a:rPr>
              <a:t>cout</a:t>
            </a:r>
            <a:r>
              <a:rPr lang="en-US" altLang="zh-CN" sz="1050" b="1" dirty="0">
                <a:latin typeface="+mn-ea"/>
              </a:rPr>
              <a:t> &lt;&lt; </a:t>
            </a:r>
            <a:r>
              <a:rPr lang="en-US" altLang="zh-CN" sz="1050" b="1" dirty="0" err="1">
                <a:latin typeface="+mn-ea"/>
              </a:rPr>
              <a:t>setprecision</a:t>
            </a:r>
            <a:r>
              <a:rPr lang="en-US" altLang="zh-CN" sz="1050" b="1" dirty="0">
                <a:latin typeface="+mn-ea"/>
              </a:rPr>
              <a:t>(0) &lt;&lt; f1 &lt;&lt; ' ' &lt;&lt; f2 &lt;&lt; </a:t>
            </a:r>
            <a:r>
              <a:rPr lang="en-US" altLang="zh-CN" sz="1050" b="1" dirty="0" err="1">
                <a:latin typeface="+mn-ea"/>
              </a:rPr>
              <a:t>endl</a:t>
            </a:r>
            <a:r>
              <a:rPr lang="en-US" altLang="zh-CN" sz="1050" b="1" dirty="0">
                <a:latin typeface="+mn-ea"/>
              </a:rPr>
              <a:t>;</a:t>
            </a:r>
          </a:p>
          <a:p>
            <a:endParaRPr lang="en-US" altLang="zh-CN" sz="1050" b="1" dirty="0">
              <a:latin typeface="+mn-ea"/>
            </a:endParaRPr>
          </a:p>
          <a:p>
            <a:r>
              <a:rPr lang="zh-CN" altLang="en-US" sz="1050" b="1" dirty="0">
                <a:latin typeface="+mn-ea"/>
              </a:rPr>
              <a:t>    </a:t>
            </a:r>
            <a:r>
              <a:rPr lang="en-US" altLang="zh-CN" sz="1050" b="1" dirty="0">
                <a:latin typeface="+mn-ea"/>
              </a:rPr>
              <a:t>/* </a:t>
            </a:r>
            <a:r>
              <a:rPr lang="zh-CN" altLang="en-US" sz="1050" b="1" dirty="0">
                <a:latin typeface="+mn-ea"/>
              </a:rPr>
              <a:t>第</a:t>
            </a:r>
            <a:r>
              <a:rPr lang="en-US" altLang="zh-CN" sz="1050" b="1" dirty="0">
                <a:latin typeface="+mn-ea"/>
              </a:rPr>
              <a:t>2</a:t>
            </a:r>
            <a:r>
              <a:rPr lang="zh-CN" altLang="en-US" sz="1050" b="1" dirty="0">
                <a:latin typeface="+mn-ea"/>
              </a:rPr>
              <a:t>组：小于等于整数位数 并且 小与等于</a:t>
            </a:r>
            <a:r>
              <a:rPr lang="en-US" altLang="zh-CN" sz="1050" b="1" dirty="0">
                <a:latin typeface="+mn-ea"/>
              </a:rPr>
              <a:t>float</a:t>
            </a:r>
            <a:r>
              <a:rPr lang="zh-CN" altLang="en-US" sz="1050" b="1" dirty="0">
                <a:latin typeface="+mn-ea"/>
              </a:rPr>
              <a:t>型有效数字 *</a:t>
            </a:r>
            <a:r>
              <a:rPr lang="en-US" altLang="zh-CN" sz="1050" b="1" dirty="0">
                <a:latin typeface="+mn-ea"/>
              </a:rPr>
              <a:t>/</a:t>
            </a:r>
            <a:endParaRPr lang="zh-CN" altLang="en-US" sz="1050" b="1" dirty="0">
              <a:latin typeface="+mn-ea"/>
            </a:endParaRPr>
          </a:p>
          <a:p>
            <a:r>
              <a:rPr lang="en-US" altLang="zh-CN" sz="1050" b="1" dirty="0">
                <a:latin typeface="+mn-ea"/>
              </a:rPr>
              <a:t>    </a:t>
            </a:r>
            <a:r>
              <a:rPr lang="en-US" altLang="zh-CN" sz="1050" b="1" dirty="0" err="1">
                <a:latin typeface="+mn-ea"/>
              </a:rPr>
              <a:t>cout</a:t>
            </a:r>
            <a:r>
              <a:rPr lang="en-US" altLang="zh-CN" sz="1050" b="1" dirty="0">
                <a:latin typeface="+mn-ea"/>
              </a:rPr>
              <a:t> &lt;&lt; </a:t>
            </a:r>
            <a:r>
              <a:rPr lang="en-US" altLang="zh-CN" sz="1050" b="1" dirty="0" err="1">
                <a:latin typeface="+mn-ea"/>
              </a:rPr>
              <a:t>endl</a:t>
            </a:r>
            <a:r>
              <a:rPr lang="en-US" altLang="zh-CN" sz="1050" b="1" dirty="0">
                <a:latin typeface="+mn-ea"/>
              </a:rPr>
              <a:t>;</a:t>
            </a:r>
          </a:p>
          <a:p>
            <a:r>
              <a:rPr lang="en-US" altLang="zh-CN" sz="1050" b="1" dirty="0">
                <a:latin typeface="+mn-ea"/>
              </a:rPr>
              <a:t>    </a:t>
            </a:r>
            <a:r>
              <a:rPr lang="en-US" altLang="zh-CN" sz="1050" b="1" dirty="0" err="1">
                <a:latin typeface="+mn-ea"/>
              </a:rPr>
              <a:t>cout</a:t>
            </a:r>
            <a:r>
              <a:rPr lang="en-US" altLang="zh-CN" sz="1050" b="1" dirty="0">
                <a:latin typeface="+mn-ea"/>
              </a:rPr>
              <a:t> &lt;&lt; </a:t>
            </a:r>
            <a:r>
              <a:rPr lang="en-US" altLang="zh-CN" sz="1050" b="1" dirty="0" err="1">
                <a:latin typeface="+mn-ea"/>
              </a:rPr>
              <a:t>setprecision</a:t>
            </a:r>
            <a:r>
              <a:rPr lang="en-US" altLang="zh-CN" sz="1050" b="1" dirty="0">
                <a:latin typeface="+mn-ea"/>
              </a:rPr>
              <a:t>(1) &lt;&lt; f1 &lt;&lt; ' ' &lt;&lt; f2 &lt;&lt; </a:t>
            </a:r>
            <a:r>
              <a:rPr lang="en-US" altLang="zh-CN" sz="1050" b="1" dirty="0" err="1">
                <a:latin typeface="+mn-ea"/>
              </a:rPr>
              <a:t>endl</a:t>
            </a:r>
            <a:r>
              <a:rPr lang="en-US" altLang="zh-CN" sz="1050" b="1" dirty="0">
                <a:latin typeface="+mn-ea"/>
              </a:rPr>
              <a:t>;</a:t>
            </a:r>
          </a:p>
          <a:p>
            <a:r>
              <a:rPr lang="en-US" altLang="zh-CN" sz="1050" b="1" dirty="0">
                <a:latin typeface="+mn-ea"/>
              </a:rPr>
              <a:t>    </a:t>
            </a:r>
            <a:r>
              <a:rPr lang="en-US" altLang="zh-CN" sz="1050" b="1" dirty="0" err="1">
                <a:latin typeface="+mn-ea"/>
              </a:rPr>
              <a:t>cout</a:t>
            </a:r>
            <a:r>
              <a:rPr lang="en-US" altLang="zh-CN" sz="1050" b="1" dirty="0">
                <a:latin typeface="+mn-ea"/>
              </a:rPr>
              <a:t> &lt;&lt; </a:t>
            </a:r>
            <a:r>
              <a:rPr lang="en-US" altLang="zh-CN" sz="1050" b="1" dirty="0" err="1">
                <a:latin typeface="+mn-ea"/>
              </a:rPr>
              <a:t>setprecision</a:t>
            </a:r>
            <a:r>
              <a:rPr lang="en-US" altLang="zh-CN" sz="1050" b="1" dirty="0">
                <a:latin typeface="+mn-ea"/>
              </a:rPr>
              <a:t>(2) &lt;&lt; f1 &lt;&lt; ' ' &lt;&lt; f2 &lt;&lt; </a:t>
            </a:r>
            <a:r>
              <a:rPr lang="en-US" altLang="zh-CN" sz="1050" b="1" dirty="0" err="1">
                <a:latin typeface="+mn-ea"/>
              </a:rPr>
              <a:t>endl</a:t>
            </a:r>
            <a:r>
              <a:rPr lang="en-US" altLang="zh-CN" sz="1050" b="1" dirty="0">
                <a:latin typeface="+mn-ea"/>
              </a:rPr>
              <a:t>;</a:t>
            </a:r>
          </a:p>
          <a:p>
            <a:r>
              <a:rPr lang="en-US" altLang="zh-CN" sz="1050" b="1" dirty="0">
                <a:latin typeface="+mn-ea"/>
              </a:rPr>
              <a:t>    </a:t>
            </a:r>
            <a:r>
              <a:rPr lang="en-US" altLang="zh-CN" sz="1050" b="1" dirty="0" err="1">
                <a:latin typeface="+mn-ea"/>
              </a:rPr>
              <a:t>cout</a:t>
            </a:r>
            <a:r>
              <a:rPr lang="en-US" altLang="zh-CN" sz="1050" b="1" dirty="0">
                <a:latin typeface="+mn-ea"/>
              </a:rPr>
              <a:t> &lt;&lt; </a:t>
            </a:r>
            <a:r>
              <a:rPr lang="en-US" altLang="zh-CN" sz="1050" b="1" dirty="0" err="1">
                <a:latin typeface="+mn-ea"/>
              </a:rPr>
              <a:t>setprecision</a:t>
            </a:r>
            <a:r>
              <a:rPr lang="en-US" altLang="zh-CN" sz="1050" b="1" dirty="0">
                <a:latin typeface="+mn-ea"/>
              </a:rPr>
              <a:t>(3) &lt;&lt; f1 &lt;&lt; ' ' &lt;&lt; f2 &lt;&lt; </a:t>
            </a:r>
            <a:r>
              <a:rPr lang="en-US" altLang="zh-CN" sz="1050" b="1" dirty="0" err="1">
                <a:latin typeface="+mn-ea"/>
              </a:rPr>
              <a:t>endl</a:t>
            </a:r>
            <a:r>
              <a:rPr lang="en-US" altLang="zh-CN" sz="1050" b="1" dirty="0">
                <a:latin typeface="+mn-ea"/>
              </a:rPr>
              <a:t>;</a:t>
            </a:r>
          </a:p>
          <a:p>
            <a:r>
              <a:rPr lang="en-US" altLang="zh-CN" sz="1050" b="1" dirty="0">
                <a:latin typeface="+mn-ea"/>
              </a:rPr>
              <a:t>    </a:t>
            </a:r>
            <a:r>
              <a:rPr lang="en-US" altLang="zh-CN" sz="1050" b="1" dirty="0" err="1">
                <a:latin typeface="+mn-ea"/>
              </a:rPr>
              <a:t>cout</a:t>
            </a:r>
            <a:r>
              <a:rPr lang="en-US" altLang="zh-CN" sz="1050" b="1" dirty="0">
                <a:latin typeface="+mn-ea"/>
              </a:rPr>
              <a:t> &lt;&lt; </a:t>
            </a:r>
            <a:r>
              <a:rPr lang="en-US" altLang="zh-CN" sz="1050" b="1" dirty="0" err="1">
                <a:latin typeface="+mn-ea"/>
              </a:rPr>
              <a:t>setprecision</a:t>
            </a:r>
            <a:r>
              <a:rPr lang="en-US" altLang="zh-CN" sz="1050" b="1" dirty="0">
                <a:latin typeface="+mn-ea"/>
              </a:rPr>
              <a:t>(4) &lt;&lt; f1 &lt;&lt; ' ' &lt;&lt; f2 &lt;&lt; </a:t>
            </a:r>
            <a:r>
              <a:rPr lang="en-US" altLang="zh-CN" sz="1050" b="1" dirty="0" err="1">
                <a:latin typeface="+mn-ea"/>
              </a:rPr>
              <a:t>endl</a:t>
            </a:r>
            <a:r>
              <a:rPr lang="en-US" altLang="zh-CN" sz="1050" b="1" dirty="0">
                <a:latin typeface="+mn-ea"/>
              </a:rPr>
              <a:t>;</a:t>
            </a:r>
          </a:p>
          <a:p>
            <a:r>
              <a:rPr lang="en-US" altLang="zh-CN" sz="1050" b="1" dirty="0">
                <a:latin typeface="+mn-ea"/>
              </a:rPr>
              <a:t>    </a:t>
            </a:r>
            <a:r>
              <a:rPr lang="en-US" altLang="zh-CN" sz="1050" b="1" dirty="0" err="1">
                <a:latin typeface="+mn-ea"/>
              </a:rPr>
              <a:t>cout</a:t>
            </a:r>
            <a:r>
              <a:rPr lang="en-US" altLang="zh-CN" sz="1050" b="1" dirty="0">
                <a:latin typeface="+mn-ea"/>
              </a:rPr>
              <a:t> &lt;&lt; </a:t>
            </a:r>
            <a:r>
              <a:rPr lang="en-US" altLang="zh-CN" sz="1050" b="1" dirty="0" err="1">
                <a:latin typeface="+mn-ea"/>
              </a:rPr>
              <a:t>setprecision</a:t>
            </a:r>
            <a:r>
              <a:rPr lang="en-US" altLang="zh-CN" sz="1050" b="1" dirty="0">
                <a:latin typeface="+mn-ea"/>
              </a:rPr>
              <a:t>(5) &lt;&lt; f1 &lt;&lt; ' ' &lt;&lt; f2 &lt;&lt; </a:t>
            </a:r>
            <a:r>
              <a:rPr lang="en-US" altLang="zh-CN" sz="1050" b="1" dirty="0" err="1">
                <a:latin typeface="+mn-ea"/>
              </a:rPr>
              <a:t>endl</a:t>
            </a:r>
            <a:r>
              <a:rPr lang="en-US" altLang="zh-CN" sz="1050" b="1" dirty="0">
                <a:latin typeface="+mn-ea"/>
              </a:rPr>
              <a:t>;</a:t>
            </a:r>
          </a:p>
          <a:p>
            <a:r>
              <a:rPr lang="en-US" altLang="zh-CN" sz="1050" b="1" dirty="0">
                <a:latin typeface="+mn-ea"/>
              </a:rPr>
              <a:t>    </a:t>
            </a:r>
            <a:r>
              <a:rPr lang="en-US" altLang="zh-CN" sz="1050" b="1" dirty="0" err="1">
                <a:latin typeface="+mn-ea"/>
              </a:rPr>
              <a:t>cout</a:t>
            </a:r>
            <a:r>
              <a:rPr lang="en-US" altLang="zh-CN" sz="1050" b="1" dirty="0">
                <a:latin typeface="+mn-ea"/>
              </a:rPr>
              <a:t> &lt;&lt; </a:t>
            </a:r>
            <a:r>
              <a:rPr lang="en-US" altLang="zh-CN" sz="1050" b="1" dirty="0" err="1">
                <a:latin typeface="+mn-ea"/>
              </a:rPr>
              <a:t>setprecision</a:t>
            </a:r>
            <a:r>
              <a:rPr lang="en-US" altLang="zh-CN" sz="1050" b="1" dirty="0">
                <a:latin typeface="+mn-ea"/>
              </a:rPr>
              <a:t>(6) &lt;&lt; f1 &lt;&lt; ' ' &lt;&lt; f2 &lt;&lt; </a:t>
            </a:r>
            <a:r>
              <a:rPr lang="en-US" altLang="zh-CN" sz="1050" b="1" dirty="0" err="1">
                <a:latin typeface="+mn-ea"/>
              </a:rPr>
              <a:t>endl</a:t>
            </a:r>
            <a:r>
              <a:rPr lang="en-US" altLang="zh-CN" sz="1050" b="1" dirty="0">
                <a:latin typeface="+mn-ea"/>
              </a:rPr>
              <a:t>;</a:t>
            </a:r>
          </a:p>
          <a:p>
            <a:r>
              <a:rPr lang="en-US" altLang="zh-CN" sz="1050" b="1" dirty="0">
                <a:latin typeface="+mn-ea"/>
              </a:rPr>
              <a:t>    </a:t>
            </a:r>
            <a:r>
              <a:rPr lang="en-US" altLang="zh-CN" sz="1050" b="1" dirty="0" err="1">
                <a:latin typeface="+mn-ea"/>
              </a:rPr>
              <a:t>cout</a:t>
            </a:r>
            <a:r>
              <a:rPr lang="en-US" altLang="zh-CN" sz="1050" b="1" dirty="0">
                <a:latin typeface="+mn-ea"/>
              </a:rPr>
              <a:t> &lt;&lt; </a:t>
            </a:r>
            <a:r>
              <a:rPr lang="en-US" altLang="zh-CN" sz="1050" b="1" dirty="0" err="1">
                <a:latin typeface="+mn-ea"/>
              </a:rPr>
              <a:t>setprecision</a:t>
            </a:r>
            <a:r>
              <a:rPr lang="en-US" altLang="zh-CN" sz="1050" b="1" dirty="0">
                <a:latin typeface="+mn-ea"/>
              </a:rPr>
              <a:t>(7) &lt;&lt; f1 &lt;&lt; ' ' &lt;&lt; f2 &lt;&lt; </a:t>
            </a:r>
            <a:r>
              <a:rPr lang="en-US" altLang="zh-CN" sz="1050" b="1" dirty="0" err="1">
                <a:latin typeface="+mn-ea"/>
              </a:rPr>
              <a:t>endl</a:t>
            </a:r>
            <a:r>
              <a:rPr lang="en-US" altLang="zh-CN" sz="1050" b="1" dirty="0">
                <a:latin typeface="+mn-ea"/>
              </a:rPr>
              <a:t>;</a:t>
            </a:r>
          </a:p>
          <a:p>
            <a:endParaRPr lang="zh-CN" altLang="en-US" sz="1050" b="1" dirty="0">
              <a:latin typeface="+mn-ea"/>
            </a:endParaRPr>
          </a:p>
          <a:p>
            <a:r>
              <a:rPr lang="zh-CN" altLang="en-US" sz="1050" b="1" dirty="0">
                <a:latin typeface="+mn-ea"/>
              </a:rPr>
              <a:t>    </a:t>
            </a:r>
            <a:r>
              <a:rPr lang="en-US" altLang="zh-CN" sz="1050" b="1" dirty="0">
                <a:latin typeface="+mn-ea"/>
              </a:rPr>
              <a:t>/* </a:t>
            </a:r>
            <a:r>
              <a:rPr lang="zh-CN" altLang="en-US" sz="1050" b="1" dirty="0">
                <a:latin typeface="+mn-ea"/>
              </a:rPr>
              <a:t>第</a:t>
            </a:r>
            <a:r>
              <a:rPr lang="en-US" altLang="zh-CN" sz="1050" b="1" dirty="0">
                <a:latin typeface="+mn-ea"/>
              </a:rPr>
              <a:t>3</a:t>
            </a:r>
            <a:r>
              <a:rPr lang="zh-CN" altLang="en-US" sz="1050" b="1" dirty="0">
                <a:latin typeface="+mn-ea"/>
              </a:rPr>
              <a:t>组：大于</a:t>
            </a:r>
            <a:r>
              <a:rPr lang="en-US" altLang="zh-CN" sz="1050" b="1" dirty="0">
                <a:latin typeface="+mn-ea"/>
              </a:rPr>
              <a:t>float</a:t>
            </a:r>
            <a:r>
              <a:rPr lang="zh-CN" altLang="en-US" sz="1050" b="1" dirty="0">
                <a:latin typeface="+mn-ea"/>
              </a:rPr>
              <a:t>型有效数字 *</a:t>
            </a:r>
            <a:r>
              <a:rPr lang="en-US" altLang="zh-CN" sz="1050" b="1" dirty="0">
                <a:latin typeface="+mn-ea"/>
              </a:rPr>
              <a:t>/</a:t>
            </a:r>
            <a:endParaRPr lang="zh-CN" altLang="en-US" sz="1050" b="1" dirty="0">
              <a:latin typeface="+mn-ea"/>
            </a:endParaRPr>
          </a:p>
          <a:p>
            <a:r>
              <a:rPr lang="en-US" altLang="zh-CN" sz="1050" b="1" dirty="0">
                <a:latin typeface="+mn-ea"/>
              </a:rPr>
              <a:t>    </a:t>
            </a:r>
            <a:r>
              <a:rPr lang="en-US" altLang="zh-CN" sz="1050" b="1" dirty="0" err="1">
                <a:latin typeface="+mn-ea"/>
              </a:rPr>
              <a:t>cout</a:t>
            </a:r>
            <a:r>
              <a:rPr lang="en-US" altLang="zh-CN" sz="1050" b="1" dirty="0">
                <a:latin typeface="+mn-ea"/>
              </a:rPr>
              <a:t> &lt;&lt; </a:t>
            </a:r>
            <a:r>
              <a:rPr lang="en-US" altLang="zh-CN" sz="1050" b="1" dirty="0" err="1">
                <a:latin typeface="+mn-ea"/>
              </a:rPr>
              <a:t>endl</a:t>
            </a:r>
            <a:r>
              <a:rPr lang="en-US" altLang="zh-CN" sz="1050" b="1" dirty="0">
                <a:latin typeface="+mn-ea"/>
              </a:rPr>
              <a:t>;</a:t>
            </a:r>
          </a:p>
          <a:p>
            <a:r>
              <a:rPr lang="en-US" altLang="zh-CN" sz="1050" b="1" dirty="0">
                <a:latin typeface="+mn-ea"/>
              </a:rPr>
              <a:t>    </a:t>
            </a:r>
            <a:r>
              <a:rPr lang="en-US" altLang="zh-CN" sz="1050" b="1" dirty="0" err="1">
                <a:latin typeface="+mn-ea"/>
              </a:rPr>
              <a:t>cout</a:t>
            </a:r>
            <a:r>
              <a:rPr lang="en-US" altLang="zh-CN" sz="1050" b="1" dirty="0">
                <a:latin typeface="+mn-ea"/>
              </a:rPr>
              <a:t> &lt;&lt; </a:t>
            </a:r>
            <a:r>
              <a:rPr lang="en-US" altLang="zh-CN" sz="1050" b="1" dirty="0" err="1">
                <a:latin typeface="+mn-ea"/>
              </a:rPr>
              <a:t>setprecision</a:t>
            </a:r>
            <a:r>
              <a:rPr lang="en-US" altLang="zh-CN" sz="1050" b="1" dirty="0">
                <a:latin typeface="+mn-ea"/>
              </a:rPr>
              <a:t>(8) &lt;&lt; f1 &lt;&lt; ' ' &lt;&lt; f2 &lt;&lt; </a:t>
            </a:r>
            <a:r>
              <a:rPr lang="en-US" altLang="zh-CN" sz="1050" b="1" dirty="0" err="1">
                <a:latin typeface="+mn-ea"/>
              </a:rPr>
              <a:t>endl</a:t>
            </a:r>
            <a:r>
              <a:rPr lang="en-US" altLang="zh-CN" sz="1050" b="1" dirty="0">
                <a:latin typeface="+mn-ea"/>
              </a:rPr>
              <a:t>;</a:t>
            </a:r>
          </a:p>
          <a:p>
            <a:r>
              <a:rPr lang="en-US" altLang="zh-CN" sz="1050" b="1" dirty="0">
                <a:latin typeface="+mn-ea"/>
              </a:rPr>
              <a:t>    </a:t>
            </a:r>
            <a:r>
              <a:rPr lang="en-US" altLang="zh-CN" sz="1050" b="1" dirty="0" err="1">
                <a:latin typeface="+mn-ea"/>
              </a:rPr>
              <a:t>cout</a:t>
            </a:r>
            <a:r>
              <a:rPr lang="en-US" altLang="zh-CN" sz="1050" b="1" dirty="0">
                <a:latin typeface="+mn-ea"/>
              </a:rPr>
              <a:t> &lt;&lt; </a:t>
            </a:r>
            <a:r>
              <a:rPr lang="en-US" altLang="zh-CN" sz="1050" b="1" dirty="0" err="1">
                <a:latin typeface="+mn-ea"/>
              </a:rPr>
              <a:t>setprecision</a:t>
            </a:r>
            <a:r>
              <a:rPr lang="en-US" altLang="zh-CN" sz="1050" b="1" dirty="0">
                <a:latin typeface="+mn-ea"/>
              </a:rPr>
              <a:t>(9) &lt;&lt; f1 &lt;&lt; ' ' &lt;&lt; f2 &lt;&lt; </a:t>
            </a:r>
            <a:r>
              <a:rPr lang="en-US" altLang="zh-CN" sz="1050" b="1" dirty="0" err="1">
                <a:latin typeface="+mn-ea"/>
              </a:rPr>
              <a:t>endl</a:t>
            </a:r>
            <a:r>
              <a:rPr lang="en-US" altLang="zh-CN" sz="1050" b="1" dirty="0">
                <a:latin typeface="+mn-ea"/>
              </a:rPr>
              <a:t>;</a:t>
            </a:r>
          </a:p>
          <a:p>
            <a:r>
              <a:rPr lang="en-US" altLang="zh-CN" sz="1050" b="1" dirty="0">
                <a:latin typeface="+mn-ea"/>
              </a:rPr>
              <a:t>    </a:t>
            </a:r>
            <a:r>
              <a:rPr lang="en-US" altLang="zh-CN" sz="1050" b="1" dirty="0" err="1">
                <a:latin typeface="+mn-ea"/>
              </a:rPr>
              <a:t>cout</a:t>
            </a:r>
            <a:r>
              <a:rPr lang="en-US" altLang="zh-CN" sz="1050" b="1" dirty="0">
                <a:latin typeface="+mn-ea"/>
              </a:rPr>
              <a:t> &lt;&lt; </a:t>
            </a:r>
            <a:r>
              <a:rPr lang="en-US" altLang="zh-CN" sz="1050" b="1" dirty="0" err="1">
                <a:latin typeface="+mn-ea"/>
              </a:rPr>
              <a:t>setprecision</a:t>
            </a:r>
            <a:r>
              <a:rPr lang="en-US" altLang="zh-CN" sz="1050" b="1" dirty="0">
                <a:latin typeface="+mn-ea"/>
              </a:rPr>
              <a:t>(10) &lt;&lt; f1 &lt;&lt; ' ' &lt;&lt; f2 &lt;&lt; </a:t>
            </a:r>
            <a:r>
              <a:rPr lang="en-US" altLang="zh-CN" sz="1050" b="1" dirty="0" err="1">
                <a:latin typeface="+mn-ea"/>
              </a:rPr>
              <a:t>endl</a:t>
            </a:r>
            <a:r>
              <a:rPr lang="en-US" altLang="zh-CN" sz="1050" b="1" dirty="0">
                <a:latin typeface="+mn-ea"/>
              </a:rPr>
              <a:t>;</a:t>
            </a:r>
            <a:r>
              <a:rPr lang="en-US" altLang="zh-CN" sz="1050" b="1" dirty="0">
                <a:solidFill>
                  <a:srgbClr val="FF0000"/>
                </a:solidFill>
                <a:latin typeface="+mn-ea"/>
              </a:rPr>
              <a:t> //</a:t>
            </a:r>
            <a:r>
              <a:rPr lang="zh-CN" altLang="en-US" sz="1050" b="1" dirty="0">
                <a:solidFill>
                  <a:srgbClr val="FF0000"/>
                </a:solidFill>
                <a:latin typeface="+mn-ea"/>
              </a:rPr>
              <a:t>为什么</a:t>
            </a:r>
            <a:r>
              <a:rPr lang="en-US" altLang="zh-CN" sz="1050" b="1" dirty="0">
                <a:solidFill>
                  <a:srgbClr val="FF0000"/>
                </a:solidFill>
                <a:latin typeface="+mn-ea"/>
              </a:rPr>
              <a:t>f1</a:t>
            </a:r>
            <a:r>
              <a:rPr lang="zh-CN" altLang="en-US" sz="1050" b="1" dirty="0">
                <a:solidFill>
                  <a:srgbClr val="FF0000"/>
                </a:solidFill>
                <a:latin typeface="+mn-ea"/>
              </a:rPr>
              <a:t>比</a:t>
            </a:r>
            <a:r>
              <a:rPr lang="en-US" altLang="zh-CN" sz="1050" b="1" dirty="0">
                <a:solidFill>
                  <a:srgbClr val="FF0000"/>
                </a:solidFill>
                <a:latin typeface="+mn-ea"/>
              </a:rPr>
              <a:t>f2</a:t>
            </a:r>
            <a:r>
              <a:rPr lang="zh-CN" altLang="en-US" sz="1050" b="1" dirty="0">
                <a:solidFill>
                  <a:srgbClr val="FF0000"/>
                </a:solidFill>
                <a:latin typeface="+mn-ea"/>
              </a:rPr>
              <a:t>少一位？</a:t>
            </a:r>
          </a:p>
          <a:p>
            <a:r>
              <a:rPr lang="en-US" altLang="zh-CN" sz="1050" b="1" dirty="0">
                <a:latin typeface="+mn-ea"/>
              </a:rPr>
              <a:t>    </a:t>
            </a:r>
            <a:r>
              <a:rPr lang="en-US" altLang="zh-CN" sz="1050" b="1" dirty="0" err="1">
                <a:latin typeface="+mn-ea"/>
              </a:rPr>
              <a:t>cout</a:t>
            </a:r>
            <a:r>
              <a:rPr lang="en-US" altLang="zh-CN" sz="1050" b="1" dirty="0">
                <a:latin typeface="+mn-ea"/>
              </a:rPr>
              <a:t> &lt;&lt; </a:t>
            </a:r>
            <a:r>
              <a:rPr lang="en-US" altLang="zh-CN" sz="1050" b="1" dirty="0" err="1">
                <a:latin typeface="+mn-ea"/>
              </a:rPr>
              <a:t>setprecision</a:t>
            </a:r>
            <a:r>
              <a:rPr lang="en-US" altLang="zh-CN" sz="1050" b="1" dirty="0">
                <a:latin typeface="+mn-ea"/>
              </a:rPr>
              <a:t>(11) &lt;&lt; f1 &lt;&lt; ' ' &lt;&lt; f2 &lt;&lt; </a:t>
            </a:r>
            <a:r>
              <a:rPr lang="en-US" altLang="zh-CN" sz="1050" b="1" dirty="0" err="1">
                <a:latin typeface="+mn-ea"/>
              </a:rPr>
              <a:t>endl</a:t>
            </a:r>
            <a:r>
              <a:rPr lang="en-US" altLang="zh-CN" sz="1050" b="1" dirty="0">
                <a:latin typeface="+mn-ea"/>
              </a:rPr>
              <a:t>;</a:t>
            </a:r>
          </a:p>
          <a:p>
            <a:r>
              <a:rPr lang="en-US" altLang="zh-CN" sz="1050" b="1" dirty="0">
                <a:latin typeface="+mn-ea"/>
              </a:rPr>
              <a:t>    </a:t>
            </a:r>
            <a:r>
              <a:rPr lang="en-US" altLang="zh-CN" sz="1050" b="1" dirty="0" err="1">
                <a:latin typeface="+mn-ea"/>
              </a:rPr>
              <a:t>cout</a:t>
            </a:r>
            <a:r>
              <a:rPr lang="en-US" altLang="zh-CN" sz="1050" b="1" dirty="0">
                <a:latin typeface="+mn-ea"/>
              </a:rPr>
              <a:t> &lt;&lt; </a:t>
            </a:r>
            <a:r>
              <a:rPr lang="en-US" altLang="zh-CN" sz="1050" b="1" dirty="0" err="1">
                <a:latin typeface="+mn-ea"/>
              </a:rPr>
              <a:t>setprecision</a:t>
            </a:r>
            <a:r>
              <a:rPr lang="en-US" altLang="zh-CN" sz="1050" b="1" dirty="0">
                <a:latin typeface="+mn-ea"/>
              </a:rPr>
              <a:t>(25) &lt;&lt; f1 &lt;&lt; ' ' &lt;&lt; f2 &lt;&lt; </a:t>
            </a:r>
            <a:r>
              <a:rPr lang="en-US" altLang="zh-CN" sz="1050" b="1" dirty="0" err="1">
                <a:latin typeface="+mn-ea"/>
              </a:rPr>
              <a:t>endl</a:t>
            </a:r>
            <a:r>
              <a:rPr lang="en-US" altLang="zh-CN" sz="1050" b="1" dirty="0">
                <a:latin typeface="+mn-ea"/>
              </a:rPr>
              <a:t>;</a:t>
            </a:r>
          </a:p>
          <a:p>
            <a:endParaRPr lang="zh-CN" altLang="en-US" sz="1050" b="1" dirty="0">
              <a:latin typeface="+mn-ea"/>
            </a:endParaRPr>
          </a:p>
          <a:p>
            <a:r>
              <a:rPr lang="en-US" altLang="zh-CN" sz="1050" b="1" dirty="0">
                <a:latin typeface="+mn-ea"/>
              </a:rPr>
              <a:t>    return 0;</a:t>
            </a:r>
          </a:p>
          <a:p>
            <a:r>
              <a:rPr lang="en-US" altLang="zh-CN" sz="1050" b="1" dirty="0">
                <a:latin typeface="+mn-ea"/>
              </a:rPr>
              <a:t>}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5F4BCE1-7EFF-4574-A662-0B3C3B991C9B}"/>
              </a:ext>
            </a:extLst>
          </p:cNvPr>
          <p:cNvSpPr/>
          <p:nvPr/>
        </p:nvSpPr>
        <p:spPr bwMode="auto">
          <a:xfrm>
            <a:off x="861848" y="2133600"/>
            <a:ext cx="2481427" cy="381000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D0A027E-79CD-478C-9BC0-EBEA804C1C8B}"/>
              </a:ext>
            </a:extLst>
          </p:cNvPr>
          <p:cNvSpPr/>
          <p:nvPr/>
        </p:nvSpPr>
        <p:spPr bwMode="auto">
          <a:xfrm>
            <a:off x="6276974" y="1323974"/>
            <a:ext cx="4558437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本例贴图</a:t>
            </a:r>
            <a:endParaRPr kumimoji="1" lang="en-US" altLang="zh-CN" sz="1600" b="1" dirty="0">
              <a:latin typeface="+mn-ea"/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C08B113-7B93-BC8E-831A-E4D8DDE70E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5292" y="1860767"/>
            <a:ext cx="4241800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8541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sz="1200" b="1" dirty="0">
              <a:latin typeface="+mn-ea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en-US" altLang="zh-CN" sz="1600" b="1" dirty="0" err="1">
                <a:latin typeface="+mn-ea"/>
              </a:rPr>
              <a:t>F.</a:t>
            </a:r>
            <a:r>
              <a:rPr lang="en-US" altLang="zh-CN" sz="1600" b="1" dirty="0" err="1">
                <a:latin typeface="+mn-ea"/>
                <a:cs typeface="Times New Roman" panose="02020603050405020304" pitchFamily="18" charset="0"/>
              </a:rPr>
              <a:t>setprecision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的使用 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- 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单独使用 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- (3)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31B6A17-5E7C-4625-90AE-6C7D682CA9B0}"/>
              </a:ext>
            </a:extLst>
          </p:cNvPr>
          <p:cNvSpPr/>
          <p:nvPr/>
        </p:nvSpPr>
        <p:spPr bwMode="auto">
          <a:xfrm>
            <a:off x="5009396" y="1323974"/>
            <a:ext cx="582601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本例贴图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CA606D2-55A2-40E0-8D6D-3A0DF7E73037}"/>
              </a:ext>
            </a:extLst>
          </p:cNvPr>
          <p:cNvSpPr/>
          <p:nvPr/>
        </p:nvSpPr>
        <p:spPr bwMode="auto">
          <a:xfrm>
            <a:off x="592115" y="1323973"/>
            <a:ext cx="4417281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100" b="1" dirty="0">
                <a:latin typeface="+mn-ea"/>
              </a:rPr>
              <a:t>#include &lt;iostream&gt;</a:t>
            </a:r>
          </a:p>
          <a:p>
            <a:r>
              <a:rPr lang="en-US" altLang="zh-CN" sz="1100" b="1" dirty="0">
                <a:latin typeface="+mn-ea"/>
              </a:rPr>
              <a:t>#include &lt;</a:t>
            </a:r>
            <a:r>
              <a:rPr lang="en-US" altLang="zh-CN" sz="1100" b="1" dirty="0" err="1">
                <a:latin typeface="+mn-ea"/>
              </a:rPr>
              <a:t>iomanip</a:t>
            </a:r>
            <a:r>
              <a:rPr lang="en-US" altLang="zh-CN" sz="1100" b="1" dirty="0">
                <a:latin typeface="+mn-ea"/>
              </a:rPr>
              <a:t>&gt;</a:t>
            </a:r>
          </a:p>
          <a:p>
            <a:r>
              <a:rPr lang="en-US" altLang="zh-CN" sz="1100" b="1" dirty="0">
                <a:latin typeface="+mn-ea"/>
              </a:rPr>
              <a:t>using namespace std;</a:t>
            </a:r>
          </a:p>
          <a:p>
            <a:r>
              <a:rPr lang="en-US" altLang="zh-CN" sz="1100" b="1" dirty="0">
                <a:latin typeface="+mn-ea"/>
              </a:rPr>
              <a:t>int main()</a:t>
            </a:r>
          </a:p>
          <a:p>
            <a:r>
              <a:rPr lang="en-US" altLang="zh-CN" sz="1100" b="1" dirty="0">
                <a:latin typeface="+mn-ea"/>
              </a:rPr>
              <a:t>{</a:t>
            </a:r>
          </a:p>
          <a:p>
            <a:r>
              <a:rPr lang="en-US" altLang="zh-CN" sz="1100" b="1" dirty="0">
                <a:latin typeface="+mn-ea"/>
              </a:rPr>
              <a:t>    float f1 = 0.12345678F;</a:t>
            </a:r>
          </a:p>
          <a:p>
            <a:r>
              <a:rPr lang="en-US" altLang="zh-CN" sz="1100" b="1" dirty="0">
                <a:latin typeface="+mn-ea"/>
              </a:rPr>
              <a:t>    float f2 = 0.87654321F;</a:t>
            </a:r>
          </a:p>
          <a:p>
            <a:endParaRPr lang="zh-CN" altLang="en-US" sz="1100" b="1" dirty="0">
              <a:latin typeface="+mn-ea"/>
            </a:endParaRPr>
          </a:p>
          <a:p>
            <a:r>
              <a:rPr lang="zh-CN" altLang="en-US" sz="1100" b="1" dirty="0">
                <a:latin typeface="+mn-ea"/>
              </a:rPr>
              <a:t>    </a:t>
            </a:r>
            <a:r>
              <a:rPr lang="en-US" altLang="zh-CN" sz="1100" b="1" dirty="0">
                <a:latin typeface="+mn-ea"/>
              </a:rPr>
              <a:t>/* </a:t>
            </a:r>
            <a:r>
              <a:rPr lang="zh-CN" altLang="en-US" sz="1100" b="1" dirty="0">
                <a:latin typeface="+mn-ea"/>
              </a:rPr>
              <a:t>第</a:t>
            </a:r>
            <a:r>
              <a:rPr lang="en-US" altLang="zh-CN" sz="1100" b="1" dirty="0">
                <a:latin typeface="+mn-ea"/>
              </a:rPr>
              <a:t>1</a:t>
            </a:r>
            <a:r>
              <a:rPr lang="zh-CN" altLang="en-US" sz="1100" b="1" dirty="0">
                <a:latin typeface="+mn-ea"/>
              </a:rPr>
              <a:t>组：不设或非法 *</a:t>
            </a:r>
            <a:r>
              <a:rPr lang="en-US" altLang="zh-CN" sz="1100" b="1" dirty="0">
                <a:latin typeface="+mn-ea"/>
              </a:rPr>
              <a:t>/</a:t>
            </a:r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f1 &lt;&lt; ' ' &lt;&lt; f2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setprecision</a:t>
            </a:r>
            <a:r>
              <a:rPr lang="en-US" altLang="zh-CN" sz="1100" b="1" dirty="0">
                <a:latin typeface="+mn-ea"/>
              </a:rPr>
              <a:t>(0) &lt;&lt; f1 &lt;&lt; ' ' &lt;&lt; f2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</a:p>
          <a:p>
            <a:endParaRPr lang="zh-CN" altLang="en-US" sz="1100" b="1" dirty="0">
              <a:latin typeface="+mn-ea"/>
            </a:endParaRPr>
          </a:p>
          <a:p>
            <a:r>
              <a:rPr lang="zh-CN" altLang="en-US" sz="1100" b="1" dirty="0">
                <a:latin typeface="+mn-ea"/>
              </a:rPr>
              <a:t>    </a:t>
            </a:r>
            <a:r>
              <a:rPr lang="en-US" altLang="zh-CN" sz="1100" b="1" dirty="0">
                <a:latin typeface="+mn-ea"/>
              </a:rPr>
              <a:t>/* </a:t>
            </a:r>
            <a:r>
              <a:rPr lang="zh-CN" altLang="en-US" sz="1100" b="1" dirty="0">
                <a:latin typeface="+mn-ea"/>
              </a:rPr>
              <a:t>第</a:t>
            </a:r>
            <a:r>
              <a:rPr lang="en-US" altLang="zh-CN" sz="1100" b="1" dirty="0">
                <a:latin typeface="+mn-ea"/>
              </a:rPr>
              <a:t>2</a:t>
            </a:r>
            <a:r>
              <a:rPr lang="zh-CN" altLang="en-US" sz="1100" b="1" dirty="0">
                <a:latin typeface="+mn-ea"/>
              </a:rPr>
              <a:t>组：小与等于</a:t>
            </a:r>
            <a:r>
              <a:rPr lang="en-US" altLang="zh-CN" sz="1100" b="1" dirty="0">
                <a:latin typeface="+mn-ea"/>
              </a:rPr>
              <a:t>float</a:t>
            </a:r>
            <a:r>
              <a:rPr lang="zh-CN" altLang="en-US" sz="1100" b="1" dirty="0">
                <a:latin typeface="+mn-ea"/>
              </a:rPr>
              <a:t>型有效数字 *</a:t>
            </a:r>
            <a:r>
              <a:rPr lang="en-US" altLang="zh-CN" sz="1100" b="1" dirty="0">
                <a:latin typeface="+mn-ea"/>
              </a:rPr>
              <a:t>/</a:t>
            </a:r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setprecision</a:t>
            </a:r>
            <a:r>
              <a:rPr lang="en-US" altLang="zh-CN" sz="1100" b="1" dirty="0">
                <a:latin typeface="+mn-ea"/>
              </a:rPr>
              <a:t>(1) &lt;&lt; f1 &lt;&lt; ' ' &lt;&lt; f2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setprecision</a:t>
            </a:r>
            <a:r>
              <a:rPr lang="en-US" altLang="zh-CN" sz="1100" b="1" dirty="0">
                <a:latin typeface="+mn-ea"/>
              </a:rPr>
              <a:t>(2) &lt;&lt; f1 &lt;&lt; ' ' &lt;&lt; f2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setprecision</a:t>
            </a:r>
            <a:r>
              <a:rPr lang="en-US" altLang="zh-CN" sz="1100" b="1" dirty="0">
                <a:latin typeface="+mn-ea"/>
              </a:rPr>
              <a:t>(3) &lt;&lt; f1 &lt;&lt; ' ' &lt;&lt; f2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setprecision</a:t>
            </a:r>
            <a:r>
              <a:rPr lang="en-US" altLang="zh-CN" sz="1100" b="1" dirty="0">
                <a:latin typeface="+mn-ea"/>
              </a:rPr>
              <a:t>(4) &lt;&lt; f1 &lt;&lt; ' ' &lt;&lt; f2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setprecision</a:t>
            </a:r>
            <a:r>
              <a:rPr lang="en-US" altLang="zh-CN" sz="1100" b="1" dirty="0">
                <a:latin typeface="+mn-ea"/>
              </a:rPr>
              <a:t>(5) &lt;&lt; f1 &lt;&lt; ' ' &lt;&lt; f2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setprecision</a:t>
            </a:r>
            <a:r>
              <a:rPr lang="en-US" altLang="zh-CN" sz="1100" b="1" dirty="0">
                <a:latin typeface="+mn-ea"/>
              </a:rPr>
              <a:t>(6) &lt;&lt; f1 &lt;&lt; ' ' &lt;&lt; f2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setprecision</a:t>
            </a:r>
            <a:r>
              <a:rPr lang="en-US" altLang="zh-CN" sz="1100" b="1" dirty="0">
                <a:latin typeface="+mn-ea"/>
              </a:rPr>
              <a:t>(7) &lt;&lt; f1 &lt;&lt; ' ' &lt;&lt; f2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</a:p>
          <a:p>
            <a:endParaRPr lang="zh-CN" altLang="en-US" sz="1100" b="1" dirty="0">
              <a:latin typeface="+mn-ea"/>
            </a:endParaRPr>
          </a:p>
          <a:p>
            <a:r>
              <a:rPr lang="zh-CN" altLang="en-US" sz="1100" b="1" dirty="0">
                <a:latin typeface="+mn-ea"/>
              </a:rPr>
              <a:t>    </a:t>
            </a:r>
            <a:r>
              <a:rPr lang="en-US" altLang="zh-CN" sz="1100" b="1" dirty="0">
                <a:latin typeface="+mn-ea"/>
              </a:rPr>
              <a:t>/* </a:t>
            </a:r>
            <a:r>
              <a:rPr lang="zh-CN" altLang="en-US" sz="1100" b="1" dirty="0">
                <a:latin typeface="+mn-ea"/>
              </a:rPr>
              <a:t>第</a:t>
            </a:r>
            <a:r>
              <a:rPr lang="en-US" altLang="zh-CN" sz="1100" b="1" dirty="0">
                <a:latin typeface="+mn-ea"/>
              </a:rPr>
              <a:t>3</a:t>
            </a:r>
            <a:r>
              <a:rPr lang="zh-CN" altLang="en-US" sz="1100" b="1" dirty="0">
                <a:latin typeface="+mn-ea"/>
              </a:rPr>
              <a:t>组：大于</a:t>
            </a:r>
            <a:r>
              <a:rPr lang="en-US" altLang="zh-CN" sz="1100" b="1" dirty="0">
                <a:latin typeface="+mn-ea"/>
              </a:rPr>
              <a:t>float</a:t>
            </a:r>
            <a:r>
              <a:rPr lang="zh-CN" altLang="en-US" sz="1100" b="1" dirty="0">
                <a:latin typeface="+mn-ea"/>
              </a:rPr>
              <a:t>型有效数字 *</a:t>
            </a:r>
            <a:r>
              <a:rPr lang="en-US" altLang="zh-CN" sz="1100" b="1" dirty="0">
                <a:latin typeface="+mn-ea"/>
              </a:rPr>
              <a:t>/</a:t>
            </a:r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setprecision</a:t>
            </a:r>
            <a:r>
              <a:rPr lang="en-US" altLang="zh-CN" sz="1100" b="1" dirty="0">
                <a:latin typeface="+mn-ea"/>
              </a:rPr>
              <a:t>(8) &lt;&lt; f1 &lt;&lt; ' ' &lt;&lt; f2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setprecision</a:t>
            </a:r>
            <a:r>
              <a:rPr lang="en-US" altLang="zh-CN" sz="1100" b="1" dirty="0">
                <a:latin typeface="+mn-ea"/>
              </a:rPr>
              <a:t>(9) &lt;&lt; f1 &lt;&lt; ' ' &lt;&lt; f2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setprecision</a:t>
            </a:r>
            <a:r>
              <a:rPr lang="en-US" altLang="zh-CN" sz="1100" b="1" dirty="0">
                <a:latin typeface="+mn-ea"/>
              </a:rPr>
              <a:t>(10) &lt;&lt; f1 &lt;&lt; ' ' &lt;&lt; f2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setprecision</a:t>
            </a:r>
            <a:r>
              <a:rPr lang="en-US" altLang="zh-CN" sz="1100" b="1" dirty="0">
                <a:latin typeface="+mn-ea"/>
              </a:rPr>
              <a:t>(25) &lt;&lt; f1 &lt;&lt; ' ' &lt;&lt; f2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</a:p>
          <a:p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return 0;</a:t>
            </a:r>
          </a:p>
          <a:p>
            <a:r>
              <a:rPr lang="en-US" altLang="zh-CN" sz="1100" b="1" dirty="0">
                <a:latin typeface="+mn-ea"/>
              </a:rPr>
              <a:t>}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5F4BCE1-7EFF-4574-A662-0B3C3B991C9B}"/>
              </a:ext>
            </a:extLst>
          </p:cNvPr>
          <p:cNvSpPr/>
          <p:nvPr/>
        </p:nvSpPr>
        <p:spPr bwMode="auto">
          <a:xfrm>
            <a:off x="899948" y="2181225"/>
            <a:ext cx="1795627" cy="400050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EE88B0A-8E74-4094-7912-8B0F3A8D9E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7604" y="2125660"/>
            <a:ext cx="5689600" cy="360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7803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en-US" altLang="zh-CN" sz="1600" b="1" dirty="0" err="1">
                <a:latin typeface="+mn-ea"/>
              </a:rPr>
              <a:t>F.</a:t>
            </a:r>
            <a:r>
              <a:rPr lang="en-US" altLang="zh-CN" sz="1600" b="1" dirty="0" err="1">
                <a:latin typeface="+mn-ea"/>
                <a:cs typeface="Times New Roman" panose="02020603050405020304" pitchFamily="18" charset="0"/>
              </a:rPr>
              <a:t>setprecision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的使用 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- 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单独使用 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- 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总结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31B6A17-5E7C-4625-90AE-6C7D682CA9B0}"/>
              </a:ext>
            </a:extLst>
          </p:cNvPr>
          <p:cNvSpPr/>
          <p:nvPr/>
        </p:nvSpPr>
        <p:spPr bwMode="auto">
          <a:xfrm>
            <a:off x="588076" y="1323974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重要结论：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setprecision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指定输出位数后，系统会按指定位数输出，即使指定位数超过数据的有效位数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         (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即：输出数据的某位开始是</a:t>
            </a:r>
            <a:r>
              <a:rPr kumimoji="1"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不可信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的，但依然会输出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、给出</a:t>
            </a:r>
            <a:r>
              <a:rPr kumimoji="1" lang="en-US" altLang="zh-CN" sz="1600" b="1" dirty="0" err="1">
                <a:latin typeface="+mn-ea"/>
              </a:rPr>
              <a:t>setprecision</a:t>
            </a:r>
            <a:r>
              <a:rPr kumimoji="1" lang="zh-CN" altLang="en-US" sz="1600" b="1" dirty="0">
                <a:latin typeface="+mn-ea"/>
              </a:rPr>
              <a:t>单独使用时的显示规律总结（如果数据不够，可以再自己构造测试数据）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答：</a:t>
            </a:r>
            <a:r>
              <a:rPr kumimoji="1" lang="en-US" altLang="zh-CN" sz="1600" b="1" dirty="0">
                <a:latin typeface="+mn-ea"/>
              </a:rPr>
              <a:t>1.</a:t>
            </a:r>
            <a:r>
              <a:rPr kumimoji="1" lang="zh-CN" altLang="en-US" sz="1600" b="1" dirty="0">
                <a:latin typeface="+mn-ea"/>
              </a:rPr>
              <a:t>非法时候默认保留一位有效数字；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    </a:t>
            </a:r>
            <a:r>
              <a:rPr kumimoji="1" lang="en-US" altLang="zh-CN" sz="1600" b="1" dirty="0">
                <a:latin typeface="+mn-ea"/>
              </a:rPr>
              <a:t>2.</a:t>
            </a:r>
            <a:r>
              <a:rPr kumimoji="1" lang="zh-CN" altLang="en-US" sz="1600" b="1" dirty="0">
                <a:latin typeface="+mn-ea"/>
              </a:rPr>
              <a:t>小于等于</a:t>
            </a:r>
            <a:r>
              <a:rPr kumimoji="1" lang="en-US" altLang="zh-CN" sz="1600" b="1" dirty="0">
                <a:latin typeface="+mn-ea"/>
              </a:rPr>
              <a:t>float</a:t>
            </a:r>
            <a:r>
              <a:rPr kumimoji="1" lang="zh-CN" altLang="en-US" sz="1600" b="1" dirty="0">
                <a:latin typeface="+mn-ea"/>
              </a:rPr>
              <a:t>型有效数字时通过四舍五入保留相应有效位数；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    </a:t>
            </a:r>
            <a:r>
              <a:rPr kumimoji="1" lang="en-US" altLang="zh-CN" sz="1600" b="1" dirty="0">
                <a:latin typeface="+mn-ea"/>
              </a:rPr>
              <a:t>3.</a:t>
            </a:r>
            <a:r>
              <a:rPr kumimoji="1" lang="zh-CN" altLang="en-US" sz="1600" b="1" dirty="0">
                <a:latin typeface="+mn-ea"/>
              </a:rPr>
              <a:t>大于</a:t>
            </a:r>
            <a:r>
              <a:rPr kumimoji="1" lang="en-US" altLang="zh-CN" sz="1600" b="1" dirty="0">
                <a:latin typeface="+mn-ea"/>
              </a:rPr>
              <a:t>float</a:t>
            </a:r>
            <a:r>
              <a:rPr kumimoji="1" lang="zh-CN" altLang="en-US" sz="1600" b="1" dirty="0">
                <a:latin typeface="+mn-ea"/>
              </a:rPr>
              <a:t>型有效数字时超过有效位部分为随机的数字；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    </a:t>
            </a:r>
            <a:r>
              <a:rPr kumimoji="1" lang="en-US" altLang="zh-CN" sz="1600" b="1" dirty="0">
                <a:latin typeface="+mn-ea"/>
              </a:rPr>
              <a:t>4.</a:t>
            </a:r>
            <a:r>
              <a:rPr kumimoji="1" lang="zh-CN" altLang="en-US" sz="1600" b="1" dirty="0">
                <a:latin typeface="+mn-ea"/>
              </a:rPr>
              <a:t>不设置位数则输出有效位数，小数点后六位省略；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    </a:t>
            </a:r>
            <a:r>
              <a:rPr kumimoji="1" lang="en-US" altLang="zh-CN" sz="1600" b="1" dirty="0">
                <a:latin typeface="+mn-ea"/>
              </a:rPr>
              <a:t>5.</a:t>
            </a:r>
            <a:r>
              <a:rPr kumimoji="1" lang="zh-CN" altLang="en-US" sz="1600" b="1" dirty="0">
                <a:latin typeface="+mn-ea"/>
              </a:rPr>
              <a:t>输出数字小数点最后一位为</a:t>
            </a:r>
            <a:r>
              <a:rPr kumimoji="1" lang="en-US" altLang="zh-CN" sz="1600" b="1" dirty="0">
                <a:latin typeface="+mn-ea"/>
              </a:rPr>
              <a:t>0</a:t>
            </a:r>
            <a:r>
              <a:rPr kumimoji="1" lang="zh-CN" altLang="en-US" sz="1600" b="1" dirty="0">
                <a:latin typeface="+mn-ea"/>
              </a:rPr>
              <a:t>则省略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、将</a:t>
            </a:r>
            <a:r>
              <a:rPr kumimoji="1" lang="en-US" altLang="zh-CN" sz="1600" b="1" dirty="0">
                <a:latin typeface="+mn-ea"/>
              </a:rPr>
              <a:t>1.F-(1)~(3)</a:t>
            </a:r>
            <a:r>
              <a:rPr kumimoji="1" lang="zh-CN" altLang="en-US" sz="1600" b="1" dirty="0">
                <a:latin typeface="+mn-ea"/>
              </a:rPr>
              <a:t>中的数据类型换为</a:t>
            </a:r>
            <a:r>
              <a:rPr kumimoji="1" lang="en-US" altLang="zh-CN" sz="1600" b="1" dirty="0">
                <a:latin typeface="+mn-ea"/>
              </a:rPr>
              <a:t>double</a:t>
            </a:r>
            <a:r>
              <a:rPr kumimoji="1" lang="zh-CN" altLang="en-US" sz="1600" b="1" dirty="0">
                <a:latin typeface="+mn-ea"/>
              </a:rPr>
              <a:t>型（有效位数为</a:t>
            </a:r>
            <a:r>
              <a:rPr kumimoji="1" lang="en-US" altLang="zh-CN" sz="1600" b="1" dirty="0">
                <a:latin typeface="+mn-ea"/>
              </a:rPr>
              <a:t>15</a:t>
            </a:r>
            <a:r>
              <a:rPr kumimoji="1" lang="zh-CN" altLang="en-US" sz="1600" b="1" dirty="0">
                <a:latin typeface="+mn-ea"/>
              </a:rPr>
              <a:t>位），自行构造测试数据，验证总结出的</a:t>
            </a:r>
            <a:r>
              <a:rPr kumimoji="1" lang="en-US" altLang="zh-CN" sz="1600" b="1" dirty="0">
                <a:latin typeface="+mn-ea"/>
              </a:rPr>
              <a:t>float</a:t>
            </a:r>
            <a:r>
              <a:rPr kumimoji="1" lang="zh-CN" altLang="en-US" sz="1600" b="1" dirty="0">
                <a:latin typeface="+mn-ea"/>
              </a:rPr>
              <a:t>型数据的显示规律是否同样适用于</a:t>
            </a:r>
            <a:r>
              <a:rPr kumimoji="1" lang="en-US" altLang="zh-CN" sz="1600" b="1" dirty="0">
                <a:latin typeface="+mn-ea"/>
              </a:rPr>
              <a:t>double</a:t>
            </a:r>
            <a:r>
              <a:rPr kumimoji="1" lang="zh-CN" altLang="en-US" sz="1600" b="1" dirty="0">
                <a:latin typeface="+mn-ea"/>
              </a:rPr>
              <a:t>型（如果适用，不用贴图，如果不适用，贴对应代码及运行截图）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答：适用。</a:t>
            </a:r>
            <a:endParaRPr kumimoji="1" lang="en-US" altLang="zh-CN" sz="16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088524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sz="1200" b="1" dirty="0">
              <a:latin typeface="+mn-ea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en-US" altLang="zh-CN" sz="1600" b="1" dirty="0" err="1">
                <a:latin typeface="+mn-ea"/>
              </a:rPr>
              <a:t>G.</a:t>
            </a:r>
            <a:r>
              <a:rPr lang="en-US" altLang="zh-CN" sz="1600" b="1" dirty="0" err="1">
                <a:latin typeface="+mn-ea"/>
                <a:cs typeface="Times New Roman" panose="02020603050405020304" pitchFamily="18" charset="0"/>
              </a:rPr>
              <a:t>setprecision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的使用 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- 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和</a:t>
            </a:r>
            <a:r>
              <a:rPr lang="en-US" altLang="zh-CN" sz="1600" b="1" kern="1200" dirty="0" err="1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ios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::fixed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一起 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- (1)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31B6A17-5E7C-4625-90AE-6C7D682CA9B0}"/>
              </a:ext>
            </a:extLst>
          </p:cNvPr>
          <p:cNvSpPr/>
          <p:nvPr/>
        </p:nvSpPr>
        <p:spPr bwMode="auto">
          <a:xfrm>
            <a:off x="5705474" y="1323974"/>
            <a:ext cx="5129937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贴图：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CA606D2-55A2-40E0-8D6D-3A0DF7E73037}"/>
              </a:ext>
            </a:extLst>
          </p:cNvPr>
          <p:cNvSpPr/>
          <p:nvPr/>
        </p:nvSpPr>
        <p:spPr bwMode="auto">
          <a:xfrm>
            <a:off x="592115" y="1323973"/>
            <a:ext cx="511336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200" b="1" dirty="0">
                <a:latin typeface="+mn-ea"/>
              </a:rPr>
              <a:t>#include &lt;iostream&gt;</a:t>
            </a:r>
          </a:p>
          <a:p>
            <a:r>
              <a:rPr lang="en-US" altLang="zh-CN" sz="1200" b="1" dirty="0">
                <a:latin typeface="+mn-ea"/>
              </a:rPr>
              <a:t>#include &lt;</a:t>
            </a:r>
            <a:r>
              <a:rPr lang="en-US" altLang="zh-CN" sz="1200" b="1" dirty="0" err="1">
                <a:latin typeface="+mn-ea"/>
              </a:rPr>
              <a:t>iomanip</a:t>
            </a:r>
            <a:r>
              <a:rPr lang="en-US" altLang="zh-CN" sz="1200" b="1" dirty="0">
                <a:latin typeface="+mn-ea"/>
              </a:rPr>
              <a:t>&gt;</a:t>
            </a:r>
          </a:p>
          <a:p>
            <a:endParaRPr lang="zh-CN" altLang="en-US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using namespace std;</a:t>
            </a:r>
          </a:p>
          <a:p>
            <a:r>
              <a:rPr lang="en-US" altLang="zh-CN" sz="1200" b="1" dirty="0">
                <a:latin typeface="+mn-ea"/>
              </a:rPr>
              <a:t>int main()</a:t>
            </a:r>
          </a:p>
          <a:p>
            <a:r>
              <a:rPr lang="en-US" altLang="zh-CN" sz="1200" b="1" dirty="0">
                <a:latin typeface="+mn-ea"/>
              </a:rPr>
              <a:t>{</a:t>
            </a:r>
          </a:p>
          <a:p>
            <a:r>
              <a:rPr lang="en-US" altLang="zh-CN" sz="1200" b="1" dirty="0">
                <a:latin typeface="+mn-ea"/>
              </a:rPr>
              <a:t>    float f1 = 1234.5678F;</a:t>
            </a:r>
          </a:p>
          <a:p>
            <a:r>
              <a:rPr lang="en-US" altLang="zh-CN" sz="1200" b="1" dirty="0">
                <a:latin typeface="+mn-ea"/>
              </a:rPr>
              <a:t>    float f2 = 8765.4321F;</a:t>
            </a:r>
          </a:p>
          <a:p>
            <a:endParaRPr lang="zh-CN" altLang="en-US" sz="1200" b="1" dirty="0">
              <a:latin typeface="+mn-ea"/>
            </a:endParaRPr>
          </a:p>
          <a:p>
            <a:r>
              <a:rPr lang="zh-CN" altLang="en-US" sz="1200" b="1" dirty="0">
                <a:latin typeface="+mn-ea"/>
              </a:rPr>
              <a:t>    </a:t>
            </a:r>
            <a:r>
              <a:rPr lang="en-US" altLang="zh-CN" sz="1200" b="1" dirty="0">
                <a:latin typeface="+mn-ea"/>
              </a:rPr>
              <a:t>/* </a:t>
            </a:r>
            <a:r>
              <a:rPr lang="zh-CN" altLang="en-US" sz="1200" b="1" dirty="0">
                <a:latin typeface="+mn-ea"/>
              </a:rPr>
              <a:t>第</a:t>
            </a:r>
            <a:r>
              <a:rPr lang="en-US" altLang="zh-CN" sz="1200" b="1" dirty="0">
                <a:latin typeface="+mn-ea"/>
              </a:rPr>
              <a:t>1</a:t>
            </a:r>
            <a:r>
              <a:rPr lang="zh-CN" altLang="en-US" sz="1200" b="1" dirty="0">
                <a:latin typeface="+mn-ea"/>
              </a:rPr>
              <a:t>组：不设</a:t>
            </a:r>
            <a:r>
              <a:rPr lang="en-US" altLang="zh-CN" sz="1200" b="1" dirty="0">
                <a:latin typeface="+mn-ea"/>
              </a:rPr>
              <a:t>precision */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setiosflags</a:t>
            </a:r>
            <a:r>
              <a:rPr lang="en-US" altLang="zh-CN" sz="1200" b="1" dirty="0">
                <a:latin typeface="+mn-ea"/>
              </a:rPr>
              <a:t>(</a:t>
            </a:r>
            <a:r>
              <a:rPr lang="en-US" altLang="zh-CN" sz="1200" b="1" dirty="0" err="1">
                <a:latin typeface="+mn-ea"/>
              </a:rPr>
              <a:t>ios</a:t>
            </a:r>
            <a:r>
              <a:rPr lang="en-US" altLang="zh-CN" sz="1200" b="1" dirty="0">
                <a:latin typeface="+mn-ea"/>
              </a:rPr>
              <a:t>::fixed)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endParaRPr lang="zh-CN" altLang="en-US" sz="1200" b="1" dirty="0">
              <a:latin typeface="+mn-ea"/>
            </a:endParaRPr>
          </a:p>
          <a:p>
            <a:r>
              <a:rPr lang="zh-CN" altLang="en-US" sz="1200" b="1" dirty="0">
                <a:latin typeface="+mn-ea"/>
              </a:rPr>
              <a:t>    </a:t>
            </a:r>
            <a:r>
              <a:rPr lang="en-US" altLang="zh-CN" sz="1200" b="1" dirty="0">
                <a:latin typeface="+mn-ea"/>
              </a:rPr>
              <a:t>/* </a:t>
            </a:r>
            <a:r>
              <a:rPr lang="zh-CN" altLang="en-US" sz="1200" b="1" dirty="0">
                <a:latin typeface="+mn-ea"/>
              </a:rPr>
              <a:t>第</a:t>
            </a:r>
            <a:r>
              <a:rPr lang="en-US" altLang="zh-CN" sz="1200" b="1" dirty="0">
                <a:latin typeface="+mn-ea"/>
              </a:rPr>
              <a:t>2</a:t>
            </a:r>
            <a:r>
              <a:rPr lang="zh-CN" altLang="en-US" sz="1200" b="1" dirty="0">
                <a:latin typeface="+mn-ea"/>
              </a:rPr>
              <a:t>组：设置</a:t>
            </a:r>
            <a:r>
              <a:rPr lang="en-US" altLang="zh-CN" sz="1200" b="1" dirty="0">
                <a:latin typeface="+mn-ea"/>
              </a:rPr>
              <a:t>precision */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(1)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(4)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(7)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(10)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(25)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endParaRPr lang="zh-CN" altLang="en-US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return 0;</a:t>
            </a:r>
          </a:p>
          <a:p>
            <a:r>
              <a:rPr lang="en-US" altLang="zh-CN" sz="1200" b="1" dirty="0">
                <a:latin typeface="+mn-ea"/>
              </a:rPr>
              <a:t>}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716A9BA-D166-49C9-A5DF-48802B39394F}"/>
              </a:ext>
            </a:extLst>
          </p:cNvPr>
          <p:cNvSpPr/>
          <p:nvPr/>
        </p:nvSpPr>
        <p:spPr bwMode="auto">
          <a:xfrm>
            <a:off x="909545" y="2438400"/>
            <a:ext cx="1967005" cy="466725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EFC35CA-64FE-63FC-A3F1-A420737F1D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782" y="2218064"/>
            <a:ext cx="6375400" cy="214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8608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sz="1200" b="1" dirty="0">
              <a:latin typeface="+mn-ea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en-US" altLang="zh-CN" sz="1600" b="1" dirty="0" err="1">
                <a:latin typeface="+mn-ea"/>
              </a:rPr>
              <a:t>G.</a:t>
            </a:r>
            <a:r>
              <a:rPr lang="en-US" altLang="zh-CN" sz="1600" b="1" dirty="0" err="1">
                <a:latin typeface="+mn-ea"/>
                <a:cs typeface="Times New Roman" panose="02020603050405020304" pitchFamily="18" charset="0"/>
              </a:rPr>
              <a:t>setprecision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的使用 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- 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和</a:t>
            </a:r>
            <a:r>
              <a:rPr lang="en-US" altLang="zh-CN" sz="1600" b="1" kern="1200" dirty="0" err="1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ios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::fixed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一起 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- (2)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CA606D2-55A2-40E0-8D6D-3A0DF7E73037}"/>
              </a:ext>
            </a:extLst>
          </p:cNvPr>
          <p:cNvSpPr/>
          <p:nvPr/>
        </p:nvSpPr>
        <p:spPr bwMode="auto">
          <a:xfrm>
            <a:off x="592115" y="1323973"/>
            <a:ext cx="511336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200" b="1" dirty="0">
                <a:latin typeface="+mn-ea"/>
              </a:rPr>
              <a:t>#include &lt;iostream&gt;</a:t>
            </a:r>
          </a:p>
          <a:p>
            <a:r>
              <a:rPr lang="en-US" altLang="zh-CN" sz="1200" b="1" dirty="0">
                <a:latin typeface="+mn-ea"/>
              </a:rPr>
              <a:t>#include &lt;</a:t>
            </a:r>
            <a:r>
              <a:rPr lang="en-US" altLang="zh-CN" sz="1200" b="1" dirty="0" err="1">
                <a:latin typeface="+mn-ea"/>
              </a:rPr>
              <a:t>iomanip</a:t>
            </a:r>
            <a:r>
              <a:rPr lang="en-US" altLang="zh-CN" sz="1200" b="1" dirty="0">
                <a:latin typeface="+mn-ea"/>
              </a:rPr>
              <a:t>&gt;</a:t>
            </a:r>
          </a:p>
          <a:p>
            <a:endParaRPr lang="zh-CN" altLang="en-US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using namespace std;</a:t>
            </a:r>
          </a:p>
          <a:p>
            <a:r>
              <a:rPr lang="en-US" altLang="zh-CN" sz="1200" b="1" dirty="0">
                <a:latin typeface="+mn-ea"/>
              </a:rPr>
              <a:t>int main()</a:t>
            </a:r>
          </a:p>
          <a:p>
            <a:r>
              <a:rPr lang="en-US" altLang="zh-CN" sz="1200" b="1" dirty="0">
                <a:latin typeface="+mn-ea"/>
              </a:rPr>
              <a:t>{</a:t>
            </a:r>
          </a:p>
          <a:p>
            <a:r>
              <a:rPr lang="en-US" altLang="zh-CN" sz="1200" b="1" dirty="0">
                <a:latin typeface="+mn-ea"/>
              </a:rPr>
              <a:t>    float f1 = 1234567890123456789.0F;</a:t>
            </a:r>
          </a:p>
          <a:p>
            <a:r>
              <a:rPr lang="en-US" altLang="zh-CN" sz="1200" b="1" dirty="0">
                <a:latin typeface="+mn-ea"/>
              </a:rPr>
              <a:t>    float f2 = 9876543210987654321.0F;</a:t>
            </a:r>
          </a:p>
          <a:p>
            <a:endParaRPr lang="zh-CN" altLang="en-US" sz="1200" b="1" dirty="0">
              <a:latin typeface="+mn-ea"/>
            </a:endParaRPr>
          </a:p>
          <a:p>
            <a:r>
              <a:rPr lang="zh-CN" altLang="en-US" sz="1200" b="1" dirty="0">
                <a:latin typeface="+mn-ea"/>
              </a:rPr>
              <a:t>    </a:t>
            </a:r>
            <a:r>
              <a:rPr lang="en-US" altLang="zh-CN" sz="1200" b="1" dirty="0">
                <a:latin typeface="+mn-ea"/>
              </a:rPr>
              <a:t>/* </a:t>
            </a:r>
            <a:r>
              <a:rPr lang="zh-CN" altLang="en-US" sz="1200" b="1" dirty="0">
                <a:latin typeface="+mn-ea"/>
              </a:rPr>
              <a:t>第</a:t>
            </a:r>
            <a:r>
              <a:rPr lang="en-US" altLang="zh-CN" sz="1200" b="1" dirty="0">
                <a:latin typeface="+mn-ea"/>
              </a:rPr>
              <a:t>1</a:t>
            </a:r>
            <a:r>
              <a:rPr lang="zh-CN" altLang="en-US" sz="1200" b="1" dirty="0">
                <a:latin typeface="+mn-ea"/>
              </a:rPr>
              <a:t>组：不设</a:t>
            </a:r>
            <a:r>
              <a:rPr lang="en-US" altLang="zh-CN" sz="1200" b="1" dirty="0">
                <a:latin typeface="+mn-ea"/>
              </a:rPr>
              <a:t>precision */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setiosflags</a:t>
            </a:r>
            <a:r>
              <a:rPr lang="en-US" altLang="zh-CN" sz="1200" b="1" dirty="0">
                <a:latin typeface="+mn-ea"/>
              </a:rPr>
              <a:t>(</a:t>
            </a:r>
            <a:r>
              <a:rPr lang="en-US" altLang="zh-CN" sz="1200" b="1" dirty="0" err="1">
                <a:latin typeface="+mn-ea"/>
              </a:rPr>
              <a:t>ios</a:t>
            </a:r>
            <a:r>
              <a:rPr lang="en-US" altLang="zh-CN" sz="1200" b="1" dirty="0">
                <a:latin typeface="+mn-ea"/>
              </a:rPr>
              <a:t>::fixed)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endParaRPr lang="zh-CN" altLang="en-US" sz="1200" b="1" dirty="0">
              <a:latin typeface="+mn-ea"/>
            </a:endParaRPr>
          </a:p>
          <a:p>
            <a:r>
              <a:rPr lang="zh-CN" altLang="en-US" sz="1200" b="1" dirty="0">
                <a:latin typeface="+mn-ea"/>
              </a:rPr>
              <a:t>    </a:t>
            </a:r>
            <a:r>
              <a:rPr lang="en-US" altLang="zh-CN" sz="1200" b="1" dirty="0">
                <a:latin typeface="+mn-ea"/>
              </a:rPr>
              <a:t>/* </a:t>
            </a:r>
            <a:r>
              <a:rPr lang="zh-CN" altLang="en-US" sz="1200" b="1" dirty="0">
                <a:latin typeface="+mn-ea"/>
              </a:rPr>
              <a:t>第</a:t>
            </a:r>
            <a:r>
              <a:rPr lang="en-US" altLang="zh-CN" sz="1200" b="1" dirty="0">
                <a:latin typeface="+mn-ea"/>
              </a:rPr>
              <a:t>2</a:t>
            </a:r>
            <a:r>
              <a:rPr lang="zh-CN" altLang="en-US" sz="1200" b="1" dirty="0">
                <a:latin typeface="+mn-ea"/>
              </a:rPr>
              <a:t>组：设置</a:t>
            </a:r>
            <a:r>
              <a:rPr lang="en-US" altLang="zh-CN" sz="1200" b="1" dirty="0">
                <a:latin typeface="+mn-ea"/>
              </a:rPr>
              <a:t>precision */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(1)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(4)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(7)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(10)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(25)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endParaRPr lang="zh-CN" altLang="en-US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return 0;</a:t>
            </a:r>
          </a:p>
          <a:p>
            <a:r>
              <a:rPr lang="en-US" altLang="zh-CN" sz="1200" b="1" dirty="0">
                <a:latin typeface="+mn-ea"/>
              </a:rPr>
              <a:t>}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E1E8AA7-BBB1-4354-A1E5-7F71C65FAD13}"/>
              </a:ext>
            </a:extLst>
          </p:cNvPr>
          <p:cNvSpPr/>
          <p:nvPr/>
        </p:nvSpPr>
        <p:spPr bwMode="auto">
          <a:xfrm>
            <a:off x="5705476" y="1323974"/>
            <a:ext cx="51299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贴图：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26ADC00-436C-437A-9F72-84B8A146F06D}"/>
              </a:ext>
            </a:extLst>
          </p:cNvPr>
          <p:cNvSpPr/>
          <p:nvPr/>
        </p:nvSpPr>
        <p:spPr bwMode="auto">
          <a:xfrm>
            <a:off x="909545" y="2438400"/>
            <a:ext cx="2757580" cy="466725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E24D720-947B-AA81-CBC7-9E9AAD1B5F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3384" y="1640450"/>
            <a:ext cx="6735241" cy="159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8255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sz="1200" b="1" dirty="0">
              <a:latin typeface="+mn-ea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en-US" altLang="zh-CN" sz="1600" b="1" dirty="0" err="1">
                <a:latin typeface="+mn-ea"/>
              </a:rPr>
              <a:t>G.</a:t>
            </a:r>
            <a:r>
              <a:rPr lang="en-US" altLang="zh-CN" sz="1600" b="1" dirty="0" err="1">
                <a:latin typeface="+mn-ea"/>
                <a:cs typeface="Times New Roman" panose="02020603050405020304" pitchFamily="18" charset="0"/>
              </a:rPr>
              <a:t>setprecision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的使用 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- 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和</a:t>
            </a:r>
            <a:r>
              <a:rPr lang="en-US" altLang="zh-CN" sz="1600" b="1" kern="1200" dirty="0" err="1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ios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::fixed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一起 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- (3)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CA606D2-55A2-40E0-8D6D-3A0DF7E73037}"/>
              </a:ext>
            </a:extLst>
          </p:cNvPr>
          <p:cNvSpPr/>
          <p:nvPr/>
        </p:nvSpPr>
        <p:spPr bwMode="auto">
          <a:xfrm>
            <a:off x="592115" y="1323973"/>
            <a:ext cx="511336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200" b="1" dirty="0">
                <a:latin typeface="+mn-ea"/>
              </a:rPr>
              <a:t>#include &lt;iostream&gt;</a:t>
            </a:r>
          </a:p>
          <a:p>
            <a:r>
              <a:rPr lang="en-US" altLang="zh-CN" sz="1200" b="1" dirty="0">
                <a:latin typeface="+mn-ea"/>
              </a:rPr>
              <a:t>#include &lt;</a:t>
            </a:r>
            <a:r>
              <a:rPr lang="en-US" altLang="zh-CN" sz="1200" b="1" dirty="0" err="1">
                <a:latin typeface="+mn-ea"/>
              </a:rPr>
              <a:t>iomanip</a:t>
            </a:r>
            <a:r>
              <a:rPr lang="en-US" altLang="zh-CN" sz="1200" b="1" dirty="0">
                <a:latin typeface="+mn-ea"/>
              </a:rPr>
              <a:t>&gt;</a:t>
            </a:r>
          </a:p>
          <a:p>
            <a:endParaRPr lang="zh-CN" altLang="en-US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using namespace std;</a:t>
            </a:r>
          </a:p>
          <a:p>
            <a:r>
              <a:rPr lang="en-US" altLang="zh-CN" sz="1200" b="1" dirty="0">
                <a:latin typeface="+mn-ea"/>
              </a:rPr>
              <a:t>int main()</a:t>
            </a:r>
          </a:p>
          <a:p>
            <a:r>
              <a:rPr lang="en-US" altLang="zh-CN" sz="1200" b="1" dirty="0">
                <a:latin typeface="+mn-ea"/>
              </a:rPr>
              <a:t>{</a:t>
            </a:r>
          </a:p>
          <a:p>
            <a:r>
              <a:rPr lang="en-US" altLang="zh-CN" sz="1200" b="1" dirty="0">
                <a:latin typeface="+mn-ea"/>
              </a:rPr>
              <a:t>    float f1 = 0.12345678F;</a:t>
            </a:r>
          </a:p>
          <a:p>
            <a:r>
              <a:rPr lang="en-US" altLang="zh-CN" sz="1200" b="1" dirty="0">
                <a:latin typeface="+mn-ea"/>
              </a:rPr>
              <a:t>    float f2 = 0.87654321F;</a:t>
            </a:r>
          </a:p>
          <a:p>
            <a:endParaRPr lang="zh-CN" altLang="en-US" sz="1200" b="1" dirty="0">
              <a:latin typeface="+mn-ea"/>
            </a:endParaRPr>
          </a:p>
          <a:p>
            <a:r>
              <a:rPr lang="zh-CN" altLang="en-US" sz="1200" b="1" dirty="0">
                <a:latin typeface="+mn-ea"/>
              </a:rPr>
              <a:t>    </a:t>
            </a:r>
            <a:r>
              <a:rPr lang="en-US" altLang="zh-CN" sz="1200" b="1" dirty="0">
                <a:latin typeface="+mn-ea"/>
              </a:rPr>
              <a:t>/* </a:t>
            </a:r>
            <a:r>
              <a:rPr lang="zh-CN" altLang="en-US" sz="1200" b="1" dirty="0">
                <a:latin typeface="+mn-ea"/>
              </a:rPr>
              <a:t>第</a:t>
            </a:r>
            <a:r>
              <a:rPr lang="en-US" altLang="zh-CN" sz="1200" b="1" dirty="0">
                <a:latin typeface="+mn-ea"/>
              </a:rPr>
              <a:t>1</a:t>
            </a:r>
            <a:r>
              <a:rPr lang="zh-CN" altLang="en-US" sz="1200" b="1" dirty="0">
                <a:latin typeface="+mn-ea"/>
              </a:rPr>
              <a:t>组：不设</a:t>
            </a:r>
            <a:r>
              <a:rPr lang="en-US" altLang="zh-CN" sz="1200" b="1" dirty="0">
                <a:latin typeface="+mn-ea"/>
              </a:rPr>
              <a:t>precision */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setiosflags</a:t>
            </a:r>
            <a:r>
              <a:rPr lang="en-US" altLang="zh-CN" sz="1200" b="1" dirty="0">
                <a:latin typeface="+mn-ea"/>
              </a:rPr>
              <a:t>(</a:t>
            </a:r>
            <a:r>
              <a:rPr lang="en-US" altLang="zh-CN" sz="1200" b="1" dirty="0" err="1">
                <a:latin typeface="+mn-ea"/>
              </a:rPr>
              <a:t>ios</a:t>
            </a:r>
            <a:r>
              <a:rPr lang="en-US" altLang="zh-CN" sz="1200" b="1" dirty="0">
                <a:latin typeface="+mn-ea"/>
              </a:rPr>
              <a:t>::fixed)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endParaRPr lang="zh-CN" altLang="en-US" sz="1200" b="1" dirty="0">
              <a:latin typeface="+mn-ea"/>
            </a:endParaRPr>
          </a:p>
          <a:p>
            <a:r>
              <a:rPr lang="zh-CN" altLang="en-US" sz="1200" b="1" dirty="0">
                <a:latin typeface="+mn-ea"/>
              </a:rPr>
              <a:t>    </a:t>
            </a:r>
            <a:r>
              <a:rPr lang="en-US" altLang="zh-CN" sz="1200" b="1" dirty="0">
                <a:latin typeface="+mn-ea"/>
              </a:rPr>
              <a:t>/* </a:t>
            </a:r>
            <a:r>
              <a:rPr lang="zh-CN" altLang="en-US" sz="1200" b="1" dirty="0">
                <a:latin typeface="+mn-ea"/>
              </a:rPr>
              <a:t>第</a:t>
            </a:r>
            <a:r>
              <a:rPr lang="en-US" altLang="zh-CN" sz="1200" b="1" dirty="0">
                <a:latin typeface="+mn-ea"/>
              </a:rPr>
              <a:t>2</a:t>
            </a:r>
            <a:r>
              <a:rPr lang="zh-CN" altLang="en-US" sz="1200" b="1" dirty="0">
                <a:latin typeface="+mn-ea"/>
              </a:rPr>
              <a:t>组：设置</a:t>
            </a:r>
            <a:r>
              <a:rPr lang="en-US" altLang="zh-CN" sz="1200" b="1" dirty="0">
                <a:latin typeface="+mn-ea"/>
              </a:rPr>
              <a:t>precision */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(1)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(4)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(7)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(10)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(25)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endParaRPr lang="zh-CN" altLang="en-US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return 0;</a:t>
            </a:r>
          </a:p>
          <a:p>
            <a:r>
              <a:rPr lang="en-US" altLang="zh-CN" sz="1200" b="1" dirty="0">
                <a:latin typeface="+mn-ea"/>
              </a:rPr>
              <a:t>}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E1E8AA7-BBB1-4354-A1E5-7F71C65FAD13}"/>
              </a:ext>
            </a:extLst>
          </p:cNvPr>
          <p:cNvSpPr/>
          <p:nvPr/>
        </p:nvSpPr>
        <p:spPr bwMode="auto">
          <a:xfrm>
            <a:off x="5705476" y="1323974"/>
            <a:ext cx="51299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贴图：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70DDE2F-A66F-4E8E-9769-C79801CB59DE}"/>
              </a:ext>
            </a:extLst>
          </p:cNvPr>
          <p:cNvSpPr/>
          <p:nvPr/>
        </p:nvSpPr>
        <p:spPr bwMode="auto">
          <a:xfrm>
            <a:off x="909545" y="2438400"/>
            <a:ext cx="1884481" cy="466725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1E9B17D-F7B1-7ECC-6CD9-AB64260313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5475" y="1781175"/>
            <a:ext cx="5129936" cy="2017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4218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sz="1200" b="1" dirty="0">
              <a:latin typeface="+mn-ea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en-US" altLang="zh-CN" sz="1600" b="1" dirty="0" err="1">
                <a:latin typeface="+mn-ea"/>
              </a:rPr>
              <a:t>G.</a:t>
            </a:r>
            <a:r>
              <a:rPr lang="en-US" altLang="zh-CN" sz="1600" b="1" dirty="0" err="1">
                <a:latin typeface="+mn-ea"/>
                <a:cs typeface="Times New Roman" panose="02020603050405020304" pitchFamily="18" charset="0"/>
              </a:rPr>
              <a:t>setprecision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的使用 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- 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和</a:t>
            </a:r>
            <a:r>
              <a:rPr lang="en-US" altLang="zh-CN" sz="1600" b="1" kern="1200" dirty="0" err="1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ios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::fixed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一起 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- 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总结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CA606D2-55A2-40E0-8D6D-3A0DF7E73037}"/>
              </a:ext>
            </a:extLst>
          </p:cNvPr>
          <p:cNvSpPr/>
          <p:nvPr/>
        </p:nvSpPr>
        <p:spPr bwMode="auto">
          <a:xfrm>
            <a:off x="592114" y="1323973"/>
            <a:ext cx="10247335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、给出</a:t>
            </a:r>
            <a:r>
              <a:rPr kumimoji="1" lang="en-US" altLang="zh-CN" sz="1600" b="1" dirty="0" err="1">
                <a:latin typeface="+mn-ea"/>
              </a:rPr>
              <a:t>setprecision+ios</a:t>
            </a:r>
            <a:r>
              <a:rPr kumimoji="1" lang="en-US" altLang="zh-CN" sz="1600" b="1" dirty="0">
                <a:latin typeface="+mn-ea"/>
              </a:rPr>
              <a:t>::fixed</a:t>
            </a:r>
            <a:r>
              <a:rPr kumimoji="1" lang="zh-CN" altLang="en-US" sz="1600" b="1" dirty="0">
                <a:latin typeface="+mn-ea"/>
              </a:rPr>
              <a:t>使用时的显示规律总结（如果数据不够，可以再自己构造测试数据）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答：</a:t>
            </a:r>
            <a:r>
              <a:rPr kumimoji="1" lang="en-US" altLang="zh-CN" sz="1600" b="1" dirty="0">
                <a:latin typeface="+mn-ea"/>
              </a:rPr>
              <a:t>1.</a:t>
            </a:r>
            <a:r>
              <a:rPr kumimoji="1" lang="zh-CN" altLang="en-CN" sz="1600" b="1" dirty="0">
                <a:latin typeface="+mn-ea"/>
              </a:rPr>
              <a:t>不设</a:t>
            </a:r>
            <a:r>
              <a:rPr kumimoji="1" lang="en-US" altLang="zh-CN" sz="1600" b="1" dirty="0" err="1">
                <a:latin typeface="+mn-ea"/>
              </a:rPr>
              <a:t>setprecision</a:t>
            </a:r>
            <a:r>
              <a:rPr kumimoji="1" lang="zh-CN" altLang="en-US" sz="1600" b="1" dirty="0">
                <a:latin typeface="+mn-ea"/>
              </a:rPr>
              <a:t>时默认保留五位小数；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    </a:t>
            </a:r>
            <a:r>
              <a:rPr kumimoji="1" lang="en-US" altLang="zh-CN" sz="1600" b="1" dirty="0">
                <a:latin typeface="+mn-ea"/>
              </a:rPr>
              <a:t>2.</a:t>
            </a:r>
            <a:r>
              <a:rPr kumimoji="1" lang="zh-CN" altLang="en-US" sz="1600" b="1" dirty="0">
                <a:latin typeface="+mn-ea"/>
              </a:rPr>
              <a:t>小于等于</a:t>
            </a:r>
            <a:r>
              <a:rPr kumimoji="1" lang="en-US" altLang="zh-CN" sz="1600" b="1" dirty="0">
                <a:latin typeface="+mn-ea"/>
              </a:rPr>
              <a:t>float</a:t>
            </a:r>
            <a:r>
              <a:rPr kumimoji="1" lang="zh-CN" altLang="en-US" sz="1600" b="1" dirty="0">
                <a:latin typeface="+mn-ea"/>
              </a:rPr>
              <a:t>型有效数字时通过四舍五入保留相应小数；</a:t>
            </a:r>
            <a:endParaRPr kumimoji="1" lang="en-US" altLang="zh-CN" sz="1600" b="1" dirty="0">
              <a:latin typeface="+mn-ea"/>
            </a:endParaRPr>
          </a:p>
          <a:p>
            <a:r>
              <a:rPr kumimoji="1" lang="zh-CN" altLang="en-US" sz="1600" b="1" dirty="0">
                <a:latin typeface="+mn-ea"/>
              </a:rPr>
              <a:t>    </a:t>
            </a:r>
            <a:r>
              <a:rPr kumimoji="1" lang="en-US" altLang="zh-CN" sz="1600" b="1" dirty="0">
                <a:latin typeface="+mn-ea"/>
              </a:rPr>
              <a:t>3.</a:t>
            </a:r>
            <a:r>
              <a:rPr lang="zh-CN" altLang="en-US" sz="1600" b="1" dirty="0">
                <a:effectLst/>
                <a:latin typeface="+mn-ea"/>
              </a:rPr>
              <a:t>如果超出有效位数的部分有存储数据只是不可信，输出所存储的不可信数据，若没有，则输出</a:t>
            </a:r>
            <a:r>
              <a:rPr lang="en-US" altLang="zh-CN" sz="1600" b="1" dirty="0">
                <a:effectLst/>
                <a:latin typeface="+mn-ea"/>
              </a:rPr>
              <a:t>0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、将</a:t>
            </a:r>
            <a:r>
              <a:rPr kumimoji="1" lang="en-US" altLang="zh-CN" sz="1600" b="1" dirty="0">
                <a:latin typeface="+mn-ea"/>
              </a:rPr>
              <a:t>1.G-(1)~(3)</a:t>
            </a:r>
            <a:r>
              <a:rPr kumimoji="1" lang="zh-CN" altLang="en-US" sz="1600" b="1" dirty="0">
                <a:latin typeface="+mn-ea"/>
              </a:rPr>
              <a:t>中的数据类型换为</a:t>
            </a:r>
            <a:r>
              <a:rPr kumimoji="1" lang="en-US" altLang="zh-CN" sz="1600" b="1" dirty="0">
                <a:latin typeface="+mn-ea"/>
              </a:rPr>
              <a:t>double</a:t>
            </a:r>
            <a:r>
              <a:rPr kumimoji="1" lang="zh-CN" altLang="en-US" sz="1600" b="1" dirty="0">
                <a:latin typeface="+mn-ea"/>
              </a:rPr>
              <a:t>型（有效位数为</a:t>
            </a:r>
            <a:r>
              <a:rPr kumimoji="1" lang="en-US" altLang="zh-CN" sz="1600" b="1" dirty="0">
                <a:latin typeface="+mn-ea"/>
              </a:rPr>
              <a:t>15</a:t>
            </a:r>
            <a:r>
              <a:rPr kumimoji="1" lang="zh-CN" altLang="en-US" sz="1600" b="1" dirty="0">
                <a:latin typeface="+mn-ea"/>
              </a:rPr>
              <a:t>位），自行构造测试数据，验证总结出的</a:t>
            </a:r>
            <a:r>
              <a:rPr kumimoji="1" lang="en-US" altLang="zh-CN" sz="1600" b="1" dirty="0">
                <a:latin typeface="+mn-ea"/>
              </a:rPr>
              <a:t>float</a:t>
            </a:r>
            <a:r>
              <a:rPr kumimoji="1" lang="zh-CN" altLang="en-US" sz="1600" b="1" dirty="0">
                <a:latin typeface="+mn-ea"/>
              </a:rPr>
              <a:t>型数据的显示规律是否同样适用于</a:t>
            </a:r>
            <a:r>
              <a:rPr kumimoji="1" lang="en-US" altLang="zh-CN" sz="1600" b="1" dirty="0">
                <a:latin typeface="+mn-ea"/>
              </a:rPr>
              <a:t>double</a:t>
            </a:r>
            <a:r>
              <a:rPr kumimoji="1" lang="zh-CN" altLang="en-US" sz="1600" b="1" dirty="0">
                <a:latin typeface="+mn-ea"/>
              </a:rPr>
              <a:t>型（如果适用，不用贴图，如果不适用，贴对应代码及运行截图）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答：适用。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933428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sz="1200" b="1" dirty="0">
              <a:latin typeface="+mn-ea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   </a:t>
            </a:r>
            <a:r>
              <a:rPr lang="en-US" altLang="zh-CN" sz="1600" b="1" dirty="0" err="1">
                <a:latin typeface="+mn-ea"/>
              </a:rPr>
              <a:t>H.</a:t>
            </a:r>
            <a:r>
              <a:rPr lang="en-US" altLang="zh-CN" sz="1600" b="1" dirty="0" err="1">
                <a:latin typeface="+mn-ea"/>
                <a:cs typeface="Times New Roman" panose="02020603050405020304" pitchFamily="18" charset="0"/>
              </a:rPr>
              <a:t>setprecision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的使用 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- 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和</a:t>
            </a:r>
            <a:r>
              <a:rPr lang="en-US" altLang="zh-CN" sz="1600" b="1" kern="1200" dirty="0" err="1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ios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::</a:t>
            </a:r>
            <a:r>
              <a:rPr lang="en-US" altLang="zh-CN" sz="1600" b="1" dirty="0">
                <a:latin typeface="+mn-ea"/>
                <a:cs typeface="Times New Roman" panose="02020603050405020304" pitchFamily="18" charset="0"/>
              </a:rPr>
              <a:t>scientific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一起 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- (1)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CA606D2-55A2-40E0-8D6D-3A0DF7E73037}"/>
              </a:ext>
            </a:extLst>
          </p:cNvPr>
          <p:cNvSpPr/>
          <p:nvPr/>
        </p:nvSpPr>
        <p:spPr bwMode="auto">
          <a:xfrm>
            <a:off x="592115" y="1323973"/>
            <a:ext cx="5399111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200" b="1" dirty="0">
                <a:latin typeface="+mn-ea"/>
              </a:rPr>
              <a:t>#include &lt;iostream&gt;</a:t>
            </a:r>
          </a:p>
          <a:p>
            <a:r>
              <a:rPr lang="en-US" altLang="zh-CN" sz="1200" b="1" dirty="0">
                <a:latin typeface="+mn-ea"/>
              </a:rPr>
              <a:t>#include &lt;</a:t>
            </a:r>
            <a:r>
              <a:rPr lang="en-US" altLang="zh-CN" sz="1200" b="1" dirty="0" err="1">
                <a:latin typeface="+mn-ea"/>
              </a:rPr>
              <a:t>iomanip</a:t>
            </a:r>
            <a:r>
              <a:rPr lang="en-US" altLang="zh-CN" sz="1200" b="1" dirty="0">
                <a:latin typeface="+mn-ea"/>
              </a:rPr>
              <a:t>&gt;</a:t>
            </a: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using namespace std;</a:t>
            </a:r>
          </a:p>
          <a:p>
            <a:r>
              <a:rPr lang="en-US" altLang="zh-CN" sz="1200" b="1" dirty="0">
                <a:latin typeface="+mn-ea"/>
              </a:rPr>
              <a:t>int main()</a:t>
            </a:r>
          </a:p>
          <a:p>
            <a:r>
              <a:rPr lang="en-US" altLang="zh-CN" sz="1200" b="1" dirty="0">
                <a:latin typeface="+mn-ea"/>
              </a:rPr>
              <a:t>{</a:t>
            </a:r>
          </a:p>
          <a:p>
            <a:r>
              <a:rPr lang="en-US" altLang="zh-CN" sz="1200" b="1" dirty="0">
                <a:latin typeface="+mn-ea"/>
              </a:rPr>
              <a:t>    float f1 = 1234.5678F;</a:t>
            </a:r>
          </a:p>
          <a:p>
            <a:r>
              <a:rPr lang="en-US" altLang="zh-CN" sz="1200" b="1" dirty="0">
                <a:latin typeface="+mn-ea"/>
              </a:rPr>
              <a:t>    float f2 = 8765.4321F;</a:t>
            </a: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    </a:t>
            </a:r>
            <a:r>
              <a:rPr lang="en-US" altLang="zh-CN" sz="1200" b="1" dirty="0" err="1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cout</a:t>
            </a:r>
            <a:r>
              <a:rPr lang="en-US" altLang="zh-CN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 &lt;&lt; ”2454307" &lt;&lt; </a:t>
            </a:r>
            <a:r>
              <a:rPr lang="en-US" altLang="zh-CN" sz="1200" b="1" dirty="0" err="1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endl</a:t>
            </a:r>
            <a:r>
              <a:rPr lang="en-US" altLang="zh-CN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;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 //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</a:rPr>
              <a:t>改学号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/* </a:t>
            </a:r>
            <a:r>
              <a:rPr lang="zh-CN" altLang="en-US" sz="1200" b="1" dirty="0">
                <a:latin typeface="+mn-ea"/>
              </a:rPr>
              <a:t>第</a:t>
            </a:r>
            <a:r>
              <a:rPr lang="en-US" altLang="zh-CN" sz="1200" b="1" dirty="0">
                <a:latin typeface="+mn-ea"/>
              </a:rPr>
              <a:t>1</a:t>
            </a:r>
            <a:r>
              <a:rPr lang="zh-CN" altLang="en-US" sz="1200" b="1" dirty="0">
                <a:latin typeface="+mn-ea"/>
              </a:rPr>
              <a:t>组：不设</a:t>
            </a:r>
            <a:r>
              <a:rPr lang="en-US" altLang="zh-CN" sz="1200" b="1" dirty="0">
                <a:latin typeface="+mn-ea"/>
              </a:rPr>
              <a:t>precision */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setiosflags</a:t>
            </a:r>
            <a:r>
              <a:rPr lang="en-US" altLang="zh-CN" sz="1200" b="1" dirty="0">
                <a:latin typeface="+mn-ea"/>
              </a:rPr>
              <a:t>(</a:t>
            </a:r>
            <a:r>
              <a:rPr lang="en-US" altLang="zh-CN" sz="1200" b="1" dirty="0" err="1">
                <a:latin typeface="+mn-ea"/>
              </a:rPr>
              <a:t>ios</a:t>
            </a:r>
            <a:r>
              <a:rPr lang="en-US" altLang="zh-CN" sz="1200" b="1" dirty="0">
                <a:latin typeface="+mn-ea"/>
              </a:rPr>
              <a:t>::scientific)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/* </a:t>
            </a:r>
            <a:r>
              <a:rPr lang="zh-CN" altLang="en-US" sz="1200" b="1" dirty="0">
                <a:latin typeface="+mn-ea"/>
              </a:rPr>
              <a:t>第</a:t>
            </a:r>
            <a:r>
              <a:rPr lang="en-US" altLang="zh-CN" sz="1200" b="1" dirty="0">
                <a:latin typeface="+mn-ea"/>
              </a:rPr>
              <a:t>2</a:t>
            </a:r>
            <a:r>
              <a:rPr lang="zh-CN" altLang="en-US" sz="1200" b="1" dirty="0">
                <a:latin typeface="+mn-ea"/>
              </a:rPr>
              <a:t>组：设置</a:t>
            </a:r>
            <a:r>
              <a:rPr lang="en-US" altLang="zh-CN" sz="1200" b="1" dirty="0">
                <a:latin typeface="+mn-ea"/>
              </a:rPr>
              <a:t>precision */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(1)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(4)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(7)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(10)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(25)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return 0;</a:t>
            </a:r>
          </a:p>
          <a:p>
            <a:r>
              <a:rPr lang="en-US" altLang="zh-CN" sz="1200" b="1" dirty="0">
                <a:latin typeface="+mn-ea"/>
              </a:rPr>
              <a:t>}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18D7843-6240-4609-AA4E-A1ABB7067693}"/>
              </a:ext>
            </a:extLst>
          </p:cNvPr>
          <p:cNvSpPr/>
          <p:nvPr/>
        </p:nvSpPr>
        <p:spPr bwMode="auto">
          <a:xfrm>
            <a:off x="5991226" y="1323974"/>
            <a:ext cx="4844185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贴图：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4FBDEC9-22C7-46F1-9EC4-D358B6E0D5CB}"/>
              </a:ext>
            </a:extLst>
          </p:cNvPr>
          <p:cNvSpPr/>
          <p:nvPr/>
        </p:nvSpPr>
        <p:spPr bwMode="auto">
          <a:xfrm>
            <a:off x="909545" y="2438400"/>
            <a:ext cx="1884481" cy="466725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2CF5F4F-4264-8F4D-D236-784264323E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2267" y="1323971"/>
            <a:ext cx="5887618" cy="2207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2372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sz="1200" b="1" dirty="0">
              <a:latin typeface="+mn-ea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   </a:t>
            </a:r>
            <a:r>
              <a:rPr lang="en-US" altLang="zh-CN" sz="1600" b="1" dirty="0" err="1">
                <a:latin typeface="+mn-ea"/>
              </a:rPr>
              <a:t>H.</a:t>
            </a:r>
            <a:r>
              <a:rPr lang="en-US" altLang="zh-CN" sz="1600" b="1" dirty="0" err="1">
                <a:latin typeface="+mn-ea"/>
                <a:cs typeface="Times New Roman" panose="02020603050405020304" pitchFamily="18" charset="0"/>
              </a:rPr>
              <a:t>setprecision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的使用 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- 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和</a:t>
            </a:r>
            <a:r>
              <a:rPr lang="en-US" altLang="zh-CN" sz="1600" b="1" kern="1200" dirty="0" err="1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ios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::</a:t>
            </a:r>
            <a:r>
              <a:rPr lang="en-US" altLang="zh-CN" sz="1600" b="1" dirty="0">
                <a:latin typeface="+mn-ea"/>
                <a:cs typeface="Times New Roman" panose="02020603050405020304" pitchFamily="18" charset="0"/>
              </a:rPr>
              <a:t>scientific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一起 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- (2)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CA606D2-55A2-40E0-8D6D-3A0DF7E73037}"/>
              </a:ext>
            </a:extLst>
          </p:cNvPr>
          <p:cNvSpPr/>
          <p:nvPr/>
        </p:nvSpPr>
        <p:spPr bwMode="auto">
          <a:xfrm>
            <a:off x="592115" y="1323973"/>
            <a:ext cx="5399111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200" b="1" dirty="0">
                <a:latin typeface="+mn-ea"/>
              </a:rPr>
              <a:t>#include &lt;iostream&gt;</a:t>
            </a:r>
          </a:p>
          <a:p>
            <a:r>
              <a:rPr lang="en-US" altLang="zh-CN" sz="1200" b="1" dirty="0">
                <a:latin typeface="+mn-ea"/>
              </a:rPr>
              <a:t>#include &lt;</a:t>
            </a:r>
            <a:r>
              <a:rPr lang="en-US" altLang="zh-CN" sz="1200" b="1" dirty="0" err="1">
                <a:latin typeface="+mn-ea"/>
              </a:rPr>
              <a:t>iomanip</a:t>
            </a:r>
            <a:r>
              <a:rPr lang="en-US" altLang="zh-CN" sz="1200" b="1" dirty="0">
                <a:latin typeface="+mn-ea"/>
              </a:rPr>
              <a:t>&gt;</a:t>
            </a: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using namespace std;</a:t>
            </a:r>
          </a:p>
          <a:p>
            <a:r>
              <a:rPr lang="en-US" altLang="zh-CN" sz="1200" b="1" dirty="0">
                <a:latin typeface="+mn-ea"/>
              </a:rPr>
              <a:t>int main()</a:t>
            </a:r>
          </a:p>
          <a:p>
            <a:r>
              <a:rPr lang="en-US" altLang="zh-CN" sz="1200" b="1" dirty="0">
                <a:latin typeface="+mn-ea"/>
              </a:rPr>
              <a:t>{</a:t>
            </a:r>
          </a:p>
          <a:p>
            <a:r>
              <a:rPr lang="en-US" altLang="zh-CN" sz="1200" b="1" dirty="0">
                <a:latin typeface="+mn-ea"/>
              </a:rPr>
              <a:t>    float f1 = 1234567890123456789.0F;</a:t>
            </a:r>
          </a:p>
          <a:p>
            <a:r>
              <a:rPr lang="en-US" altLang="zh-CN" sz="1200" b="1" dirty="0">
                <a:latin typeface="+mn-ea"/>
              </a:rPr>
              <a:t>    float f2 = 9876543210987654321.0F;</a:t>
            </a: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/* </a:t>
            </a:r>
            <a:r>
              <a:rPr lang="zh-CN" altLang="en-US" sz="1200" b="1" dirty="0">
                <a:latin typeface="+mn-ea"/>
              </a:rPr>
              <a:t>第</a:t>
            </a:r>
            <a:r>
              <a:rPr lang="en-US" altLang="zh-CN" sz="1200" b="1" dirty="0">
                <a:latin typeface="+mn-ea"/>
              </a:rPr>
              <a:t>1</a:t>
            </a:r>
            <a:r>
              <a:rPr lang="zh-CN" altLang="en-US" sz="1200" b="1" dirty="0">
                <a:latin typeface="+mn-ea"/>
              </a:rPr>
              <a:t>组：不设</a:t>
            </a:r>
            <a:r>
              <a:rPr lang="en-US" altLang="zh-CN" sz="1200" b="1" dirty="0">
                <a:latin typeface="+mn-ea"/>
              </a:rPr>
              <a:t>precision */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setiosflags</a:t>
            </a:r>
            <a:r>
              <a:rPr lang="en-US" altLang="zh-CN" sz="1200" b="1" dirty="0">
                <a:latin typeface="+mn-ea"/>
              </a:rPr>
              <a:t>(</a:t>
            </a:r>
            <a:r>
              <a:rPr lang="en-US" altLang="zh-CN" sz="1200" b="1" dirty="0" err="1">
                <a:latin typeface="+mn-ea"/>
              </a:rPr>
              <a:t>ios</a:t>
            </a:r>
            <a:r>
              <a:rPr lang="en-US" altLang="zh-CN" sz="1200" b="1" dirty="0">
                <a:latin typeface="+mn-ea"/>
              </a:rPr>
              <a:t>::scientific)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/* </a:t>
            </a:r>
            <a:r>
              <a:rPr lang="zh-CN" altLang="en-US" sz="1200" b="1" dirty="0">
                <a:latin typeface="+mn-ea"/>
              </a:rPr>
              <a:t>第</a:t>
            </a:r>
            <a:r>
              <a:rPr lang="en-US" altLang="zh-CN" sz="1200" b="1" dirty="0">
                <a:latin typeface="+mn-ea"/>
              </a:rPr>
              <a:t>2</a:t>
            </a:r>
            <a:r>
              <a:rPr lang="zh-CN" altLang="en-US" sz="1200" b="1" dirty="0">
                <a:latin typeface="+mn-ea"/>
              </a:rPr>
              <a:t>组：设置</a:t>
            </a:r>
            <a:r>
              <a:rPr lang="en-US" altLang="zh-CN" sz="1200" b="1" dirty="0">
                <a:latin typeface="+mn-ea"/>
              </a:rPr>
              <a:t>precision */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(1)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(4)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(7)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(10)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(25)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return 0;</a:t>
            </a:r>
          </a:p>
          <a:p>
            <a:r>
              <a:rPr lang="en-US" altLang="zh-CN" sz="1200" b="1" dirty="0">
                <a:latin typeface="+mn-ea"/>
              </a:rPr>
              <a:t>}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18D7843-6240-4609-AA4E-A1ABB7067693}"/>
              </a:ext>
            </a:extLst>
          </p:cNvPr>
          <p:cNvSpPr/>
          <p:nvPr/>
        </p:nvSpPr>
        <p:spPr bwMode="auto">
          <a:xfrm>
            <a:off x="5991226" y="1323974"/>
            <a:ext cx="4844185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贴图：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6C250AE-7F5B-4F4A-B04C-ECEAA05F1BEA}"/>
              </a:ext>
            </a:extLst>
          </p:cNvPr>
          <p:cNvSpPr/>
          <p:nvPr/>
        </p:nvSpPr>
        <p:spPr bwMode="auto">
          <a:xfrm>
            <a:off x="909545" y="2438400"/>
            <a:ext cx="2757580" cy="466725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8EA7EAB-3912-4E8F-88D8-B495A1C0D7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2687" y="1770766"/>
            <a:ext cx="5354193" cy="1801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8570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sz="1200" b="1" dirty="0">
              <a:latin typeface="+mn-ea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   </a:t>
            </a:r>
            <a:r>
              <a:rPr lang="en-US" altLang="zh-CN" sz="1600" b="1" dirty="0" err="1">
                <a:latin typeface="+mn-ea"/>
              </a:rPr>
              <a:t>H.</a:t>
            </a:r>
            <a:r>
              <a:rPr lang="en-US" altLang="zh-CN" sz="1600" b="1" dirty="0" err="1">
                <a:latin typeface="+mn-ea"/>
                <a:cs typeface="Times New Roman" panose="02020603050405020304" pitchFamily="18" charset="0"/>
              </a:rPr>
              <a:t>setprecision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的使用 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- 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和</a:t>
            </a:r>
            <a:r>
              <a:rPr lang="en-US" altLang="zh-CN" sz="1600" b="1" kern="1200" dirty="0" err="1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ios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::</a:t>
            </a:r>
            <a:r>
              <a:rPr lang="en-US" altLang="zh-CN" sz="1600" b="1" dirty="0">
                <a:latin typeface="+mn-ea"/>
                <a:cs typeface="Times New Roman" panose="02020603050405020304" pitchFamily="18" charset="0"/>
              </a:rPr>
              <a:t>scientific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一起 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- (3)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CA606D2-55A2-40E0-8D6D-3A0DF7E73037}"/>
              </a:ext>
            </a:extLst>
          </p:cNvPr>
          <p:cNvSpPr/>
          <p:nvPr/>
        </p:nvSpPr>
        <p:spPr bwMode="auto">
          <a:xfrm>
            <a:off x="592115" y="1323973"/>
            <a:ext cx="5399111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200" b="1" dirty="0">
                <a:latin typeface="+mn-ea"/>
              </a:rPr>
              <a:t>#include &lt;iostream&gt;</a:t>
            </a:r>
          </a:p>
          <a:p>
            <a:r>
              <a:rPr lang="en-US" altLang="zh-CN" sz="1200" b="1" dirty="0">
                <a:latin typeface="+mn-ea"/>
              </a:rPr>
              <a:t>#include &lt;</a:t>
            </a:r>
            <a:r>
              <a:rPr lang="en-US" altLang="zh-CN" sz="1200" b="1" dirty="0" err="1">
                <a:latin typeface="+mn-ea"/>
              </a:rPr>
              <a:t>iomanip</a:t>
            </a:r>
            <a:r>
              <a:rPr lang="en-US" altLang="zh-CN" sz="1200" b="1" dirty="0">
                <a:latin typeface="+mn-ea"/>
              </a:rPr>
              <a:t>&gt;</a:t>
            </a: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using namespace std;</a:t>
            </a:r>
          </a:p>
          <a:p>
            <a:r>
              <a:rPr lang="en-US" altLang="zh-CN" sz="1200" b="1" dirty="0">
                <a:latin typeface="+mn-ea"/>
              </a:rPr>
              <a:t>int main()</a:t>
            </a:r>
          </a:p>
          <a:p>
            <a:r>
              <a:rPr lang="en-US" altLang="zh-CN" sz="1200" b="1" dirty="0">
                <a:latin typeface="+mn-ea"/>
              </a:rPr>
              <a:t>{</a:t>
            </a:r>
          </a:p>
          <a:p>
            <a:r>
              <a:rPr lang="en-US" altLang="zh-CN" sz="1200" b="1" dirty="0">
                <a:latin typeface="+mn-ea"/>
              </a:rPr>
              <a:t>    float f1 = 0.12345678F;</a:t>
            </a:r>
          </a:p>
          <a:p>
            <a:r>
              <a:rPr lang="en-US" altLang="zh-CN" sz="1200" b="1" dirty="0">
                <a:latin typeface="+mn-ea"/>
              </a:rPr>
              <a:t>    float f2 = 0.87654321F;</a:t>
            </a: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/* </a:t>
            </a:r>
            <a:r>
              <a:rPr lang="zh-CN" altLang="en-US" sz="1200" b="1" dirty="0">
                <a:latin typeface="+mn-ea"/>
              </a:rPr>
              <a:t>第</a:t>
            </a:r>
            <a:r>
              <a:rPr lang="en-US" altLang="zh-CN" sz="1200" b="1" dirty="0">
                <a:latin typeface="+mn-ea"/>
              </a:rPr>
              <a:t>1</a:t>
            </a:r>
            <a:r>
              <a:rPr lang="zh-CN" altLang="en-US" sz="1200" b="1" dirty="0">
                <a:latin typeface="+mn-ea"/>
              </a:rPr>
              <a:t>组：不设</a:t>
            </a:r>
            <a:r>
              <a:rPr lang="en-US" altLang="zh-CN" sz="1200" b="1" dirty="0">
                <a:latin typeface="+mn-ea"/>
              </a:rPr>
              <a:t>precision */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setiosflags</a:t>
            </a:r>
            <a:r>
              <a:rPr lang="en-US" altLang="zh-CN" sz="1200" b="1" dirty="0">
                <a:latin typeface="+mn-ea"/>
              </a:rPr>
              <a:t>(</a:t>
            </a:r>
            <a:r>
              <a:rPr lang="en-US" altLang="zh-CN" sz="1200" b="1" dirty="0" err="1">
                <a:latin typeface="+mn-ea"/>
              </a:rPr>
              <a:t>ios</a:t>
            </a:r>
            <a:r>
              <a:rPr lang="en-US" altLang="zh-CN" sz="1200" b="1" dirty="0">
                <a:latin typeface="+mn-ea"/>
              </a:rPr>
              <a:t>::scientific)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/* </a:t>
            </a:r>
            <a:r>
              <a:rPr lang="zh-CN" altLang="en-US" sz="1200" b="1" dirty="0">
                <a:latin typeface="+mn-ea"/>
              </a:rPr>
              <a:t>第</a:t>
            </a:r>
            <a:r>
              <a:rPr lang="en-US" altLang="zh-CN" sz="1200" b="1" dirty="0">
                <a:latin typeface="+mn-ea"/>
              </a:rPr>
              <a:t>2</a:t>
            </a:r>
            <a:r>
              <a:rPr lang="zh-CN" altLang="en-US" sz="1200" b="1" dirty="0">
                <a:latin typeface="+mn-ea"/>
              </a:rPr>
              <a:t>组：设置</a:t>
            </a:r>
            <a:r>
              <a:rPr lang="en-US" altLang="zh-CN" sz="1200" b="1" dirty="0">
                <a:latin typeface="+mn-ea"/>
              </a:rPr>
              <a:t>precision */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(1)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(4)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(7)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(10)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(25)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return 0;</a:t>
            </a:r>
          </a:p>
          <a:p>
            <a:r>
              <a:rPr lang="en-US" altLang="zh-CN" sz="1200" b="1" dirty="0">
                <a:latin typeface="+mn-ea"/>
              </a:rPr>
              <a:t>}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18D7843-6240-4609-AA4E-A1ABB7067693}"/>
              </a:ext>
            </a:extLst>
          </p:cNvPr>
          <p:cNvSpPr/>
          <p:nvPr/>
        </p:nvSpPr>
        <p:spPr bwMode="auto">
          <a:xfrm>
            <a:off x="5991226" y="1323974"/>
            <a:ext cx="4844185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贴图：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56B08D7-A4CB-4B95-BDF6-E8C1A74EAE32}"/>
              </a:ext>
            </a:extLst>
          </p:cNvPr>
          <p:cNvSpPr/>
          <p:nvPr/>
        </p:nvSpPr>
        <p:spPr bwMode="auto">
          <a:xfrm>
            <a:off x="909545" y="2438400"/>
            <a:ext cx="1884481" cy="466725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34B0845A-611E-A226-E54E-E4C51CE916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6110" y="1732985"/>
            <a:ext cx="5043973" cy="1716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205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   </a:t>
            </a:r>
            <a:r>
              <a:rPr lang="en-US" altLang="zh-CN" sz="1600" b="1" dirty="0" err="1">
                <a:latin typeface="+mn-ea"/>
              </a:rPr>
              <a:t>H.</a:t>
            </a:r>
            <a:r>
              <a:rPr lang="en-US" altLang="zh-CN" sz="1600" b="1" dirty="0" err="1">
                <a:latin typeface="+mn-ea"/>
                <a:cs typeface="Times New Roman" panose="02020603050405020304" pitchFamily="18" charset="0"/>
              </a:rPr>
              <a:t>setprecision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的使用 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- 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和</a:t>
            </a:r>
            <a:r>
              <a:rPr lang="en-US" altLang="zh-CN" sz="1600" b="1" kern="1200" dirty="0" err="1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ios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::</a:t>
            </a:r>
            <a:r>
              <a:rPr lang="en-US" altLang="zh-CN" sz="1600" b="1" dirty="0">
                <a:latin typeface="+mn-ea"/>
                <a:cs typeface="Times New Roman" panose="02020603050405020304" pitchFamily="18" charset="0"/>
              </a:rPr>
              <a:t>scientific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一起 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- 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总结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18D7843-6240-4609-AA4E-A1ABB7067693}"/>
              </a:ext>
            </a:extLst>
          </p:cNvPr>
          <p:cNvSpPr/>
          <p:nvPr/>
        </p:nvSpPr>
        <p:spPr bwMode="auto">
          <a:xfrm>
            <a:off x="588076" y="1333599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、给出</a:t>
            </a:r>
            <a:r>
              <a:rPr kumimoji="1" lang="en-US" altLang="zh-CN" sz="1600" b="1" dirty="0" err="1">
                <a:latin typeface="+mn-ea"/>
              </a:rPr>
              <a:t>setprecision+ios</a:t>
            </a:r>
            <a:r>
              <a:rPr kumimoji="1" lang="en-US" altLang="zh-CN" sz="1600" b="1" dirty="0">
                <a:latin typeface="+mn-ea"/>
              </a:rPr>
              <a:t>::scientific</a:t>
            </a:r>
            <a:r>
              <a:rPr kumimoji="1" lang="zh-CN" altLang="en-US" sz="1600" b="1" dirty="0">
                <a:latin typeface="+mn-ea"/>
              </a:rPr>
              <a:t>使用时的显示规律总结（如果数据不够，可以再自己构造测试数据）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答：</a:t>
            </a:r>
            <a:r>
              <a:rPr kumimoji="1" lang="en-US" altLang="zh-CN" sz="1600" b="1" dirty="0">
                <a:latin typeface="+mn-ea"/>
              </a:rPr>
              <a:t>1.</a:t>
            </a:r>
            <a:r>
              <a:rPr kumimoji="1" lang="zh-CN" altLang="en-CN" sz="1600" b="1" dirty="0">
                <a:latin typeface="+mn-ea"/>
              </a:rPr>
              <a:t>不设</a:t>
            </a:r>
            <a:r>
              <a:rPr kumimoji="1" lang="zh-CN" altLang="en-US" sz="1600" b="1" dirty="0">
                <a:latin typeface="+mn-ea"/>
              </a:rPr>
              <a:t>的时候默认保留六位有效数字；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    </a:t>
            </a:r>
            <a:r>
              <a:rPr kumimoji="1" lang="en-US" altLang="zh-CN" sz="1600" b="1" dirty="0">
                <a:latin typeface="+mn-ea"/>
              </a:rPr>
              <a:t>2.</a:t>
            </a:r>
            <a:r>
              <a:rPr kumimoji="1" lang="zh-CN" altLang="en-US" sz="1600" b="1" dirty="0">
                <a:latin typeface="+mn-ea"/>
              </a:rPr>
              <a:t>小于等于</a:t>
            </a:r>
            <a:r>
              <a:rPr kumimoji="1" lang="en-US" altLang="zh-CN" sz="1600" b="1" dirty="0">
                <a:latin typeface="+mn-ea"/>
              </a:rPr>
              <a:t>float</a:t>
            </a:r>
            <a:r>
              <a:rPr kumimoji="1" lang="zh-CN" altLang="en-US" sz="1600" b="1" dirty="0">
                <a:latin typeface="+mn-ea"/>
              </a:rPr>
              <a:t>型有效数字时通过四舍五入保留相应有效位数；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    </a:t>
            </a:r>
            <a:r>
              <a:rPr kumimoji="1" lang="en-US" altLang="zh-CN" sz="1600" b="1" dirty="0">
                <a:latin typeface="+mn-ea"/>
              </a:rPr>
              <a:t>3.</a:t>
            </a:r>
            <a:r>
              <a:rPr kumimoji="1" lang="zh-CN" altLang="en-US" sz="1600" b="1" dirty="0">
                <a:latin typeface="+mn-ea"/>
              </a:rPr>
              <a:t>大于</a:t>
            </a:r>
            <a:r>
              <a:rPr kumimoji="1" lang="en-US" altLang="zh-CN" sz="1600" b="1" dirty="0">
                <a:latin typeface="+mn-ea"/>
              </a:rPr>
              <a:t>float</a:t>
            </a:r>
            <a:r>
              <a:rPr kumimoji="1" lang="zh-CN" altLang="en-US" sz="1600" b="1" dirty="0">
                <a:latin typeface="+mn-ea"/>
              </a:rPr>
              <a:t>型有效数字时超过有效位部分为随机的数字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、将</a:t>
            </a:r>
            <a:r>
              <a:rPr kumimoji="1" lang="en-US" altLang="zh-CN" sz="1600" b="1" dirty="0">
                <a:latin typeface="+mn-ea"/>
              </a:rPr>
              <a:t>1.H-(1)~(3)</a:t>
            </a:r>
            <a:r>
              <a:rPr kumimoji="1" lang="zh-CN" altLang="en-US" sz="1600" b="1" dirty="0">
                <a:latin typeface="+mn-ea"/>
              </a:rPr>
              <a:t>中的数据类型换为</a:t>
            </a:r>
            <a:r>
              <a:rPr kumimoji="1" lang="en-US" altLang="zh-CN" sz="1600" b="1" dirty="0">
                <a:latin typeface="+mn-ea"/>
              </a:rPr>
              <a:t>double</a:t>
            </a:r>
            <a:r>
              <a:rPr kumimoji="1" lang="zh-CN" altLang="en-US" sz="1600" b="1" dirty="0">
                <a:latin typeface="+mn-ea"/>
              </a:rPr>
              <a:t>型（有效位数为</a:t>
            </a:r>
            <a:r>
              <a:rPr kumimoji="1" lang="en-US" altLang="zh-CN" sz="1600" b="1" dirty="0">
                <a:latin typeface="+mn-ea"/>
              </a:rPr>
              <a:t>15</a:t>
            </a:r>
            <a:r>
              <a:rPr kumimoji="1" lang="zh-CN" altLang="en-US" sz="1600" b="1" dirty="0">
                <a:latin typeface="+mn-ea"/>
              </a:rPr>
              <a:t>位），自行构造测试数据，验证总结出的</a:t>
            </a:r>
            <a:r>
              <a:rPr kumimoji="1" lang="en-US" altLang="zh-CN" sz="1600" b="1" dirty="0">
                <a:latin typeface="+mn-ea"/>
              </a:rPr>
              <a:t>float</a:t>
            </a:r>
            <a:r>
              <a:rPr kumimoji="1" lang="zh-CN" altLang="en-US" sz="1600" b="1" dirty="0">
                <a:latin typeface="+mn-ea"/>
              </a:rPr>
              <a:t>型数据的显示规律是否同样适用于</a:t>
            </a:r>
            <a:r>
              <a:rPr kumimoji="1" lang="en-US" altLang="zh-CN" sz="1600" b="1" dirty="0">
                <a:latin typeface="+mn-ea"/>
              </a:rPr>
              <a:t>double</a:t>
            </a:r>
            <a:r>
              <a:rPr kumimoji="1" lang="zh-CN" altLang="en-US" sz="1600" b="1" dirty="0">
                <a:latin typeface="+mn-ea"/>
              </a:rPr>
              <a:t>型（如果适用，不用贴图，如果不适用，贴对应代码及运行截图）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答：适用。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861888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   </a:t>
            </a:r>
            <a:r>
              <a:rPr lang="en-US" altLang="zh-CN" sz="1600" b="1" dirty="0" err="1">
                <a:latin typeface="+mn-ea"/>
              </a:rPr>
              <a:t>I.ios</a:t>
            </a:r>
            <a:r>
              <a:rPr lang="en-US" altLang="zh-CN" sz="1600" b="1" dirty="0">
                <a:latin typeface="+mn-ea"/>
              </a:rPr>
              <a:t>::fixed</a:t>
            </a:r>
            <a:r>
              <a:rPr lang="zh-CN" altLang="en-US" sz="1600" b="1" dirty="0">
                <a:latin typeface="+mn-ea"/>
              </a:rPr>
              <a:t>和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</a:t>
            </a:r>
            <a:r>
              <a:rPr lang="en-US" altLang="zh-CN" sz="1600" b="1" dirty="0">
                <a:latin typeface="+mn-ea"/>
                <a:cs typeface="Times New Roman" panose="02020603050405020304" pitchFamily="18" charset="0"/>
              </a:rPr>
              <a:t>scientific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的混合使用 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- 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错误用法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31B6A17-5E7C-4625-90AE-6C7D682CA9B0}"/>
              </a:ext>
            </a:extLst>
          </p:cNvPr>
          <p:cNvSpPr/>
          <p:nvPr/>
        </p:nvSpPr>
        <p:spPr bwMode="auto">
          <a:xfrm>
            <a:off x="5577612" y="1323975"/>
            <a:ext cx="5257799" cy="320992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100" b="1" dirty="0">
                <a:latin typeface="+mn-ea"/>
              </a:rPr>
              <a:t>#include &lt;iostream&gt;</a:t>
            </a:r>
          </a:p>
          <a:p>
            <a:r>
              <a:rPr lang="en-US" altLang="zh-CN" sz="1100" b="1" dirty="0">
                <a:latin typeface="+mn-ea"/>
              </a:rPr>
              <a:t>#include &lt;</a:t>
            </a:r>
            <a:r>
              <a:rPr lang="en-US" altLang="zh-CN" sz="1100" b="1" dirty="0" err="1">
                <a:latin typeface="+mn-ea"/>
              </a:rPr>
              <a:t>iomanip</a:t>
            </a:r>
            <a:r>
              <a:rPr lang="en-US" altLang="zh-CN" sz="1100" b="1" dirty="0">
                <a:latin typeface="+mn-ea"/>
              </a:rPr>
              <a:t>&gt;</a:t>
            </a:r>
          </a:p>
          <a:p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using namespace std;</a:t>
            </a:r>
          </a:p>
          <a:p>
            <a:r>
              <a:rPr lang="en-US" altLang="zh-CN" sz="1100" b="1" dirty="0">
                <a:latin typeface="+mn-ea"/>
              </a:rPr>
              <a:t>int main()</a:t>
            </a:r>
          </a:p>
          <a:p>
            <a:r>
              <a:rPr lang="en-US" altLang="zh-CN" sz="1100" b="1" dirty="0">
                <a:latin typeface="+mn-ea"/>
              </a:rPr>
              <a:t>{</a:t>
            </a:r>
          </a:p>
          <a:p>
            <a:r>
              <a:rPr lang="en-US" altLang="zh-CN" sz="1100" b="1" dirty="0">
                <a:latin typeface="+mn-ea"/>
              </a:rPr>
              <a:t>    float f1 = 1234.5678F, f2 = 8765.4321F;</a:t>
            </a:r>
          </a:p>
          <a:p>
            <a:endParaRPr lang="zh-CN" altLang="en-US" sz="1100" b="1" dirty="0">
              <a:latin typeface="+mn-ea"/>
            </a:endParaRPr>
          </a:p>
          <a:p>
            <a:r>
              <a:rPr lang="zh-CN" altLang="en-US" sz="1100" b="1" dirty="0">
                <a:latin typeface="+mn-ea"/>
              </a:rPr>
              <a:t>    </a:t>
            </a:r>
            <a:r>
              <a:rPr lang="en-US" altLang="zh-CN" sz="1100" b="1" dirty="0">
                <a:latin typeface="+mn-ea"/>
              </a:rPr>
              <a:t>/* </a:t>
            </a:r>
            <a:r>
              <a:rPr lang="zh-CN" altLang="en-US" sz="1100" b="1" dirty="0">
                <a:latin typeface="+mn-ea"/>
              </a:rPr>
              <a:t>第</a:t>
            </a:r>
            <a:r>
              <a:rPr lang="en-US" altLang="zh-CN" sz="1100" b="1" dirty="0">
                <a:latin typeface="+mn-ea"/>
              </a:rPr>
              <a:t>1</a:t>
            </a:r>
            <a:r>
              <a:rPr lang="zh-CN" altLang="en-US" sz="1100" b="1" dirty="0">
                <a:latin typeface="+mn-ea"/>
              </a:rPr>
              <a:t>组 *</a:t>
            </a:r>
            <a:r>
              <a:rPr lang="en-US" altLang="zh-CN" sz="1100" b="1" dirty="0">
                <a:latin typeface="+mn-ea"/>
              </a:rPr>
              <a:t>/</a:t>
            </a:r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f1 &lt;&lt; ' ' &lt;&lt; f2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</a:p>
          <a:p>
            <a:r>
              <a:rPr lang="fr-FR" altLang="zh-CN" sz="1100" b="1" dirty="0">
                <a:latin typeface="+mn-ea"/>
              </a:rPr>
              <a:t>    cout &lt;&lt; setiosflags(ios::scientific) &lt;&lt; f1 &lt;&lt; ' ' &lt;&lt; f2 &lt;&lt; endl;    </a:t>
            </a:r>
          </a:p>
          <a:p>
            <a:endParaRPr lang="zh-CN" altLang="en-US" sz="1100" b="1" dirty="0">
              <a:latin typeface="+mn-ea"/>
            </a:endParaRPr>
          </a:p>
          <a:p>
            <a:r>
              <a:rPr lang="zh-CN" altLang="en-US" sz="1100" b="1" dirty="0">
                <a:latin typeface="+mn-ea"/>
              </a:rPr>
              <a:t>    </a:t>
            </a:r>
            <a:r>
              <a:rPr lang="en-US" altLang="zh-CN" sz="1100" b="1" dirty="0">
                <a:latin typeface="+mn-ea"/>
              </a:rPr>
              <a:t>/* </a:t>
            </a:r>
            <a:r>
              <a:rPr lang="zh-CN" altLang="en-US" sz="1100" b="1" dirty="0">
                <a:latin typeface="+mn-ea"/>
              </a:rPr>
              <a:t>第</a:t>
            </a:r>
            <a:r>
              <a:rPr lang="en-US" altLang="zh-CN" sz="1100" b="1" dirty="0">
                <a:latin typeface="+mn-ea"/>
              </a:rPr>
              <a:t>2</a:t>
            </a:r>
            <a:r>
              <a:rPr lang="zh-CN" altLang="en-US" sz="1100" b="1" dirty="0">
                <a:latin typeface="+mn-ea"/>
              </a:rPr>
              <a:t>组 *</a:t>
            </a:r>
            <a:r>
              <a:rPr lang="en-US" altLang="zh-CN" sz="1100" b="1" dirty="0">
                <a:latin typeface="+mn-ea"/>
              </a:rPr>
              <a:t>/</a:t>
            </a:r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</a:p>
          <a:p>
            <a:r>
              <a:rPr lang="fr-FR" altLang="zh-CN" sz="1100" b="1" dirty="0">
                <a:latin typeface="+mn-ea"/>
              </a:rPr>
              <a:t>    cout &lt;&lt; setiosflags(ios::</a:t>
            </a:r>
            <a:r>
              <a:rPr lang="en-US" altLang="zh-CN" sz="1100" b="1" dirty="0">
                <a:latin typeface="+mn-ea"/>
              </a:rPr>
              <a:t>fixed</a:t>
            </a:r>
            <a:r>
              <a:rPr lang="fr-FR" altLang="zh-CN" sz="1100" b="1" dirty="0">
                <a:latin typeface="+mn-ea"/>
              </a:rPr>
              <a:t>) &lt;&lt; f1 &lt;&lt; ' ' &lt;&lt; f2 &lt;&lt; endl;</a:t>
            </a:r>
          </a:p>
          <a:p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return 0;</a:t>
            </a:r>
          </a:p>
          <a:p>
            <a:r>
              <a:rPr lang="en-US" altLang="zh-CN" sz="1100" b="1" dirty="0">
                <a:latin typeface="+mn-ea"/>
              </a:rPr>
              <a:t>}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CA606D2-55A2-40E0-8D6D-3A0DF7E73037}"/>
              </a:ext>
            </a:extLst>
          </p:cNvPr>
          <p:cNvSpPr/>
          <p:nvPr/>
        </p:nvSpPr>
        <p:spPr bwMode="auto">
          <a:xfrm>
            <a:off x="592115" y="1323973"/>
            <a:ext cx="4985497" cy="320992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100" b="1" dirty="0">
                <a:latin typeface="+mn-ea"/>
              </a:rPr>
              <a:t>#include &lt;iostream&gt;</a:t>
            </a:r>
          </a:p>
          <a:p>
            <a:r>
              <a:rPr lang="en-US" altLang="zh-CN" sz="1100" b="1" dirty="0">
                <a:latin typeface="+mn-ea"/>
              </a:rPr>
              <a:t>#include &lt;</a:t>
            </a:r>
            <a:r>
              <a:rPr lang="en-US" altLang="zh-CN" sz="1100" b="1" dirty="0" err="1">
                <a:latin typeface="+mn-ea"/>
              </a:rPr>
              <a:t>iomanip</a:t>
            </a:r>
            <a:r>
              <a:rPr lang="en-US" altLang="zh-CN" sz="1100" b="1" dirty="0">
                <a:latin typeface="+mn-ea"/>
              </a:rPr>
              <a:t>&gt;</a:t>
            </a:r>
          </a:p>
          <a:p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using namespace std;</a:t>
            </a:r>
          </a:p>
          <a:p>
            <a:r>
              <a:rPr lang="en-US" altLang="zh-CN" sz="1100" b="1" dirty="0">
                <a:latin typeface="+mn-ea"/>
              </a:rPr>
              <a:t>int main()</a:t>
            </a:r>
          </a:p>
          <a:p>
            <a:r>
              <a:rPr lang="en-US" altLang="zh-CN" sz="1100" b="1" dirty="0">
                <a:latin typeface="+mn-ea"/>
              </a:rPr>
              <a:t>{</a:t>
            </a:r>
          </a:p>
          <a:p>
            <a:r>
              <a:rPr lang="en-US" altLang="zh-CN" sz="1100" b="1" dirty="0">
                <a:latin typeface="+mn-ea"/>
              </a:rPr>
              <a:t>    float f1 = 1234.5678F, f2 = 8765.4321F;</a:t>
            </a:r>
          </a:p>
          <a:p>
            <a:endParaRPr lang="zh-CN" altLang="en-US" sz="1100" b="1" dirty="0">
              <a:latin typeface="+mn-ea"/>
            </a:endParaRPr>
          </a:p>
          <a:p>
            <a:r>
              <a:rPr lang="zh-CN" altLang="en-US" sz="1100" b="1" dirty="0">
                <a:latin typeface="+mn-ea"/>
              </a:rPr>
              <a:t>    </a:t>
            </a:r>
            <a:r>
              <a:rPr lang="en-US" altLang="zh-CN" sz="1100" b="1" dirty="0">
                <a:latin typeface="+mn-ea"/>
              </a:rPr>
              <a:t>/* </a:t>
            </a:r>
            <a:r>
              <a:rPr lang="zh-CN" altLang="en-US" sz="1100" b="1" dirty="0">
                <a:latin typeface="+mn-ea"/>
              </a:rPr>
              <a:t>第</a:t>
            </a:r>
            <a:r>
              <a:rPr lang="en-US" altLang="zh-CN" sz="1100" b="1" dirty="0">
                <a:latin typeface="+mn-ea"/>
              </a:rPr>
              <a:t>1</a:t>
            </a:r>
            <a:r>
              <a:rPr lang="zh-CN" altLang="en-US" sz="1100" b="1" dirty="0">
                <a:latin typeface="+mn-ea"/>
              </a:rPr>
              <a:t>组 *</a:t>
            </a:r>
            <a:r>
              <a:rPr lang="en-US" altLang="zh-CN" sz="1100" b="1" dirty="0">
                <a:latin typeface="+mn-ea"/>
              </a:rPr>
              <a:t>/</a:t>
            </a:r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f1 &lt;&lt; ' ' &lt;&lt; f2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</a:p>
          <a:p>
            <a:r>
              <a:rPr lang="fr-FR" altLang="zh-CN" sz="1100" b="1" dirty="0">
                <a:latin typeface="+mn-ea"/>
              </a:rPr>
              <a:t>    cout &lt;&lt; setiosflags(ios::</a:t>
            </a:r>
            <a:r>
              <a:rPr lang="en-US" altLang="zh-CN" sz="1100" b="1" dirty="0">
                <a:latin typeface="+mn-ea"/>
              </a:rPr>
              <a:t>fixed</a:t>
            </a:r>
            <a:r>
              <a:rPr lang="fr-FR" altLang="zh-CN" sz="1100" b="1" dirty="0">
                <a:latin typeface="+mn-ea"/>
              </a:rPr>
              <a:t>) &lt;&lt; f1 &lt;&lt; ' ' &lt;&lt; f2 &lt;&lt; endl;</a:t>
            </a:r>
          </a:p>
          <a:p>
            <a:endParaRPr lang="en-US" altLang="zh-CN" sz="1100" b="1" dirty="0">
              <a:latin typeface="+mn-ea"/>
            </a:endParaRPr>
          </a:p>
          <a:p>
            <a:r>
              <a:rPr lang="zh-CN" altLang="en-US" sz="1100" b="1" dirty="0">
                <a:latin typeface="+mn-ea"/>
              </a:rPr>
              <a:t>    </a:t>
            </a:r>
            <a:r>
              <a:rPr lang="en-US" altLang="zh-CN" sz="1100" b="1" dirty="0">
                <a:latin typeface="+mn-ea"/>
              </a:rPr>
              <a:t>/* </a:t>
            </a:r>
            <a:r>
              <a:rPr lang="zh-CN" altLang="en-US" sz="1100" b="1" dirty="0">
                <a:latin typeface="+mn-ea"/>
              </a:rPr>
              <a:t>第</a:t>
            </a:r>
            <a:r>
              <a:rPr lang="en-US" altLang="zh-CN" sz="1100" b="1" dirty="0">
                <a:latin typeface="+mn-ea"/>
              </a:rPr>
              <a:t>2</a:t>
            </a:r>
            <a:r>
              <a:rPr lang="zh-CN" altLang="en-US" sz="1100" b="1" dirty="0">
                <a:latin typeface="+mn-ea"/>
              </a:rPr>
              <a:t>组 *</a:t>
            </a:r>
            <a:r>
              <a:rPr lang="en-US" altLang="zh-CN" sz="1100" b="1" dirty="0">
                <a:latin typeface="+mn-ea"/>
              </a:rPr>
              <a:t>/</a:t>
            </a:r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</a:p>
          <a:p>
            <a:r>
              <a:rPr lang="fr-FR" altLang="zh-CN" sz="1100" b="1" dirty="0">
                <a:latin typeface="+mn-ea"/>
              </a:rPr>
              <a:t>    cout &lt;&lt; setiosflags(ios::scientific) &lt;&lt; f1 &lt;&lt; ' ' &lt;&lt; f2 &lt;&lt; endl;</a:t>
            </a:r>
          </a:p>
          <a:p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return 0;</a:t>
            </a:r>
          </a:p>
          <a:p>
            <a:r>
              <a:rPr lang="en-US" altLang="zh-CN" sz="1100" b="1" dirty="0">
                <a:latin typeface="+mn-ea"/>
              </a:rPr>
              <a:t>}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1BC6C0C-AEE3-4A6C-90FE-95B88A9ED498}"/>
              </a:ext>
            </a:extLst>
          </p:cNvPr>
          <p:cNvSpPr/>
          <p:nvPr/>
        </p:nvSpPr>
        <p:spPr bwMode="auto">
          <a:xfrm>
            <a:off x="596153" y="4533900"/>
            <a:ext cx="4981460" cy="200024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运行截图：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5C615DC-9794-4F74-9CB7-ABF469B814F7}"/>
              </a:ext>
            </a:extLst>
          </p:cNvPr>
          <p:cNvSpPr/>
          <p:nvPr/>
        </p:nvSpPr>
        <p:spPr bwMode="auto">
          <a:xfrm>
            <a:off x="5577612" y="4533900"/>
            <a:ext cx="5257799" cy="200024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运行截图：</a:t>
            </a:r>
            <a:endParaRPr kumimoji="1" lang="en-US" altLang="zh-CN" sz="1600" b="1" dirty="0">
              <a:latin typeface="+mn-ea"/>
            </a:endParaRP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3CC9FB5-0B8F-9BCF-46FA-5103F3EEA3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115" y="5015863"/>
            <a:ext cx="4673600" cy="1358900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95DB783-9883-EA2C-5D27-21E612987A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3799" y="5015863"/>
            <a:ext cx="4546600" cy="135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6516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en-US" altLang="zh-CN" sz="1600" b="1" dirty="0" err="1">
                <a:latin typeface="+mn-ea"/>
              </a:rPr>
              <a:t>I.ios</a:t>
            </a:r>
            <a:r>
              <a:rPr lang="en-US" altLang="zh-CN" sz="1600" b="1" dirty="0">
                <a:latin typeface="+mn-ea"/>
              </a:rPr>
              <a:t>::fixed</a:t>
            </a:r>
            <a:r>
              <a:rPr lang="zh-CN" altLang="en-US" sz="1600" b="1" dirty="0">
                <a:latin typeface="+mn-ea"/>
              </a:rPr>
              <a:t>和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</a:t>
            </a:r>
            <a:r>
              <a:rPr lang="en-US" altLang="zh-CN" sz="1600" b="1" dirty="0">
                <a:latin typeface="+mn-ea"/>
                <a:cs typeface="Times New Roman" panose="02020603050405020304" pitchFamily="18" charset="0"/>
              </a:rPr>
              <a:t>scientific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的混合使用 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- 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在上一页的基础上将程序改正确，并给出截图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31B6A17-5E7C-4625-90AE-6C7D682CA9B0}"/>
              </a:ext>
            </a:extLst>
          </p:cNvPr>
          <p:cNvSpPr/>
          <p:nvPr/>
        </p:nvSpPr>
        <p:spPr bwMode="auto">
          <a:xfrm>
            <a:off x="5577611" y="1323974"/>
            <a:ext cx="5257801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100" b="1" dirty="0">
                <a:latin typeface="+mn-ea"/>
              </a:rPr>
              <a:t>#include &lt;iostream&gt;</a:t>
            </a:r>
          </a:p>
          <a:p>
            <a:r>
              <a:rPr lang="en-US" altLang="zh-CN" sz="1100" b="1" dirty="0">
                <a:latin typeface="+mn-ea"/>
              </a:rPr>
              <a:t>#include &lt;</a:t>
            </a:r>
            <a:r>
              <a:rPr lang="en-US" altLang="zh-CN" sz="1100" b="1" dirty="0" err="1">
                <a:latin typeface="+mn-ea"/>
              </a:rPr>
              <a:t>iomanip</a:t>
            </a:r>
            <a:r>
              <a:rPr lang="en-US" altLang="zh-CN" sz="1100" b="1" dirty="0">
                <a:latin typeface="+mn-ea"/>
              </a:rPr>
              <a:t>&gt;</a:t>
            </a:r>
          </a:p>
          <a:p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using namespace std;</a:t>
            </a:r>
          </a:p>
          <a:p>
            <a:r>
              <a:rPr lang="en-US" altLang="zh-CN" sz="1100" b="1" dirty="0">
                <a:latin typeface="+mn-ea"/>
              </a:rPr>
              <a:t>int main()</a:t>
            </a:r>
          </a:p>
          <a:p>
            <a:r>
              <a:rPr lang="en-US" altLang="zh-CN" sz="1100" b="1" dirty="0">
                <a:latin typeface="+mn-ea"/>
              </a:rPr>
              <a:t>{</a:t>
            </a:r>
          </a:p>
          <a:p>
            <a:r>
              <a:rPr lang="en-US" altLang="zh-CN" sz="1100" b="1" dirty="0">
                <a:latin typeface="+mn-ea"/>
              </a:rPr>
              <a:t>    float f1 = 1234.5678F, f2 = 8765.4321F;</a:t>
            </a:r>
          </a:p>
          <a:p>
            <a:endParaRPr lang="zh-CN" altLang="en-US" sz="1100" b="1" dirty="0">
              <a:latin typeface="+mn-ea"/>
            </a:endParaRPr>
          </a:p>
          <a:p>
            <a:r>
              <a:rPr lang="zh-CN" altLang="en-US" sz="1100" b="1" dirty="0">
                <a:latin typeface="+mn-ea"/>
              </a:rPr>
              <a:t>    </a:t>
            </a:r>
            <a:r>
              <a:rPr lang="en-US" altLang="zh-CN" sz="1100" b="1" dirty="0">
                <a:latin typeface="+mn-ea"/>
              </a:rPr>
              <a:t>/* </a:t>
            </a:r>
            <a:r>
              <a:rPr lang="zh-CN" altLang="en-US" sz="1100" b="1" dirty="0">
                <a:latin typeface="+mn-ea"/>
              </a:rPr>
              <a:t>第</a:t>
            </a:r>
            <a:r>
              <a:rPr lang="en-US" altLang="zh-CN" sz="1100" b="1" dirty="0">
                <a:latin typeface="+mn-ea"/>
              </a:rPr>
              <a:t>1</a:t>
            </a:r>
            <a:r>
              <a:rPr lang="zh-CN" altLang="en-US" sz="1100" b="1" dirty="0">
                <a:latin typeface="+mn-ea"/>
              </a:rPr>
              <a:t>组 *</a:t>
            </a:r>
            <a:r>
              <a:rPr lang="en-US" altLang="zh-CN" sz="1100" b="1" dirty="0">
                <a:latin typeface="+mn-ea"/>
              </a:rPr>
              <a:t>/</a:t>
            </a:r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f1 &lt;&lt; ' ' &lt;&lt; f2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</a:p>
          <a:p>
            <a:r>
              <a:rPr lang="fr-FR" altLang="zh-CN" sz="1100" b="1" dirty="0">
                <a:latin typeface="+mn-ea"/>
              </a:rPr>
              <a:t>    cout &lt;&lt; setiosflags(ios::scientific) &lt;&lt; f1 &lt;&lt; ' ' &lt;&lt; f2 &lt;&lt; endl;    </a:t>
            </a:r>
          </a:p>
          <a:p>
            <a:r>
              <a:rPr lang="zh-CN" altLang="en-US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resetiosflags</a:t>
            </a:r>
            <a:r>
              <a:rPr lang="en-US" altLang="zh-CN" sz="1100" b="1" dirty="0">
                <a:latin typeface="+mn-ea"/>
              </a:rPr>
              <a:t>(</a:t>
            </a:r>
            <a:r>
              <a:rPr lang="en-US" altLang="zh-CN" sz="1100" b="1" dirty="0" err="1">
                <a:latin typeface="+mn-ea"/>
              </a:rPr>
              <a:t>ios</a:t>
            </a:r>
            <a:r>
              <a:rPr lang="en-US" altLang="zh-CN" sz="1100" b="1" dirty="0">
                <a:latin typeface="+mn-ea"/>
              </a:rPr>
              <a:t>::scientific);</a:t>
            </a:r>
            <a:endParaRPr lang="zh-CN" altLang="en-US" sz="1100" b="1" dirty="0">
              <a:latin typeface="+mn-ea"/>
            </a:endParaRPr>
          </a:p>
          <a:p>
            <a:r>
              <a:rPr lang="zh-CN" altLang="en-US" sz="1100" b="1" dirty="0">
                <a:latin typeface="+mn-ea"/>
              </a:rPr>
              <a:t>    </a:t>
            </a:r>
            <a:r>
              <a:rPr lang="en-US" altLang="zh-CN" sz="1100" b="1" dirty="0">
                <a:latin typeface="+mn-ea"/>
              </a:rPr>
              <a:t>/* </a:t>
            </a:r>
            <a:r>
              <a:rPr lang="zh-CN" altLang="en-US" sz="1100" b="1" dirty="0">
                <a:latin typeface="+mn-ea"/>
              </a:rPr>
              <a:t>第</a:t>
            </a:r>
            <a:r>
              <a:rPr lang="en-US" altLang="zh-CN" sz="1100" b="1" dirty="0">
                <a:latin typeface="+mn-ea"/>
              </a:rPr>
              <a:t>2</a:t>
            </a:r>
            <a:r>
              <a:rPr lang="zh-CN" altLang="en-US" sz="1100" b="1" dirty="0">
                <a:latin typeface="+mn-ea"/>
              </a:rPr>
              <a:t>组 *</a:t>
            </a:r>
            <a:r>
              <a:rPr lang="en-US" altLang="zh-CN" sz="1100" b="1" dirty="0">
                <a:latin typeface="+mn-ea"/>
              </a:rPr>
              <a:t>/</a:t>
            </a:r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</a:p>
          <a:p>
            <a:r>
              <a:rPr lang="fr-FR" altLang="zh-CN" sz="1100" b="1" dirty="0">
                <a:latin typeface="+mn-ea"/>
              </a:rPr>
              <a:t>    cout &lt;&lt; setiosflags(ios::</a:t>
            </a:r>
            <a:r>
              <a:rPr lang="en-US" altLang="zh-CN" sz="1100" b="1" dirty="0">
                <a:latin typeface="+mn-ea"/>
              </a:rPr>
              <a:t>fixed</a:t>
            </a:r>
            <a:r>
              <a:rPr lang="fr-FR" altLang="zh-CN" sz="1100" b="1" dirty="0">
                <a:latin typeface="+mn-ea"/>
              </a:rPr>
              <a:t>) &lt;&lt; f1 &lt;&lt; ' ' &lt;&lt; f2 &lt;&lt; endl;</a:t>
            </a:r>
          </a:p>
          <a:p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return 0;</a:t>
            </a:r>
          </a:p>
          <a:p>
            <a:r>
              <a:rPr lang="en-US" altLang="zh-CN" sz="1100" b="1" dirty="0">
                <a:latin typeface="+mn-ea"/>
              </a:rPr>
              <a:t>}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CA606D2-55A2-40E0-8D6D-3A0DF7E73037}"/>
              </a:ext>
            </a:extLst>
          </p:cNvPr>
          <p:cNvSpPr/>
          <p:nvPr/>
        </p:nvSpPr>
        <p:spPr bwMode="auto">
          <a:xfrm>
            <a:off x="586629" y="1323973"/>
            <a:ext cx="4990983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100" b="1" dirty="0">
                <a:latin typeface="+mn-ea"/>
              </a:rPr>
              <a:t>#include &lt;iostream&gt;</a:t>
            </a:r>
          </a:p>
          <a:p>
            <a:r>
              <a:rPr lang="en-US" altLang="zh-CN" sz="1100" b="1" dirty="0">
                <a:latin typeface="+mn-ea"/>
              </a:rPr>
              <a:t>#include &lt;</a:t>
            </a:r>
            <a:r>
              <a:rPr lang="en-US" altLang="zh-CN" sz="1100" b="1" dirty="0" err="1">
                <a:latin typeface="+mn-ea"/>
              </a:rPr>
              <a:t>iomanip</a:t>
            </a:r>
            <a:r>
              <a:rPr lang="en-US" altLang="zh-CN" sz="1100" b="1" dirty="0">
                <a:latin typeface="+mn-ea"/>
              </a:rPr>
              <a:t>&gt;</a:t>
            </a:r>
          </a:p>
          <a:p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using namespace std;</a:t>
            </a:r>
          </a:p>
          <a:p>
            <a:r>
              <a:rPr lang="en-US" altLang="zh-CN" sz="1100" b="1" dirty="0">
                <a:latin typeface="+mn-ea"/>
              </a:rPr>
              <a:t>int main()</a:t>
            </a:r>
          </a:p>
          <a:p>
            <a:r>
              <a:rPr lang="en-US" altLang="zh-CN" sz="1100" b="1" dirty="0">
                <a:latin typeface="+mn-ea"/>
              </a:rPr>
              <a:t>{</a:t>
            </a:r>
          </a:p>
          <a:p>
            <a:r>
              <a:rPr lang="en-US" altLang="zh-CN" sz="1100" b="1" dirty="0">
                <a:latin typeface="+mn-ea"/>
              </a:rPr>
              <a:t>    float f1 = 1234.5678F, f2 = 8765.4321F;</a:t>
            </a:r>
          </a:p>
          <a:p>
            <a:endParaRPr lang="zh-CN" altLang="en-US" sz="1100" b="1" dirty="0">
              <a:latin typeface="+mn-ea"/>
            </a:endParaRPr>
          </a:p>
          <a:p>
            <a:r>
              <a:rPr lang="zh-CN" altLang="en-US" sz="1100" b="1" dirty="0">
                <a:latin typeface="+mn-ea"/>
              </a:rPr>
              <a:t>    </a:t>
            </a:r>
            <a:r>
              <a:rPr lang="en-US" altLang="zh-CN" sz="1100" b="1" dirty="0">
                <a:latin typeface="+mn-ea"/>
              </a:rPr>
              <a:t>/* </a:t>
            </a:r>
            <a:r>
              <a:rPr lang="zh-CN" altLang="en-US" sz="1100" b="1" dirty="0">
                <a:latin typeface="+mn-ea"/>
              </a:rPr>
              <a:t>第</a:t>
            </a:r>
            <a:r>
              <a:rPr lang="en-US" altLang="zh-CN" sz="1100" b="1" dirty="0">
                <a:latin typeface="+mn-ea"/>
              </a:rPr>
              <a:t>1</a:t>
            </a:r>
            <a:r>
              <a:rPr lang="zh-CN" altLang="en-US" sz="1100" b="1" dirty="0">
                <a:latin typeface="+mn-ea"/>
              </a:rPr>
              <a:t>组 *</a:t>
            </a:r>
            <a:r>
              <a:rPr lang="en-US" altLang="zh-CN" sz="1100" b="1" dirty="0">
                <a:latin typeface="+mn-ea"/>
              </a:rPr>
              <a:t>/</a:t>
            </a:r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f1 &lt;&lt; ' ' &lt;&lt; f2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</a:p>
          <a:p>
            <a:r>
              <a:rPr lang="fr-FR" altLang="zh-CN" sz="1100" b="1" dirty="0">
                <a:latin typeface="+mn-ea"/>
              </a:rPr>
              <a:t>    cout &lt;&lt; setiosflags(ios::</a:t>
            </a:r>
            <a:r>
              <a:rPr lang="en-US" altLang="zh-CN" sz="1100" b="1" dirty="0">
                <a:latin typeface="+mn-ea"/>
              </a:rPr>
              <a:t>fixed</a:t>
            </a:r>
            <a:r>
              <a:rPr lang="fr-FR" altLang="zh-CN" sz="1100" b="1" dirty="0">
                <a:latin typeface="+mn-ea"/>
              </a:rPr>
              <a:t>) &lt;&lt; f1 &lt;&lt; ' ' &lt;&lt; f2 &lt;&lt; </a:t>
            </a:r>
            <a:r>
              <a:rPr lang="fr-FR" altLang="zh-CN" sz="1100" b="1" dirty="0" err="1">
                <a:latin typeface="+mn-ea"/>
              </a:rPr>
              <a:t>endl</a:t>
            </a:r>
            <a:r>
              <a:rPr lang="fr-FR" altLang="zh-CN" sz="1100" b="1" dirty="0">
                <a:latin typeface="+mn-ea"/>
              </a:rPr>
              <a:t>;</a:t>
            </a:r>
            <a:endParaRPr lang="en-US" altLang="zh-CN" sz="1100" b="1" dirty="0">
              <a:latin typeface="+mn-ea"/>
            </a:endParaRPr>
          </a:p>
          <a:p>
            <a:r>
              <a:rPr lang="zh-CN" altLang="en-US" sz="1100" b="1" dirty="0">
                <a:latin typeface="+mn-ea"/>
              </a:rPr>
              <a:t>   </a:t>
            </a:r>
            <a:r>
              <a:rPr lang="en-US" altLang="zh-CN" sz="1100" b="1" dirty="0">
                <a:latin typeface="+mn-ea"/>
              </a:rPr>
              <a:t>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resetiosflags</a:t>
            </a:r>
            <a:r>
              <a:rPr lang="en-US" altLang="zh-CN" sz="1100" b="1" dirty="0">
                <a:latin typeface="+mn-ea"/>
              </a:rPr>
              <a:t>(</a:t>
            </a:r>
            <a:r>
              <a:rPr lang="en-US" altLang="zh-CN" sz="1100" b="1" dirty="0" err="1">
                <a:latin typeface="+mn-ea"/>
              </a:rPr>
              <a:t>ios</a:t>
            </a:r>
            <a:r>
              <a:rPr lang="en-US" altLang="zh-CN" sz="1100" b="1" dirty="0">
                <a:latin typeface="+mn-ea"/>
              </a:rPr>
              <a:t>::fixed);</a:t>
            </a:r>
            <a:endParaRPr lang="zh-CN" altLang="en-US" sz="1100" b="1" dirty="0">
              <a:latin typeface="+mn-ea"/>
            </a:endParaRPr>
          </a:p>
          <a:p>
            <a:r>
              <a:rPr lang="zh-CN" altLang="en-US" sz="1100" b="1" dirty="0">
                <a:latin typeface="+mn-ea"/>
              </a:rPr>
              <a:t>    </a:t>
            </a:r>
            <a:r>
              <a:rPr lang="en-US" altLang="zh-CN" sz="1100" b="1" dirty="0">
                <a:latin typeface="+mn-ea"/>
              </a:rPr>
              <a:t>/* </a:t>
            </a:r>
            <a:r>
              <a:rPr lang="zh-CN" altLang="en-US" sz="1100" b="1" dirty="0">
                <a:latin typeface="+mn-ea"/>
              </a:rPr>
              <a:t>第</a:t>
            </a:r>
            <a:r>
              <a:rPr lang="en-US" altLang="zh-CN" sz="1100" b="1" dirty="0">
                <a:latin typeface="+mn-ea"/>
              </a:rPr>
              <a:t>2</a:t>
            </a:r>
            <a:r>
              <a:rPr lang="zh-CN" altLang="en-US" sz="1100" b="1" dirty="0">
                <a:latin typeface="+mn-ea"/>
              </a:rPr>
              <a:t>组 *</a:t>
            </a:r>
            <a:r>
              <a:rPr lang="en-US" altLang="zh-CN" sz="1100" b="1" dirty="0">
                <a:latin typeface="+mn-ea"/>
              </a:rPr>
              <a:t>/</a:t>
            </a:r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</a:p>
          <a:p>
            <a:r>
              <a:rPr lang="fr-FR" altLang="zh-CN" sz="1100" b="1" dirty="0">
                <a:latin typeface="+mn-ea"/>
              </a:rPr>
              <a:t>    cout &lt;&lt; setiosflags(ios::scientific) &lt;&lt; f1 &lt;&lt; ' ' &lt;&lt; f2 &lt;&lt; </a:t>
            </a:r>
            <a:r>
              <a:rPr lang="fr-FR" altLang="zh-CN" sz="1100" b="1" dirty="0" err="1">
                <a:latin typeface="+mn-ea"/>
              </a:rPr>
              <a:t>endl</a:t>
            </a:r>
            <a:r>
              <a:rPr lang="fr-FR" altLang="zh-CN" sz="1100" b="1" dirty="0">
                <a:latin typeface="+mn-ea"/>
              </a:rPr>
              <a:t>;</a:t>
            </a:r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return 0;</a:t>
            </a:r>
          </a:p>
          <a:p>
            <a:r>
              <a:rPr lang="en-US" altLang="zh-CN" sz="1100" b="1" dirty="0">
                <a:latin typeface="+mn-ea"/>
              </a:rPr>
              <a:t>}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1BC6C0C-AEE3-4A6C-90FE-95B88A9ED498}"/>
              </a:ext>
            </a:extLst>
          </p:cNvPr>
          <p:cNvSpPr/>
          <p:nvPr/>
        </p:nvSpPr>
        <p:spPr bwMode="auto">
          <a:xfrm>
            <a:off x="586629" y="4533900"/>
            <a:ext cx="4990982" cy="100012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运行截图：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5C615DC-9794-4F74-9CB7-ABF469B814F7}"/>
              </a:ext>
            </a:extLst>
          </p:cNvPr>
          <p:cNvSpPr/>
          <p:nvPr/>
        </p:nvSpPr>
        <p:spPr bwMode="auto">
          <a:xfrm>
            <a:off x="5577610" y="4533900"/>
            <a:ext cx="5257801" cy="100012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运行截图：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0FA0EC0-EC10-4F3D-A88F-5FF103AF9D13}"/>
              </a:ext>
            </a:extLst>
          </p:cNvPr>
          <p:cNvSpPr/>
          <p:nvPr/>
        </p:nvSpPr>
        <p:spPr bwMode="auto">
          <a:xfrm>
            <a:off x="586630" y="5534025"/>
            <a:ext cx="10248782" cy="10001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结论：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再强调一遍，先去读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P.5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，后续不再提示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如果想要在一个程序中同时显示</a:t>
            </a:r>
            <a:r>
              <a:rPr kumimoji="1" lang="en-US" altLang="zh-CN" sz="1600" b="1" dirty="0">
                <a:latin typeface="+mn-ea"/>
              </a:rPr>
              <a:t>fixed</a:t>
            </a:r>
            <a:r>
              <a:rPr kumimoji="1" lang="zh-CN" altLang="en-US" sz="1600" b="1" dirty="0">
                <a:latin typeface="+mn-ea"/>
              </a:rPr>
              <a:t>和</a:t>
            </a:r>
            <a:r>
              <a:rPr kumimoji="1" lang="en-US" altLang="zh-CN" sz="1600" b="1" dirty="0">
                <a:latin typeface="+mn-ea"/>
              </a:rPr>
              <a:t>scientific</a:t>
            </a:r>
            <a:r>
              <a:rPr kumimoji="1" lang="zh-CN" altLang="en-US" sz="1600" b="1" dirty="0">
                <a:latin typeface="+mn-ea"/>
              </a:rPr>
              <a:t>形式，需要在两者之间加入一句：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__</a:t>
            </a:r>
            <a:r>
              <a:rPr lang="en-US" altLang="zh-CN" sz="1600" b="1" u="sng" dirty="0" err="1">
                <a:latin typeface="+mn-ea"/>
              </a:rPr>
              <a:t>cout</a:t>
            </a:r>
            <a:r>
              <a:rPr lang="en-US" altLang="zh-CN" sz="1600" b="1" u="sng" dirty="0">
                <a:latin typeface="+mn-ea"/>
              </a:rPr>
              <a:t> &lt;&lt; </a:t>
            </a:r>
            <a:r>
              <a:rPr lang="en-US" altLang="zh-CN" sz="1600" b="1" u="sng" dirty="0" err="1">
                <a:latin typeface="+mn-ea"/>
              </a:rPr>
              <a:t>resetiosflags</a:t>
            </a:r>
            <a:r>
              <a:rPr lang="en-US" altLang="zh-CN" sz="1600" b="1" u="sng" dirty="0">
                <a:latin typeface="+mn-ea"/>
              </a:rPr>
              <a:t>(</a:t>
            </a:r>
            <a:r>
              <a:rPr lang="en-US" altLang="zh-CN" sz="1600" b="1" u="sng" dirty="0" err="1">
                <a:latin typeface="+mn-ea"/>
              </a:rPr>
              <a:t>ios</a:t>
            </a:r>
            <a:r>
              <a:rPr lang="en-US" altLang="zh-CN" sz="1600" b="1" u="sng" dirty="0">
                <a:latin typeface="+mn-ea"/>
              </a:rPr>
              <a:t>::fixed);</a:t>
            </a:r>
            <a:r>
              <a:rPr lang="zh-CN" altLang="en-US" sz="1600" b="1" u="sng" dirty="0">
                <a:latin typeface="+mn-ea"/>
              </a:rPr>
              <a:t> </a:t>
            </a:r>
            <a:r>
              <a:rPr lang="en-US" altLang="zh-CN" sz="1600" b="1" u="sng" dirty="0" err="1">
                <a:latin typeface="+mn-ea"/>
              </a:rPr>
              <a:t>cout</a:t>
            </a:r>
            <a:r>
              <a:rPr lang="en-US" altLang="zh-CN" sz="1600" b="1" u="sng" dirty="0">
                <a:latin typeface="+mn-ea"/>
              </a:rPr>
              <a:t> &lt;&lt; </a:t>
            </a:r>
            <a:r>
              <a:rPr lang="en-US" altLang="zh-CN" sz="1600" b="1" u="sng" dirty="0" err="1">
                <a:latin typeface="+mn-ea"/>
              </a:rPr>
              <a:t>resetiosflags</a:t>
            </a:r>
            <a:r>
              <a:rPr lang="en-US" altLang="zh-CN" sz="1600" b="1" u="sng" dirty="0">
                <a:latin typeface="+mn-ea"/>
              </a:rPr>
              <a:t>(</a:t>
            </a:r>
            <a:r>
              <a:rPr lang="en-US" altLang="zh-CN" sz="1600" b="1" u="sng" dirty="0" err="1">
                <a:latin typeface="+mn-ea"/>
              </a:rPr>
              <a:t>ios</a:t>
            </a:r>
            <a:r>
              <a:rPr lang="en-US" altLang="zh-CN" sz="1600" b="1" u="sng" dirty="0">
                <a:latin typeface="+mn-ea"/>
              </a:rPr>
              <a:t>::scientific); </a:t>
            </a:r>
            <a:r>
              <a:rPr kumimoji="1" lang="en-US" altLang="zh-CN" sz="1600" b="1" dirty="0">
                <a:latin typeface="+mn-ea"/>
              </a:rPr>
              <a:t>___________</a:t>
            </a:r>
          </a:p>
        </p:txBody>
      </p:sp>
      <p:pic>
        <p:nvPicPr>
          <p:cNvPr id="12" name="Picture 11" descr="A black and white text on a black background&#10;&#10;AI-generated content may be incorrect.">
            <a:extLst>
              <a:ext uri="{FF2B5EF4-FFF2-40B4-BE49-F238E27FC236}">
                <a16:creationId xmlns:a16="http://schemas.microsoft.com/office/drawing/2014/main" id="{AF88694F-2CA5-4376-E990-3CA72D1BC0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8764" y="4205286"/>
            <a:ext cx="3098800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8909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sz="1200" b="1" dirty="0">
              <a:latin typeface="+mn-ea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en-US" altLang="zh-CN" sz="1600" b="1" dirty="0" err="1">
                <a:latin typeface="+mn-ea"/>
              </a:rPr>
              <a:t>J.setw</a:t>
            </a:r>
            <a:r>
              <a:rPr lang="zh-CN" altLang="en-US" sz="1600" b="1" dirty="0">
                <a:latin typeface="+mn-ea"/>
              </a:rPr>
              <a:t>的基本使用 </a:t>
            </a:r>
            <a:r>
              <a:rPr lang="en-US" altLang="zh-CN" sz="1600" b="1" dirty="0">
                <a:latin typeface="+mn-ea"/>
              </a:rPr>
              <a:t>- (1)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31B6A17-5E7C-4625-90AE-6C7D682CA9B0}"/>
              </a:ext>
            </a:extLst>
          </p:cNvPr>
          <p:cNvSpPr/>
          <p:nvPr/>
        </p:nvSpPr>
        <p:spPr bwMode="auto">
          <a:xfrm>
            <a:off x="5717628" y="1323974"/>
            <a:ext cx="5117783" cy="359486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运行截图：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CA606D2-55A2-40E0-8D6D-3A0DF7E73037}"/>
              </a:ext>
            </a:extLst>
          </p:cNvPr>
          <p:cNvSpPr/>
          <p:nvPr/>
        </p:nvSpPr>
        <p:spPr bwMode="auto">
          <a:xfrm>
            <a:off x="592115" y="1323973"/>
            <a:ext cx="5125513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200" b="1" dirty="0">
                <a:latin typeface="+mn-ea"/>
              </a:rPr>
              <a:t>#include &lt;iostream&gt;</a:t>
            </a:r>
          </a:p>
          <a:p>
            <a:r>
              <a:rPr lang="en-US" altLang="zh-CN" sz="1200" b="1" dirty="0">
                <a:latin typeface="+mn-ea"/>
              </a:rPr>
              <a:t>#include &lt;</a:t>
            </a:r>
            <a:r>
              <a:rPr lang="en-US" altLang="zh-CN" sz="1200" b="1" dirty="0" err="1">
                <a:latin typeface="+mn-ea"/>
              </a:rPr>
              <a:t>iomanip</a:t>
            </a:r>
            <a:r>
              <a:rPr lang="en-US" altLang="zh-CN" sz="1200" b="1" dirty="0">
                <a:latin typeface="+mn-ea"/>
              </a:rPr>
              <a:t>&gt;</a:t>
            </a:r>
          </a:p>
          <a:p>
            <a:endParaRPr lang="zh-CN" altLang="en-US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using namespace std;</a:t>
            </a:r>
          </a:p>
          <a:p>
            <a:r>
              <a:rPr lang="en-US" altLang="zh-CN" sz="1200" b="1" dirty="0">
                <a:latin typeface="+mn-ea"/>
              </a:rPr>
              <a:t>int main()</a:t>
            </a:r>
          </a:p>
          <a:p>
            <a:r>
              <a:rPr lang="en-US" altLang="zh-CN" sz="1200" b="1" dirty="0">
                <a:latin typeface="+mn-ea"/>
              </a:rPr>
              <a:t>{</a:t>
            </a:r>
          </a:p>
          <a:p>
            <a:r>
              <a:rPr lang="en-US" altLang="zh-CN" sz="1200" b="1" dirty="0">
                <a:latin typeface="+mn-ea"/>
              </a:rPr>
              <a:t>    int a = 12345;</a:t>
            </a:r>
          </a:p>
          <a:p>
            <a:endParaRPr lang="en-US" altLang="zh-CN" sz="1200" b="1" dirty="0">
              <a:solidFill>
                <a:srgbClr val="FF0000"/>
              </a:solidFill>
              <a:highlight>
                <a:srgbClr val="FFFF00"/>
              </a:highlight>
              <a:latin typeface="+mn-ea"/>
            </a:endParaRPr>
          </a:p>
          <a:p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    </a:t>
            </a:r>
            <a:r>
              <a:rPr lang="en-US" altLang="zh-CN" sz="1200" b="1" dirty="0" err="1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cout</a:t>
            </a:r>
            <a:r>
              <a:rPr lang="en-US" altLang="zh-CN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 &lt;&lt; ”2454307" &lt;&lt; </a:t>
            </a:r>
            <a:r>
              <a:rPr lang="en-US" altLang="zh-CN" sz="1200" b="1" dirty="0" err="1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endl</a:t>
            </a:r>
            <a:r>
              <a:rPr lang="en-US" altLang="zh-CN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;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 //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</a:rPr>
              <a:t>改学号</a:t>
            </a:r>
            <a:endParaRPr lang="zh-CN" altLang="en-US" sz="1200" b="1" dirty="0">
              <a:latin typeface="+mn-ea"/>
            </a:endParaRPr>
          </a:p>
          <a:p>
            <a:r>
              <a:rPr lang="fr-FR" altLang="zh-CN" sz="1200" b="1" dirty="0">
                <a:latin typeface="+mn-ea"/>
              </a:rPr>
              <a:t>    cout &lt;&lt; "0         1         2         3" &lt;&lt; endl;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"0123456789012345678901234567890123456789"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setw</a:t>
            </a:r>
            <a:r>
              <a:rPr lang="en-US" altLang="zh-CN" sz="1200" b="1" dirty="0">
                <a:latin typeface="+mn-ea"/>
              </a:rPr>
              <a:t>(3) &lt;&lt; a &lt;&lt; '#' &lt;&lt; a + 1 &lt;&lt; '*'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setw</a:t>
            </a:r>
            <a:r>
              <a:rPr lang="en-US" altLang="zh-CN" sz="1200" b="1" dirty="0">
                <a:latin typeface="+mn-ea"/>
              </a:rPr>
              <a:t>(6) &lt;&lt; a &lt;&lt; '#' &lt;&lt; a + 1 &lt;&lt; '*'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setw</a:t>
            </a:r>
            <a:r>
              <a:rPr lang="en-US" altLang="zh-CN" sz="1200" b="1" dirty="0">
                <a:latin typeface="+mn-ea"/>
              </a:rPr>
              <a:t>(10) &lt;&lt; a &lt;&lt; '#' &lt;&lt; a + 1 &lt;&lt; '*'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setw</a:t>
            </a:r>
            <a:r>
              <a:rPr lang="en-US" altLang="zh-CN" sz="1200" b="1" dirty="0">
                <a:latin typeface="+mn-ea"/>
              </a:rPr>
              <a:t>(15) &lt;&lt; a &lt;&lt; '#' &lt;&lt; a + 1 &lt;&lt; '*'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endParaRPr lang="zh-CN" altLang="en-US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return 0;</a:t>
            </a:r>
          </a:p>
          <a:p>
            <a:r>
              <a:rPr lang="en-US" altLang="zh-CN" sz="1200" b="1" dirty="0">
                <a:latin typeface="+mn-ea"/>
              </a:rPr>
              <a:t>}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C5CE073-0217-4BFF-8DE1-C53D69470CA4}"/>
              </a:ext>
            </a:extLst>
          </p:cNvPr>
          <p:cNvSpPr/>
          <p:nvPr/>
        </p:nvSpPr>
        <p:spPr bwMode="auto">
          <a:xfrm>
            <a:off x="592114" y="4918841"/>
            <a:ext cx="10243297" cy="1615307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结论：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 err="1">
                <a:latin typeface="+mn-ea"/>
              </a:rPr>
              <a:t>setw</a:t>
            </a:r>
            <a:r>
              <a:rPr kumimoji="1" lang="zh-CN" altLang="en-US" sz="1600" b="1" dirty="0">
                <a:latin typeface="+mn-ea"/>
              </a:rPr>
              <a:t>指定的宽度是总宽度，当总宽度大于数据宽度时，显示规律为</a:t>
            </a:r>
            <a:r>
              <a:rPr kumimoji="1" lang="en-US" altLang="zh-CN" sz="1600" b="1" dirty="0">
                <a:latin typeface="+mn-ea"/>
              </a:rPr>
              <a:t>__</a:t>
            </a:r>
            <a:r>
              <a:rPr kumimoji="1" lang="zh-CN" altLang="en-US" sz="1600" b="1" dirty="0">
                <a:latin typeface="+mn-ea"/>
              </a:rPr>
              <a:t>以总宽度为右边界右对齐</a:t>
            </a:r>
            <a:r>
              <a:rPr kumimoji="1" lang="en-US" altLang="zh-CN" sz="1600" b="1" dirty="0">
                <a:latin typeface="+mn-ea"/>
              </a:rPr>
              <a:t>__</a:t>
            </a:r>
            <a:r>
              <a:rPr kumimoji="1" lang="zh-CN" altLang="en-US" sz="1600" b="1" dirty="0">
                <a:latin typeface="+mn-ea"/>
              </a:rPr>
              <a:t>；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                           当总宽度小于数据宽度时，显示规律为 </a:t>
            </a:r>
            <a:r>
              <a:rPr kumimoji="1" lang="en-US" altLang="zh-CN" sz="1600" b="1" dirty="0">
                <a:latin typeface="+mn-ea"/>
              </a:rPr>
              <a:t>__</a:t>
            </a:r>
            <a:r>
              <a:rPr kumimoji="1" lang="zh-CN" altLang="en-US" sz="1600" b="1" dirty="0">
                <a:latin typeface="+mn-ea"/>
              </a:rPr>
              <a:t>从左往右正常输出</a:t>
            </a:r>
            <a:r>
              <a:rPr kumimoji="1" lang="en-US" altLang="zh-CN" sz="1600" b="1" dirty="0">
                <a:latin typeface="+mn-ea"/>
              </a:rPr>
              <a:t>__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 err="1">
                <a:latin typeface="+mn-ea"/>
              </a:rPr>
              <a:t>setw</a:t>
            </a:r>
            <a:r>
              <a:rPr kumimoji="1" lang="zh-CN" altLang="en-US" sz="1600" b="1" dirty="0">
                <a:latin typeface="+mn-ea"/>
              </a:rPr>
              <a:t>的设置后，对后面的</a:t>
            </a:r>
            <a:r>
              <a:rPr kumimoji="1" lang="en-US" altLang="zh-CN" sz="1600" b="1" dirty="0">
                <a:latin typeface="+mn-ea"/>
              </a:rPr>
              <a:t>__</a:t>
            </a:r>
            <a:r>
              <a:rPr kumimoji="1" lang="zh-CN" altLang="en-US" sz="1600" b="1" dirty="0">
                <a:latin typeface="+mn-ea"/>
              </a:rPr>
              <a:t>仅一个</a:t>
            </a:r>
            <a:r>
              <a:rPr kumimoji="1" lang="en-US" altLang="zh-CN" sz="1600" b="1" dirty="0">
                <a:latin typeface="+mn-ea"/>
              </a:rPr>
              <a:t>__(</a:t>
            </a:r>
            <a:r>
              <a:rPr kumimoji="1" lang="zh-CN" altLang="en-US" sz="1600" b="1" dirty="0">
                <a:latin typeface="+mn-ea"/>
              </a:rPr>
              <a:t>仅一个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所有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数据有效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、程序最前面两行的输出，目的是什么？标注这是第几列，方便观察输出对齐位置，判断输出宽度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4</a:t>
            </a:r>
            <a:r>
              <a:rPr kumimoji="1" lang="zh-CN" altLang="en-US" sz="1600" b="1" dirty="0">
                <a:latin typeface="+mn-ea"/>
              </a:rPr>
              <a:t>、每行输出的最后一个</a:t>
            </a:r>
            <a:r>
              <a:rPr kumimoji="1" lang="en-US" altLang="zh-CN" sz="1600" b="1" dirty="0">
                <a:latin typeface="+mn-ea"/>
              </a:rPr>
              <a:t>*</a:t>
            </a:r>
            <a:r>
              <a:rPr kumimoji="1" lang="zh-CN" altLang="en-US" sz="1600" b="1" dirty="0">
                <a:latin typeface="+mn-ea"/>
              </a:rPr>
              <a:t>，目的是什么？验证输出末端无空格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BC2456B-F14D-22F8-AD39-5B1D899C19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0069" y="2124458"/>
            <a:ext cx="4152900" cy="199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0530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sz="1200" b="1" dirty="0">
              <a:latin typeface="+mn-ea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en-US" altLang="zh-CN" sz="1600" b="1" dirty="0" err="1">
                <a:latin typeface="+mn-ea"/>
              </a:rPr>
              <a:t>J.setw</a:t>
            </a:r>
            <a:r>
              <a:rPr lang="zh-CN" altLang="en-US" sz="1600" b="1" dirty="0">
                <a:latin typeface="+mn-ea"/>
              </a:rPr>
              <a:t>的基本使用 </a:t>
            </a:r>
            <a:r>
              <a:rPr lang="en-US" altLang="zh-CN" sz="1600" b="1" dirty="0">
                <a:latin typeface="+mn-ea"/>
              </a:rPr>
              <a:t>- (2)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31B6A17-5E7C-4625-90AE-6C7D682CA9B0}"/>
              </a:ext>
            </a:extLst>
          </p:cNvPr>
          <p:cNvSpPr/>
          <p:nvPr/>
        </p:nvSpPr>
        <p:spPr bwMode="auto">
          <a:xfrm>
            <a:off x="5717628" y="1323974"/>
            <a:ext cx="5117783" cy="359486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运行截图：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CA606D2-55A2-40E0-8D6D-3A0DF7E73037}"/>
              </a:ext>
            </a:extLst>
          </p:cNvPr>
          <p:cNvSpPr/>
          <p:nvPr/>
        </p:nvSpPr>
        <p:spPr bwMode="auto">
          <a:xfrm>
            <a:off x="592115" y="1323973"/>
            <a:ext cx="5125513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200" b="1" dirty="0">
                <a:latin typeface="+mn-ea"/>
              </a:rPr>
              <a:t>#include &lt;iostream&gt;</a:t>
            </a:r>
          </a:p>
          <a:p>
            <a:r>
              <a:rPr lang="en-US" altLang="zh-CN" sz="1200" b="1" dirty="0">
                <a:latin typeface="+mn-ea"/>
              </a:rPr>
              <a:t>#include &lt;</a:t>
            </a:r>
            <a:r>
              <a:rPr lang="en-US" altLang="zh-CN" sz="1200" b="1" dirty="0" err="1">
                <a:latin typeface="+mn-ea"/>
              </a:rPr>
              <a:t>iomanip</a:t>
            </a:r>
            <a:r>
              <a:rPr lang="en-US" altLang="zh-CN" sz="1200" b="1" dirty="0">
                <a:latin typeface="+mn-ea"/>
              </a:rPr>
              <a:t>&gt;</a:t>
            </a:r>
          </a:p>
          <a:p>
            <a:endParaRPr lang="zh-CN" altLang="en-US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using namespace std;</a:t>
            </a:r>
          </a:p>
          <a:p>
            <a:r>
              <a:rPr lang="en-US" altLang="zh-CN" sz="1200" b="1" dirty="0">
                <a:latin typeface="+mn-ea"/>
              </a:rPr>
              <a:t>int main()</a:t>
            </a:r>
          </a:p>
          <a:p>
            <a:r>
              <a:rPr lang="en-US" altLang="zh-CN" sz="1200" b="1" dirty="0">
                <a:latin typeface="+mn-ea"/>
              </a:rPr>
              <a:t>{</a:t>
            </a:r>
          </a:p>
          <a:p>
            <a:r>
              <a:rPr lang="en-US" altLang="zh-CN" sz="1200" b="1" dirty="0">
                <a:latin typeface="+mn-ea"/>
              </a:rPr>
              <a:t>    double a = 0.123456789012345;</a:t>
            </a:r>
          </a:p>
          <a:p>
            <a:endParaRPr lang="zh-CN" altLang="en-US" sz="1200" b="1" dirty="0">
              <a:latin typeface="+mn-ea"/>
            </a:endParaRPr>
          </a:p>
          <a:p>
            <a:r>
              <a:rPr lang="fr-FR" altLang="zh-CN" sz="1200" b="1" dirty="0">
                <a:latin typeface="+mn-ea"/>
              </a:rPr>
              <a:t>    cout &lt;&lt; "0         1         2         3" &lt;&lt; endl;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"0123456789012345678901234567890123456789"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endParaRPr lang="zh-CN" altLang="en-US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setw</a:t>
            </a:r>
            <a:r>
              <a:rPr lang="en-US" altLang="zh-CN" sz="1200" b="1" dirty="0">
                <a:latin typeface="+mn-ea"/>
              </a:rPr>
              <a:t>(6) &lt;&lt; a &lt;&lt; '*'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setw</a:t>
            </a:r>
            <a:r>
              <a:rPr lang="en-US" altLang="zh-CN" sz="1200" b="1" dirty="0">
                <a:latin typeface="+mn-ea"/>
              </a:rPr>
              <a:t>(9) &lt;&lt; a &lt;&lt; '*'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setw</a:t>
            </a:r>
            <a:r>
              <a:rPr lang="en-US" altLang="zh-CN" sz="1200" b="1" dirty="0">
                <a:latin typeface="+mn-ea"/>
              </a:rPr>
              <a:t>(15) &lt;&lt; a &lt;&lt; '*'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setw</a:t>
            </a:r>
            <a:r>
              <a:rPr lang="en-US" altLang="zh-CN" sz="1200" b="1" dirty="0">
                <a:latin typeface="+mn-ea"/>
              </a:rPr>
              <a:t>(30) &lt;&lt; a &lt;&lt; '*'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endParaRPr lang="zh-CN" altLang="en-US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return 0;</a:t>
            </a:r>
          </a:p>
          <a:p>
            <a:r>
              <a:rPr lang="en-US" altLang="zh-CN" sz="1200" b="1" dirty="0">
                <a:latin typeface="+mn-ea"/>
              </a:rPr>
              <a:t>}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C5CE073-0217-4BFF-8DE1-C53D69470CA4}"/>
              </a:ext>
            </a:extLst>
          </p:cNvPr>
          <p:cNvSpPr/>
          <p:nvPr/>
        </p:nvSpPr>
        <p:spPr bwMode="auto">
          <a:xfrm>
            <a:off x="592114" y="4918841"/>
            <a:ext cx="10243297" cy="1615307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结论：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 err="1">
                <a:latin typeface="+mn-ea"/>
              </a:rPr>
              <a:t>setw</a:t>
            </a:r>
            <a:r>
              <a:rPr kumimoji="1" lang="zh-CN" altLang="en-US" sz="1600" b="1" dirty="0">
                <a:latin typeface="+mn-ea"/>
              </a:rPr>
              <a:t>指定的宽度是总宽度，对于实型数据，</a:t>
            </a:r>
            <a:r>
              <a:rPr kumimoji="1" lang="en-US" altLang="zh-CN" sz="1600" b="1" dirty="0">
                <a:latin typeface="+mn-ea"/>
              </a:rPr>
              <a:t>__</a:t>
            </a:r>
            <a:r>
              <a:rPr kumimoji="1" lang="zh-CN" altLang="en-US" sz="1600" b="1" dirty="0">
                <a:latin typeface="+mn-ea"/>
              </a:rPr>
              <a:t>包含</a:t>
            </a:r>
            <a:r>
              <a:rPr kumimoji="1" lang="en-US" altLang="zh-CN" sz="1600" b="1" dirty="0">
                <a:latin typeface="+mn-ea"/>
              </a:rPr>
              <a:t>__(</a:t>
            </a:r>
            <a:r>
              <a:rPr kumimoji="1" lang="zh-CN" altLang="en-US" sz="1600" b="1" dirty="0">
                <a:latin typeface="+mn-ea"/>
              </a:rPr>
              <a:t>包含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不包含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小数点</a:t>
            </a:r>
            <a:endParaRPr kumimoji="1" lang="en-US" altLang="zh-CN" sz="1600" b="1" dirty="0">
              <a:latin typeface="+mn-ea"/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6833A04-5528-AF0E-A136-9D0D11F68B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7369" y="2251458"/>
            <a:ext cx="4178300" cy="173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4443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sz="1200" b="1" dirty="0">
              <a:latin typeface="+mn-ea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en-US" altLang="zh-CN" sz="1600" b="1" dirty="0" err="1">
                <a:latin typeface="+mn-ea"/>
              </a:rPr>
              <a:t>K.setw+setfill</a:t>
            </a:r>
            <a:r>
              <a:rPr lang="zh-CN" altLang="en-US" sz="1600" b="1" dirty="0">
                <a:latin typeface="+mn-ea"/>
              </a:rPr>
              <a:t>的使用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CA606D2-55A2-40E0-8D6D-3A0DF7E73037}"/>
              </a:ext>
            </a:extLst>
          </p:cNvPr>
          <p:cNvSpPr/>
          <p:nvPr/>
        </p:nvSpPr>
        <p:spPr bwMode="auto">
          <a:xfrm>
            <a:off x="592115" y="1323973"/>
            <a:ext cx="668104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200" b="1" dirty="0">
                <a:latin typeface="+mn-ea"/>
              </a:rPr>
              <a:t>#include &lt;iostream&gt;</a:t>
            </a:r>
          </a:p>
          <a:p>
            <a:r>
              <a:rPr lang="en-US" altLang="zh-CN" sz="1200" b="1" dirty="0">
                <a:latin typeface="+mn-ea"/>
              </a:rPr>
              <a:t>#include &lt;</a:t>
            </a:r>
            <a:r>
              <a:rPr lang="en-US" altLang="zh-CN" sz="1200" b="1" dirty="0" err="1">
                <a:latin typeface="+mn-ea"/>
              </a:rPr>
              <a:t>iomanip</a:t>
            </a:r>
            <a:r>
              <a:rPr lang="en-US" altLang="zh-CN" sz="1200" b="1" dirty="0">
                <a:latin typeface="+mn-ea"/>
              </a:rPr>
              <a:t>&gt;</a:t>
            </a:r>
          </a:p>
          <a:p>
            <a:endParaRPr lang="zh-CN" altLang="en-US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using namespace std;</a:t>
            </a:r>
          </a:p>
          <a:p>
            <a:r>
              <a:rPr lang="en-US" altLang="zh-CN" sz="1200" b="1" dirty="0">
                <a:latin typeface="+mn-ea"/>
              </a:rPr>
              <a:t>int main()</a:t>
            </a:r>
          </a:p>
          <a:p>
            <a:r>
              <a:rPr lang="en-US" altLang="zh-CN" sz="1200" b="1" dirty="0">
                <a:latin typeface="+mn-ea"/>
              </a:rPr>
              <a:t>{</a:t>
            </a:r>
          </a:p>
          <a:p>
            <a:r>
              <a:rPr lang="en-US" altLang="zh-CN" sz="1200" b="1" dirty="0">
                <a:latin typeface="+mn-ea"/>
              </a:rPr>
              <a:t>    int a = 12345;</a:t>
            </a:r>
          </a:p>
          <a:p>
            <a:endParaRPr lang="zh-CN" altLang="en-US" sz="1200" b="1" dirty="0">
              <a:latin typeface="+mn-ea"/>
            </a:endParaRPr>
          </a:p>
          <a:p>
            <a:r>
              <a:rPr lang="fr-FR" altLang="zh-CN" sz="1200" b="1" dirty="0">
                <a:latin typeface="+mn-ea"/>
              </a:rPr>
              <a:t>    cout &lt;&lt; "0         1         2         3" &lt;&lt; endl;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"0123456789012345678901234567890123456789"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endParaRPr lang="zh-CN" altLang="en-US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setfill</a:t>
            </a:r>
            <a:r>
              <a:rPr lang="en-US" altLang="zh-CN" sz="1200" b="1" dirty="0">
                <a:latin typeface="+mn-ea"/>
              </a:rPr>
              <a:t>('=') &lt;&lt; </a:t>
            </a:r>
            <a:r>
              <a:rPr lang="en-US" altLang="zh-CN" sz="1200" b="1" dirty="0" err="1">
                <a:latin typeface="+mn-ea"/>
              </a:rPr>
              <a:t>setw</a:t>
            </a:r>
            <a:r>
              <a:rPr lang="en-US" altLang="zh-CN" sz="1200" b="1" dirty="0">
                <a:latin typeface="+mn-ea"/>
              </a:rPr>
              <a:t>(10) &lt;&lt; a &lt;&lt; '#' &lt;&lt; </a:t>
            </a:r>
            <a:r>
              <a:rPr lang="en-US" altLang="zh-CN" sz="1200" b="1" dirty="0" err="1">
                <a:latin typeface="+mn-ea"/>
              </a:rPr>
              <a:t>setw</a:t>
            </a:r>
            <a:r>
              <a:rPr lang="en-US" altLang="zh-CN" sz="1200" b="1" dirty="0">
                <a:latin typeface="+mn-ea"/>
              </a:rPr>
              <a:t>(10) &lt;&lt; a + 1 &lt;&lt; '*'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setw</a:t>
            </a:r>
            <a:r>
              <a:rPr lang="en-US" altLang="zh-CN" sz="1200" b="1" dirty="0">
                <a:latin typeface="+mn-ea"/>
              </a:rPr>
              <a:t>(15) &lt;&lt; </a:t>
            </a:r>
            <a:r>
              <a:rPr lang="en-US" altLang="zh-CN" sz="1200" b="1" dirty="0" err="1">
                <a:latin typeface="+mn-ea"/>
              </a:rPr>
              <a:t>setfill</a:t>
            </a:r>
            <a:r>
              <a:rPr lang="en-US" altLang="zh-CN" sz="1200" b="1" dirty="0">
                <a:latin typeface="+mn-ea"/>
              </a:rPr>
              <a:t>('-') &lt;&lt; a &lt;&lt; '#' &lt;&lt; a + 1 &lt;&lt; '*'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endParaRPr lang="zh-CN" altLang="en-US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return 0;</a:t>
            </a:r>
          </a:p>
          <a:p>
            <a:r>
              <a:rPr lang="en-US" altLang="zh-CN" sz="1200" b="1" dirty="0">
                <a:latin typeface="+mn-ea"/>
              </a:rPr>
              <a:t>}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09CDD72-FB4B-410F-AA54-02896F718219}"/>
              </a:ext>
            </a:extLst>
          </p:cNvPr>
          <p:cNvSpPr/>
          <p:nvPr/>
        </p:nvSpPr>
        <p:spPr bwMode="auto">
          <a:xfrm>
            <a:off x="7273158" y="1323972"/>
            <a:ext cx="3562254" cy="333210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运行截图：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31B6A17-5E7C-4625-90AE-6C7D682CA9B0}"/>
              </a:ext>
            </a:extLst>
          </p:cNvPr>
          <p:cNvSpPr/>
          <p:nvPr/>
        </p:nvSpPr>
        <p:spPr bwMode="auto">
          <a:xfrm>
            <a:off x="588076" y="4656083"/>
            <a:ext cx="10247336" cy="187806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结论：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 err="1">
                <a:latin typeface="+mn-ea"/>
              </a:rPr>
              <a:t>setfill</a:t>
            </a:r>
            <a:r>
              <a:rPr kumimoji="1" lang="zh-CN" altLang="en-US" sz="1600" b="1" dirty="0">
                <a:latin typeface="+mn-ea"/>
              </a:rPr>
              <a:t>的作用是</a:t>
            </a:r>
            <a:r>
              <a:rPr kumimoji="1" lang="en-US" altLang="zh-CN" sz="1600" b="1" dirty="0">
                <a:latin typeface="+mn-ea"/>
              </a:rPr>
              <a:t>_____</a:t>
            </a:r>
            <a:r>
              <a:rPr kumimoji="1" lang="zh-CN" altLang="en-US" sz="1600" b="1" dirty="0">
                <a:latin typeface="+mn-ea"/>
              </a:rPr>
              <a:t>设置填充符</a:t>
            </a:r>
            <a:r>
              <a:rPr kumimoji="1" lang="en-US" altLang="zh-CN" sz="1600" b="1" dirty="0">
                <a:latin typeface="+mn-ea"/>
              </a:rPr>
              <a:t>______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 err="1">
                <a:latin typeface="+mn-ea"/>
              </a:rPr>
              <a:t>setfill</a:t>
            </a:r>
            <a:r>
              <a:rPr kumimoji="1" lang="zh-CN" altLang="en-US" sz="1600" b="1" dirty="0">
                <a:latin typeface="+mn-ea"/>
              </a:rPr>
              <a:t>的设置后，对后面的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kumimoji="1" lang="zh-CN" altLang="en-US" sz="1600" b="1" dirty="0">
                <a:latin typeface="+mn-ea"/>
              </a:rPr>
              <a:t>所有</a:t>
            </a:r>
            <a:r>
              <a:rPr kumimoji="1" lang="en-US" altLang="zh-CN" sz="1600" b="1" dirty="0">
                <a:latin typeface="+mn-ea"/>
              </a:rPr>
              <a:t>___(</a:t>
            </a:r>
            <a:r>
              <a:rPr kumimoji="1" lang="zh-CN" altLang="en-US" sz="1600" b="1" dirty="0">
                <a:latin typeface="+mn-ea"/>
              </a:rPr>
              <a:t>仅一个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所有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数据有效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、解释为什么第</a:t>
            </a:r>
            <a:r>
              <a:rPr kumimoji="1" lang="en-US" altLang="zh-CN" sz="1600" b="1" dirty="0">
                <a:latin typeface="+mn-ea"/>
              </a:rPr>
              <a:t>4</a:t>
            </a:r>
            <a:r>
              <a:rPr kumimoji="1" lang="zh-CN" altLang="en-US" sz="1600" b="1" dirty="0">
                <a:latin typeface="+mn-ea"/>
              </a:rPr>
              <a:t>行的第</a:t>
            </a: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个数</a:t>
            </a:r>
            <a:r>
              <a:rPr kumimoji="1" lang="en-US" altLang="zh-CN" sz="1600" b="1" dirty="0">
                <a:latin typeface="+mn-ea"/>
              </a:rPr>
              <a:t>(12346)</a:t>
            </a:r>
            <a:r>
              <a:rPr kumimoji="1" lang="zh-CN" altLang="en-US" sz="1600" b="1" dirty="0">
                <a:latin typeface="+mn-ea"/>
              </a:rPr>
              <a:t>前面没有</a:t>
            </a:r>
            <a:r>
              <a:rPr kumimoji="1" lang="en-US" altLang="zh-CN" sz="1600" b="1" dirty="0">
                <a:latin typeface="+mn-ea"/>
              </a:rPr>
              <a:t>-</a:t>
            </a:r>
            <a:r>
              <a:rPr kumimoji="1" lang="zh-CN" altLang="en-US" sz="1600" b="1" dirty="0">
                <a:latin typeface="+mn-ea"/>
              </a:rPr>
              <a:t> 答：没有</a:t>
            </a:r>
            <a:r>
              <a:rPr kumimoji="1" lang="en-US" altLang="zh-CN" sz="1600" b="1" dirty="0" err="1">
                <a:latin typeface="+mn-ea"/>
              </a:rPr>
              <a:t>setw</a:t>
            </a:r>
            <a:r>
              <a:rPr kumimoji="1" lang="zh-CN" altLang="en-US" sz="1600" b="1" dirty="0">
                <a:latin typeface="+mn-ea"/>
              </a:rPr>
              <a:t>设置总长度，因此正常输出没有填充。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D1D5051-6983-E4E6-EDEF-91FC89A8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7836" y="2329626"/>
            <a:ext cx="4152900" cy="132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1139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en-US" altLang="zh-CN" sz="1600" b="1" dirty="0" err="1">
                <a:latin typeface="+mn-ea"/>
              </a:rPr>
              <a:t>L.setw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en-US" altLang="zh-CN" sz="1600" b="1" dirty="0" err="1">
                <a:latin typeface="+mn-ea"/>
              </a:rPr>
              <a:t>setfill</a:t>
            </a:r>
            <a:r>
              <a:rPr lang="zh-CN" altLang="en-US" sz="1600" b="1" dirty="0">
                <a:latin typeface="+mn-ea"/>
              </a:rPr>
              <a:t>与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::left/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::right</a:t>
            </a:r>
            <a:r>
              <a:rPr lang="zh-CN" altLang="en-US" sz="1600" b="1" dirty="0">
                <a:latin typeface="+mn-ea"/>
              </a:rPr>
              <a:t>的混合使用 </a:t>
            </a:r>
            <a:r>
              <a:rPr lang="en-US" altLang="zh-CN" sz="1600" b="1" dirty="0">
                <a:latin typeface="+mn-ea"/>
              </a:rPr>
              <a:t>- (1)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31B6A17-5E7C-4625-90AE-6C7D682CA9B0}"/>
              </a:ext>
            </a:extLst>
          </p:cNvPr>
          <p:cNvSpPr/>
          <p:nvPr/>
        </p:nvSpPr>
        <p:spPr bwMode="auto">
          <a:xfrm>
            <a:off x="592115" y="3832160"/>
            <a:ext cx="6901761" cy="270199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200" b="1" dirty="0">
                <a:latin typeface="+mn-ea"/>
              </a:rPr>
              <a:t>#include &lt;iostream&gt;</a:t>
            </a:r>
          </a:p>
          <a:p>
            <a:r>
              <a:rPr lang="en-US" altLang="zh-CN" sz="1200" b="1" dirty="0">
                <a:latin typeface="+mn-ea"/>
              </a:rPr>
              <a:t>#include &lt;</a:t>
            </a:r>
            <a:r>
              <a:rPr lang="en-US" altLang="zh-CN" sz="1200" b="1" dirty="0" err="1">
                <a:latin typeface="+mn-ea"/>
              </a:rPr>
              <a:t>iomanip</a:t>
            </a:r>
            <a:r>
              <a:rPr lang="en-US" altLang="zh-CN" sz="1200" b="1" dirty="0">
                <a:latin typeface="+mn-ea"/>
              </a:rPr>
              <a:t>&gt;</a:t>
            </a: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using namespace std;</a:t>
            </a:r>
          </a:p>
          <a:p>
            <a:r>
              <a:rPr lang="en-US" altLang="zh-CN" sz="1200" b="1" dirty="0">
                <a:latin typeface="+mn-ea"/>
              </a:rPr>
              <a:t>int main()</a:t>
            </a:r>
          </a:p>
          <a:p>
            <a:r>
              <a:rPr lang="en-US" altLang="zh-CN" sz="1200" b="1" dirty="0">
                <a:latin typeface="+mn-ea"/>
              </a:rPr>
              <a:t>{</a:t>
            </a:r>
          </a:p>
          <a:p>
            <a:r>
              <a:rPr lang="en-US" altLang="zh-CN" sz="1200" b="1" dirty="0">
                <a:latin typeface="+mn-ea"/>
              </a:rPr>
              <a:t>    int a = 12345;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"0         1         2         3"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"0123456789012345678901234567890123456789"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setfill</a:t>
            </a:r>
            <a:r>
              <a:rPr lang="en-US" altLang="zh-CN" sz="1200" b="1" dirty="0">
                <a:latin typeface="+mn-ea"/>
              </a:rPr>
              <a:t>('=') &lt;&lt; </a:t>
            </a:r>
            <a:r>
              <a:rPr lang="en-US" altLang="zh-CN" sz="1200" b="1" dirty="0" err="1">
                <a:latin typeface="+mn-ea"/>
              </a:rPr>
              <a:t>setw</a:t>
            </a:r>
            <a:r>
              <a:rPr lang="en-US" altLang="zh-CN" sz="1200" b="1" dirty="0">
                <a:latin typeface="+mn-ea"/>
              </a:rPr>
              <a:t>(10) &lt;&lt; a &lt;&lt; '#' &lt;&lt; </a:t>
            </a:r>
            <a:r>
              <a:rPr lang="en-US" altLang="zh-CN" sz="1200" b="1" dirty="0" err="1">
                <a:latin typeface="+mn-ea"/>
              </a:rPr>
              <a:t>setw</a:t>
            </a:r>
            <a:r>
              <a:rPr lang="en-US" altLang="zh-CN" sz="1200" b="1" dirty="0">
                <a:latin typeface="+mn-ea"/>
              </a:rPr>
              <a:t>(10) &lt;&lt; a + 1 &lt;&lt; '*'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setiosflags</a:t>
            </a:r>
            <a:r>
              <a:rPr lang="en-US" altLang="zh-CN" sz="1200" b="1" dirty="0">
                <a:latin typeface="+mn-ea"/>
              </a:rPr>
              <a:t>(</a:t>
            </a:r>
            <a:r>
              <a:rPr lang="en-US" altLang="zh-CN" sz="1200" b="1" dirty="0" err="1">
                <a:latin typeface="+mn-ea"/>
              </a:rPr>
              <a:t>ios</a:t>
            </a:r>
            <a:r>
              <a:rPr lang="en-US" altLang="zh-CN" sz="1200" b="1" dirty="0">
                <a:latin typeface="+mn-ea"/>
              </a:rPr>
              <a:t>::left);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setfill</a:t>
            </a:r>
            <a:r>
              <a:rPr lang="en-US" altLang="zh-CN" sz="1200" b="1" dirty="0">
                <a:latin typeface="+mn-ea"/>
              </a:rPr>
              <a:t>('=') &lt;&lt; </a:t>
            </a:r>
            <a:r>
              <a:rPr lang="en-US" altLang="zh-CN" sz="1200" b="1" dirty="0" err="1">
                <a:latin typeface="+mn-ea"/>
              </a:rPr>
              <a:t>setw</a:t>
            </a:r>
            <a:r>
              <a:rPr lang="en-US" altLang="zh-CN" sz="1200" b="1" dirty="0">
                <a:latin typeface="+mn-ea"/>
              </a:rPr>
              <a:t>(10) &lt;&lt; a &lt;&lt; '#' &lt;&lt; </a:t>
            </a:r>
            <a:r>
              <a:rPr lang="en-US" altLang="zh-CN" sz="1200" b="1" dirty="0" err="1">
                <a:latin typeface="+mn-ea"/>
              </a:rPr>
              <a:t>setw</a:t>
            </a:r>
            <a:r>
              <a:rPr lang="en-US" altLang="zh-CN" sz="1200" b="1" dirty="0">
                <a:latin typeface="+mn-ea"/>
              </a:rPr>
              <a:t>(10) &lt;&lt; a + 1 &lt;&lt; '*'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return 0;</a:t>
            </a:r>
          </a:p>
          <a:p>
            <a:r>
              <a:rPr lang="en-US" altLang="zh-CN" sz="1200" b="1" dirty="0">
                <a:latin typeface="+mn-ea"/>
              </a:rPr>
              <a:t>}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CA606D2-55A2-40E0-8D6D-3A0DF7E73037}"/>
              </a:ext>
            </a:extLst>
          </p:cNvPr>
          <p:cNvSpPr/>
          <p:nvPr/>
        </p:nvSpPr>
        <p:spPr bwMode="auto">
          <a:xfrm>
            <a:off x="592115" y="1323973"/>
            <a:ext cx="6901761" cy="25081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100" b="1" dirty="0">
                <a:latin typeface="+mn-ea"/>
              </a:rPr>
              <a:t>#include &lt;iostream&gt;</a:t>
            </a:r>
          </a:p>
          <a:p>
            <a:r>
              <a:rPr lang="en-US" altLang="zh-CN" sz="1100" b="1" dirty="0">
                <a:latin typeface="+mn-ea"/>
              </a:rPr>
              <a:t>#include &lt;</a:t>
            </a:r>
            <a:r>
              <a:rPr lang="en-US" altLang="zh-CN" sz="1100" b="1" dirty="0" err="1">
                <a:latin typeface="+mn-ea"/>
              </a:rPr>
              <a:t>iomanip</a:t>
            </a:r>
            <a:r>
              <a:rPr lang="en-US" altLang="zh-CN" sz="1100" b="1" dirty="0">
                <a:latin typeface="+mn-ea"/>
              </a:rPr>
              <a:t>&gt;</a:t>
            </a:r>
          </a:p>
          <a:p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using namespace std;</a:t>
            </a:r>
          </a:p>
          <a:p>
            <a:r>
              <a:rPr lang="en-US" altLang="zh-CN" sz="1100" b="1" dirty="0">
                <a:latin typeface="+mn-ea"/>
              </a:rPr>
              <a:t>int main()</a:t>
            </a:r>
          </a:p>
          <a:p>
            <a:r>
              <a:rPr lang="en-US" altLang="zh-CN" sz="1100" b="1" dirty="0">
                <a:latin typeface="+mn-ea"/>
              </a:rPr>
              <a:t>{</a:t>
            </a:r>
          </a:p>
          <a:p>
            <a:r>
              <a:rPr lang="en-US" altLang="zh-CN" sz="1100" b="1" dirty="0">
                <a:latin typeface="+mn-ea"/>
              </a:rPr>
              <a:t>    int a = 12345;</a:t>
            </a: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"0         1         2         3"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"0123456789012345678901234567890123456789"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setw</a:t>
            </a:r>
            <a:r>
              <a:rPr lang="en-US" altLang="zh-CN" sz="1100" b="1" dirty="0">
                <a:latin typeface="+mn-ea"/>
              </a:rPr>
              <a:t>(10) &lt;&lt; a &lt;&lt; '#' &lt;&lt; </a:t>
            </a:r>
            <a:r>
              <a:rPr lang="en-US" altLang="zh-CN" sz="1100" b="1" dirty="0" err="1">
                <a:latin typeface="+mn-ea"/>
              </a:rPr>
              <a:t>setw</a:t>
            </a:r>
            <a:r>
              <a:rPr lang="en-US" altLang="zh-CN" sz="1100" b="1" dirty="0">
                <a:latin typeface="+mn-ea"/>
              </a:rPr>
              <a:t>(10) &lt;&lt; a + 1 &lt;&lt; '*'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setiosflags</a:t>
            </a:r>
            <a:r>
              <a:rPr lang="en-US" altLang="zh-CN" sz="1100" b="1" dirty="0">
                <a:latin typeface="+mn-ea"/>
              </a:rPr>
              <a:t>(</a:t>
            </a:r>
            <a:r>
              <a:rPr lang="en-US" altLang="zh-CN" sz="1100" b="1" dirty="0" err="1">
                <a:latin typeface="+mn-ea"/>
              </a:rPr>
              <a:t>ios</a:t>
            </a:r>
            <a:r>
              <a:rPr lang="en-US" altLang="zh-CN" sz="1100" b="1" dirty="0">
                <a:latin typeface="+mn-ea"/>
              </a:rPr>
              <a:t>::left);</a:t>
            </a: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setw</a:t>
            </a:r>
            <a:r>
              <a:rPr lang="en-US" altLang="zh-CN" sz="1100" b="1" dirty="0">
                <a:latin typeface="+mn-ea"/>
              </a:rPr>
              <a:t>(10) &lt;&lt; a &lt;&lt; '#' &lt;&lt; </a:t>
            </a:r>
            <a:r>
              <a:rPr lang="en-US" altLang="zh-CN" sz="1100" b="1" dirty="0" err="1">
                <a:latin typeface="+mn-ea"/>
              </a:rPr>
              <a:t>setw</a:t>
            </a:r>
            <a:r>
              <a:rPr lang="en-US" altLang="zh-CN" sz="1100" b="1" dirty="0">
                <a:latin typeface="+mn-ea"/>
              </a:rPr>
              <a:t>(10) &lt;&lt; a + 1 &lt;&lt; '*'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</a:p>
          <a:p>
            <a:r>
              <a:rPr lang="en-US" altLang="zh-CN" sz="1100" b="1" dirty="0">
                <a:latin typeface="+mn-ea"/>
              </a:rPr>
              <a:t>    return 0;</a:t>
            </a:r>
          </a:p>
          <a:p>
            <a:r>
              <a:rPr lang="en-US" altLang="zh-CN" sz="1100" b="1" dirty="0">
                <a:latin typeface="+mn-ea"/>
              </a:rPr>
              <a:t>}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32164CD-4F8F-4A0F-B90D-84749264FDD1}"/>
              </a:ext>
            </a:extLst>
          </p:cNvPr>
          <p:cNvSpPr/>
          <p:nvPr/>
        </p:nvSpPr>
        <p:spPr bwMode="auto">
          <a:xfrm>
            <a:off x="7493876" y="1323973"/>
            <a:ext cx="3341536" cy="250818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运行截图：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40BA480-9B03-4433-A2D5-0CAC0E7C79E2}"/>
              </a:ext>
            </a:extLst>
          </p:cNvPr>
          <p:cNvSpPr/>
          <p:nvPr/>
        </p:nvSpPr>
        <p:spPr bwMode="auto">
          <a:xfrm>
            <a:off x="7493876" y="3832158"/>
            <a:ext cx="3341536" cy="2701991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运行截图：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3B780A1-11FE-4A73-8A14-82B7DDA2A631}"/>
              </a:ext>
            </a:extLst>
          </p:cNvPr>
          <p:cNvSpPr/>
          <p:nvPr/>
        </p:nvSpPr>
        <p:spPr bwMode="auto">
          <a:xfrm>
            <a:off x="2854273" y="3832157"/>
            <a:ext cx="4643641" cy="9421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结论：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 err="1">
                <a:latin typeface="+mn-ea"/>
              </a:rPr>
              <a:t>ios</a:t>
            </a:r>
            <a:r>
              <a:rPr kumimoji="1" lang="en-US" altLang="zh-CN" sz="1600" b="1" dirty="0">
                <a:latin typeface="+mn-ea"/>
              </a:rPr>
              <a:t>::left</a:t>
            </a:r>
            <a:r>
              <a:rPr kumimoji="1" lang="zh-CN" altLang="en-US" sz="1600" b="1" dirty="0">
                <a:latin typeface="+mn-ea"/>
              </a:rPr>
              <a:t>的作用是</a:t>
            </a:r>
            <a:r>
              <a:rPr kumimoji="1" lang="en-US" altLang="zh-CN" sz="1600" b="1" dirty="0">
                <a:latin typeface="+mn-ea"/>
              </a:rPr>
              <a:t>__</a:t>
            </a:r>
            <a:r>
              <a:rPr kumimoji="1" lang="zh-CN" altLang="en-US" sz="1600" b="1" dirty="0">
                <a:latin typeface="+mn-ea"/>
              </a:rPr>
              <a:t>将程序设置为左对齐</a:t>
            </a:r>
            <a:r>
              <a:rPr kumimoji="1" lang="en-US" altLang="zh-CN" sz="1600" b="1" dirty="0">
                <a:latin typeface="+mn-ea"/>
              </a:rPr>
              <a:t>__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、如果不设置，缺省是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kumimoji="1" lang="zh-CN" altLang="en-US" sz="1600" b="1" dirty="0">
                <a:latin typeface="+mn-ea"/>
              </a:rPr>
              <a:t>右</a:t>
            </a:r>
            <a:r>
              <a:rPr kumimoji="1" lang="en-US" altLang="zh-CN" sz="1600" b="1" dirty="0">
                <a:latin typeface="+mn-ea"/>
              </a:rPr>
              <a:t>___(</a:t>
            </a:r>
            <a:r>
              <a:rPr kumimoji="1" lang="zh-CN" altLang="en-US" sz="1600" b="1" dirty="0">
                <a:latin typeface="+mn-ea"/>
              </a:rPr>
              <a:t>左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右对齐</a:t>
            </a:r>
            <a:r>
              <a:rPr kumimoji="1" lang="en-US" altLang="zh-CN" sz="1600" b="1" dirty="0">
                <a:latin typeface="+mn-ea"/>
              </a:rPr>
              <a:t>)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A8D2093-3B66-8657-FE31-568DF0BEFB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3876" y="2037843"/>
            <a:ext cx="3333058" cy="1080441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764084E-0154-FCC8-F96E-8F5E020402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5398" y="4646669"/>
            <a:ext cx="3341536" cy="1072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3401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sz="1200" b="1" dirty="0">
              <a:latin typeface="+mn-ea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en-US" altLang="zh-CN" sz="1600" b="1" dirty="0" err="1">
                <a:latin typeface="+mn-ea"/>
              </a:rPr>
              <a:t>L.setw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en-US" altLang="zh-CN" sz="1600" b="1" dirty="0" err="1">
                <a:latin typeface="+mn-ea"/>
              </a:rPr>
              <a:t>setfill</a:t>
            </a:r>
            <a:r>
              <a:rPr lang="zh-CN" altLang="en-US" sz="1600" b="1" dirty="0">
                <a:latin typeface="+mn-ea"/>
              </a:rPr>
              <a:t>与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::left/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::right</a:t>
            </a:r>
            <a:r>
              <a:rPr lang="zh-CN" altLang="en-US" sz="1600" b="1" dirty="0">
                <a:latin typeface="+mn-ea"/>
              </a:rPr>
              <a:t>的混合使用 </a:t>
            </a:r>
            <a:r>
              <a:rPr lang="en-US" altLang="zh-CN" sz="1600" b="1" dirty="0">
                <a:latin typeface="+mn-ea"/>
              </a:rPr>
              <a:t>- (2) - </a:t>
            </a:r>
            <a:r>
              <a:rPr lang="zh-CN" altLang="en-US" sz="1600" b="1" dirty="0">
                <a:latin typeface="+mn-ea"/>
              </a:rPr>
              <a:t>同时使用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错误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CA606D2-55A2-40E0-8D6D-3A0DF7E73037}"/>
              </a:ext>
            </a:extLst>
          </p:cNvPr>
          <p:cNvSpPr/>
          <p:nvPr/>
        </p:nvSpPr>
        <p:spPr bwMode="auto">
          <a:xfrm>
            <a:off x="592115" y="1323973"/>
            <a:ext cx="6897723" cy="278557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100" b="1" dirty="0">
                <a:latin typeface="+mn-ea"/>
              </a:rPr>
              <a:t>#include &lt;iostream&gt;</a:t>
            </a:r>
          </a:p>
          <a:p>
            <a:r>
              <a:rPr lang="en-US" altLang="zh-CN" sz="1100" b="1" dirty="0">
                <a:latin typeface="+mn-ea"/>
              </a:rPr>
              <a:t>#include &lt;</a:t>
            </a:r>
            <a:r>
              <a:rPr lang="en-US" altLang="zh-CN" sz="1100" b="1" dirty="0" err="1">
                <a:latin typeface="+mn-ea"/>
              </a:rPr>
              <a:t>iomanip</a:t>
            </a:r>
            <a:r>
              <a:rPr lang="en-US" altLang="zh-CN" sz="1100" b="1" dirty="0">
                <a:latin typeface="+mn-ea"/>
              </a:rPr>
              <a:t>&gt;</a:t>
            </a:r>
          </a:p>
          <a:p>
            <a:r>
              <a:rPr lang="en-US" altLang="zh-CN" sz="1100" b="1" dirty="0">
                <a:latin typeface="+mn-ea"/>
              </a:rPr>
              <a:t>using namespace std;</a:t>
            </a:r>
          </a:p>
          <a:p>
            <a:r>
              <a:rPr lang="en-US" altLang="zh-CN" sz="1100" b="1" dirty="0">
                <a:latin typeface="+mn-ea"/>
              </a:rPr>
              <a:t>int main()</a:t>
            </a:r>
          </a:p>
          <a:p>
            <a:r>
              <a:rPr lang="en-US" altLang="zh-CN" sz="1100" b="1" dirty="0">
                <a:latin typeface="+mn-ea"/>
              </a:rPr>
              <a:t>{</a:t>
            </a:r>
          </a:p>
          <a:p>
            <a:r>
              <a:rPr lang="en-US" altLang="zh-CN" sz="1100" b="1" dirty="0">
                <a:latin typeface="+mn-ea"/>
              </a:rPr>
              <a:t>    int a = 12345;</a:t>
            </a:r>
          </a:p>
          <a:p>
            <a:r>
              <a:rPr lang="fr-FR" altLang="zh-CN" sz="1100" b="1" dirty="0">
                <a:latin typeface="+mn-ea"/>
              </a:rPr>
              <a:t>    cout &lt;&lt; "0         1         2         3" &lt;&lt; endl;</a:t>
            </a: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"0123456789012345678901234567890123456789"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</a:p>
          <a:p>
            <a:r>
              <a:rPr lang="zh-CN" altLang="en-US" sz="1100" b="1" dirty="0">
                <a:latin typeface="+mn-ea"/>
              </a:rPr>
              <a:t>    </a:t>
            </a:r>
            <a:r>
              <a:rPr lang="en-US" altLang="zh-CN" sz="1100" b="1" dirty="0">
                <a:latin typeface="+mn-ea"/>
              </a:rPr>
              <a:t>/* </a:t>
            </a:r>
            <a:r>
              <a:rPr lang="zh-CN" altLang="en-US" sz="1100" b="1" dirty="0">
                <a:latin typeface="+mn-ea"/>
              </a:rPr>
              <a:t>左对齐 *</a:t>
            </a:r>
            <a:r>
              <a:rPr lang="en-US" altLang="zh-CN" sz="1100" b="1" dirty="0">
                <a:latin typeface="+mn-ea"/>
              </a:rPr>
              <a:t>/</a:t>
            </a:r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setiosflags</a:t>
            </a:r>
            <a:r>
              <a:rPr lang="en-US" altLang="zh-CN" sz="1100" b="1" dirty="0">
                <a:latin typeface="+mn-ea"/>
              </a:rPr>
              <a:t>(</a:t>
            </a:r>
            <a:r>
              <a:rPr lang="en-US" altLang="zh-CN" sz="1100" b="1" dirty="0" err="1">
                <a:latin typeface="+mn-ea"/>
              </a:rPr>
              <a:t>ios</a:t>
            </a:r>
            <a:r>
              <a:rPr lang="en-US" altLang="zh-CN" sz="1100" b="1" dirty="0">
                <a:latin typeface="+mn-ea"/>
              </a:rPr>
              <a:t>::left) &lt;&lt; </a:t>
            </a:r>
            <a:r>
              <a:rPr lang="en-US" altLang="zh-CN" sz="1100" b="1" dirty="0" err="1">
                <a:latin typeface="+mn-ea"/>
              </a:rPr>
              <a:t>setw</a:t>
            </a:r>
            <a:r>
              <a:rPr lang="en-US" altLang="zh-CN" sz="1100" b="1" dirty="0">
                <a:latin typeface="+mn-ea"/>
              </a:rPr>
              <a:t>(10) &lt;&lt; a &lt;&lt; '#' &lt;&lt; </a:t>
            </a:r>
            <a:r>
              <a:rPr lang="en-US" altLang="zh-CN" sz="1100" b="1" dirty="0" err="1">
                <a:latin typeface="+mn-ea"/>
              </a:rPr>
              <a:t>setw</a:t>
            </a:r>
            <a:r>
              <a:rPr lang="en-US" altLang="zh-CN" sz="1100" b="1" dirty="0">
                <a:latin typeface="+mn-ea"/>
              </a:rPr>
              <a:t>(10) &lt;&lt; a + 1 &lt;&lt; '*'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</a:p>
          <a:p>
            <a:r>
              <a:rPr lang="zh-CN" altLang="en-US" sz="1100" b="1" dirty="0">
                <a:latin typeface="+mn-ea"/>
              </a:rPr>
              <a:t>    </a:t>
            </a:r>
            <a:r>
              <a:rPr lang="en-US" altLang="zh-CN" sz="1100" b="1" dirty="0">
                <a:latin typeface="+mn-ea"/>
              </a:rPr>
              <a:t>/* </a:t>
            </a:r>
            <a:r>
              <a:rPr lang="zh-CN" altLang="en-US" sz="1100" b="1" dirty="0">
                <a:latin typeface="+mn-ea"/>
              </a:rPr>
              <a:t>右对齐 *</a:t>
            </a:r>
            <a:r>
              <a:rPr lang="en-US" altLang="zh-CN" sz="1100" b="1" dirty="0">
                <a:latin typeface="+mn-ea"/>
              </a:rPr>
              <a:t>/</a:t>
            </a:r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setiosflags</a:t>
            </a:r>
            <a:r>
              <a:rPr lang="en-US" altLang="zh-CN" sz="1100" b="1" dirty="0">
                <a:latin typeface="+mn-ea"/>
              </a:rPr>
              <a:t>(</a:t>
            </a:r>
            <a:r>
              <a:rPr lang="en-US" altLang="zh-CN" sz="1100" b="1" dirty="0" err="1">
                <a:latin typeface="+mn-ea"/>
              </a:rPr>
              <a:t>ios</a:t>
            </a:r>
            <a:r>
              <a:rPr lang="en-US" altLang="zh-CN" sz="1100" b="1" dirty="0">
                <a:latin typeface="+mn-ea"/>
              </a:rPr>
              <a:t>::right) &lt;&lt; </a:t>
            </a:r>
            <a:r>
              <a:rPr lang="en-US" altLang="zh-CN" sz="1100" b="1" dirty="0" err="1">
                <a:latin typeface="+mn-ea"/>
              </a:rPr>
              <a:t>setw</a:t>
            </a:r>
            <a:r>
              <a:rPr lang="en-US" altLang="zh-CN" sz="1100" b="1" dirty="0">
                <a:latin typeface="+mn-ea"/>
              </a:rPr>
              <a:t>(10) &lt;&lt; a &lt;&lt; '#' &lt;&lt; </a:t>
            </a:r>
            <a:r>
              <a:rPr lang="en-US" altLang="zh-CN" sz="1100" b="1" dirty="0" err="1">
                <a:latin typeface="+mn-ea"/>
              </a:rPr>
              <a:t>setw</a:t>
            </a:r>
            <a:r>
              <a:rPr lang="en-US" altLang="zh-CN" sz="1100" b="1" dirty="0">
                <a:latin typeface="+mn-ea"/>
              </a:rPr>
              <a:t>(10) &lt;&lt; a + 1 &lt;&lt; '*'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</a:p>
          <a:p>
            <a:r>
              <a:rPr lang="zh-CN" altLang="en-US" sz="1100" b="1" dirty="0">
                <a:latin typeface="+mn-ea"/>
              </a:rPr>
              <a:t>    </a:t>
            </a:r>
            <a:r>
              <a:rPr lang="en-US" altLang="zh-CN" sz="1100" b="1" dirty="0">
                <a:latin typeface="+mn-ea"/>
              </a:rPr>
              <a:t>/* </a:t>
            </a:r>
            <a:r>
              <a:rPr lang="zh-CN" altLang="en-US" sz="1100" b="1" dirty="0">
                <a:latin typeface="+mn-ea"/>
              </a:rPr>
              <a:t>左对齐 *</a:t>
            </a:r>
            <a:r>
              <a:rPr lang="en-US" altLang="zh-CN" sz="1100" b="1" dirty="0">
                <a:latin typeface="+mn-ea"/>
              </a:rPr>
              <a:t>/</a:t>
            </a:r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setiosflags</a:t>
            </a:r>
            <a:r>
              <a:rPr lang="en-US" altLang="zh-CN" sz="1100" b="1" dirty="0">
                <a:latin typeface="+mn-ea"/>
              </a:rPr>
              <a:t>(</a:t>
            </a:r>
            <a:r>
              <a:rPr lang="en-US" altLang="zh-CN" sz="1100" b="1" dirty="0" err="1">
                <a:latin typeface="+mn-ea"/>
              </a:rPr>
              <a:t>ios</a:t>
            </a:r>
            <a:r>
              <a:rPr lang="en-US" altLang="zh-CN" sz="1100" b="1" dirty="0">
                <a:latin typeface="+mn-ea"/>
              </a:rPr>
              <a:t>::left) &lt;&lt; </a:t>
            </a:r>
            <a:r>
              <a:rPr lang="en-US" altLang="zh-CN" sz="1100" b="1" dirty="0" err="1">
                <a:latin typeface="+mn-ea"/>
              </a:rPr>
              <a:t>setw</a:t>
            </a:r>
            <a:r>
              <a:rPr lang="en-US" altLang="zh-CN" sz="1100" b="1" dirty="0">
                <a:latin typeface="+mn-ea"/>
              </a:rPr>
              <a:t>(10) &lt;&lt; a &lt;&lt; '#' &lt;&lt; </a:t>
            </a:r>
            <a:r>
              <a:rPr lang="en-US" altLang="zh-CN" sz="1100" b="1" dirty="0" err="1">
                <a:latin typeface="+mn-ea"/>
              </a:rPr>
              <a:t>setw</a:t>
            </a:r>
            <a:r>
              <a:rPr lang="en-US" altLang="zh-CN" sz="1100" b="1" dirty="0">
                <a:latin typeface="+mn-ea"/>
              </a:rPr>
              <a:t>(10) &lt;&lt; a + 1 &lt;&lt; '*'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</a:p>
          <a:p>
            <a:r>
              <a:rPr lang="en-US" altLang="zh-CN" sz="1100" b="1" dirty="0">
                <a:latin typeface="+mn-ea"/>
              </a:rPr>
              <a:t>    return 0;</a:t>
            </a:r>
          </a:p>
          <a:p>
            <a:r>
              <a:rPr lang="en-US" altLang="zh-CN" sz="1100" b="1" dirty="0">
                <a:latin typeface="+mn-ea"/>
              </a:rPr>
              <a:t>}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32164CD-4F8F-4A0F-B90D-84749264FDD1}"/>
              </a:ext>
            </a:extLst>
          </p:cNvPr>
          <p:cNvSpPr/>
          <p:nvPr/>
        </p:nvSpPr>
        <p:spPr bwMode="auto">
          <a:xfrm>
            <a:off x="7489838" y="1323972"/>
            <a:ext cx="3345574" cy="2785571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运行截图：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40BA480-9B03-4433-A2D5-0CAC0E7C79E2}"/>
              </a:ext>
            </a:extLst>
          </p:cNvPr>
          <p:cNvSpPr/>
          <p:nvPr/>
        </p:nvSpPr>
        <p:spPr bwMode="auto">
          <a:xfrm>
            <a:off x="7489838" y="4109545"/>
            <a:ext cx="3345574" cy="242460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运行截图：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A01A248-64DE-4177-A73B-DD4C6923EDAB}"/>
              </a:ext>
            </a:extLst>
          </p:cNvPr>
          <p:cNvSpPr/>
          <p:nvPr/>
        </p:nvSpPr>
        <p:spPr bwMode="auto">
          <a:xfrm>
            <a:off x="592115" y="4109545"/>
            <a:ext cx="6897723" cy="242460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100" b="1" dirty="0">
                <a:latin typeface="+mn-ea"/>
              </a:rPr>
              <a:t>#include &lt;iostream&gt;</a:t>
            </a:r>
          </a:p>
          <a:p>
            <a:r>
              <a:rPr lang="en-US" altLang="zh-CN" sz="1100" b="1" dirty="0">
                <a:latin typeface="+mn-ea"/>
              </a:rPr>
              <a:t>#include &lt;</a:t>
            </a:r>
            <a:r>
              <a:rPr lang="en-US" altLang="zh-CN" sz="1100" b="1" dirty="0" err="1">
                <a:latin typeface="+mn-ea"/>
              </a:rPr>
              <a:t>iomanip</a:t>
            </a:r>
            <a:r>
              <a:rPr lang="en-US" altLang="zh-CN" sz="1100" b="1" dirty="0">
                <a:latin typeface="+mn-ea"/>
              </a:rPr>
              <a:t>&gt;</a:t>
            </a:r>
          </a:p>
          <a:p>
            <a:r>
              <a:rPr lang="en-US" altLang="zh-CN" sz="1100" b="1" dirty="0">
                <a:latin typeface="+mn-ea"/>
              </a:rPr>
              <a:t>using namespace std;</a:t>
            </a:r>
          </a:p>
          <a:p>
            <a:r>
              <a:rPr lang="en-US" altLang="zh-CN" sz="1100" b="1" dirty="0">
                <a:latin typeface="+mn-ea"/>
              </a:rPr>
              <a:t>int main()</a:t>
            </a:r>
          </a:p>
          <a:p>
            <a:r>
              <a:rPr lang="en-US" altLang="zh-CN" sz="1100" b="1" dirty="0">
                <a:latin typeface="+mn-ea"/>
              </a:rPr>
              <a:t>{</a:t>
            </a:r>
          </a:p>
          <a:p>
            <a:r>
              <a:rPr lang="en-US" altLang="zh-CN" sz="1100" b="1" dirty="0">
                <a:latin typeface="+mn-ea"/>
              </a:rPr>
              <a:t>    int a = 12345;</a:t>
            </a:r>
          </a:p>
          <a:p>
            <a:r>
              <a:rPr lang="fr-FR" altLang="zh-CN" sz="1100" b="1" dirty="0">
                <a:latin typeface="+mn-ea"/>
              </a:rPr>
              <a:t>    cout &lt;&lt; "0         1         2         3" &lt;&lt; endl;</a:t>
            </a: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"0123456789012345678901234567890123456789"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</a:p>
          <a:p>
            <a:r>
              <a:rPr lang="zh-CN" altLang="en-US" sz="1100" b="1" dirty="0">
                <a:latin typeface="+mn-ea"/>
              </a:rPr>
              <a:t>    </a:t>
            </a:r>
            <a:r>
              <a:rPr lang="en-US" altLang="zh-CN" sz="1100" b="1" dirty="0">
                <a:latin typeface="+mn-ea"/>
              </a:rPr>
              <a:t>/* </a:t>
            </a:r>
            <a:r>
              <a:rPr lang="zh-CN" altLang="en-US" sz="1100" b="1" dirty="0">
                <a:latin typeface="+mn-ea"/>
              </a:rPr>
              <a:t>右对齐 *</a:t>
            </a:r>
            <a:r>
              <a:rPr lang="en-US" altLang="zh-CN" sz="1100" b="1" dirty="0">
                <a:latin typeface="+mn-ea"/>
              </a:rPr>
              <a:t>/</a:t>
            </a:r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setiosflags</a:t>
            </a:r>
            <a:r>
              <a:rPr lang="en-US" altLang="zh-CN" sz="1100" b="1" dirty="0">
                <a:latin typeface="+mn-ea"/>
              </a:rPr>
              <a:t>(</a:t>
            </a:r>
            <a:r>
              <a:rPr lang="en-US" altLang="zh-CN" sz="1100" b="1" dirty="0" err="1">
                <a:latin typeface="+mn-ea"/>
              </a:rPr>
              <a:t>ios</a:t>
            </a:r>
            <a:r>
              <a:rPr lang="en-US" altLang="zh-CN" sz="1100" b="1" dirty="0">
                <a:latin typeface="+mn-ea"/>
              </a:rPr>
              <a:t>::right) &lt;&lt; </a:t>
            </a:r>
            <a:r>
              <a:rPr lang="en-US" altLang="zh-CN" sz="1100" b="1" dirty="0" err="1">
                <a:latin typeface="+mn-ea"/>
              </a:rPr>
              <a:t>setw</a:t>
            </a:r>
            <a:r>
              <a:rPr lang="en-US" altLang="zh-CN" sz="1100" b="1" dirty="0">
                <a:latin typeface="+mn-ea"/>
              </a:rPr>
              <a:t>(10) &lt;&lt; a &lt;&lt; '#' &lt;&lt; </a:t>
            </a:r>
            <a:r>
              <a:rPr lang="en-US" altLang="zh-CN" sz="1100" b="1" dirty="0" err="1">
                <a:latin typeface="+mn-ea"/>
              </a:rPr>
              <a:t>setw</a:t>
            </a:r>
            <a:r>
              <a:rPr lang="en-US" altLang="zh-CN" sz="1100" b="1" dirty="0">
                <a:latin typeface="+mn-ea"/>
              </a:rPr>
              <a:t>(10) &lt;&lt; a + 1 &lt;&lt; '*'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</a:p>
          <a:p>
            <a:r>
              <a:rPr lang="zh-CN" altLang="en-US" sz="1100" b="1" dirty="0">
                <a:latin typeface="+mn-ea"/>
              </a:rPr>
              <a:t>    </a:t>
            </a:r>
            <a:r>
              <a:rPr lang="en-US" altLang="zh-CN" sz="1100" b="1" dirty="0">
                <a:latin typeface="+mn-ea"/>
              </a:rPr>
              <a:t>/* </a:t>
            </a:r>
            <a:r>
              <a:rPr lang="zh-CN" altLang="en-US" sz="1100" b="1" dirty="0">
                <a:latin typeface="+mn-ea"/>
              </a:rPr>
              <a:t>左对齐 *</a:t>
            </a:r>
            <a:r>
              <a:rPr lang="en-US" altLang="zh-CN" sz="1100" b="1" dirty="0">
                <a:latin typeface="+mn-ea"/>
              </a:rPr>
              <a:t>/</a:t>
            </a:r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setiosflags</a:t>
            </a:r>
            <a:r>
              <a:rPr lang="en-US" altLang="zh-CN" sz="1100" b="1" dirty="0">
                <a:latin typeface="+mn-ea"/>
              </a:rPr>
              <a:t>(</a:t>
            </a:r>
            <a:r>
              <a:rPr lang="en-US" altLang="zh-CN" sz="1100" b="1" dirty="0" err="1">
                <a:latin typeface="+mn-ea"/>
              </a:rPr>
              <a:t>ios</a:t>
            </a:r>
            <a:r>
              <a:rPr lang="en-US" altLang="zh-CN" sz="1100" b="1" dirty="0">
                <a:latin typeface="+mn-ea"/>
              </a:rPr>
              <a:t>::left) &lt;&lt; </a:t>
            </a:r>
            <a:r>
              <a:rPr lang="en-US" altLang="zh-CN" sz="1100" b="1" dirty="0" err="1">
                <a:latin typeface="+mn-ea"/>
              </a:rPr>
              <a:t>setw</a:t>
            </a:r>
            <a:r>
              <a:rPr lang="en-US" altLang="zh-CN" sz="1100" b="1" dirty="0">
                <a:latin typeface="+mn-ea"/>
              </a:rPr>
              <a:t>(10) &lt;&lt; a &lt;&lt; '#' &lt;&lt; </a:t>
            </a:r>
            <a:r>
              <a:rPr lang="en-US" altLang="zh-CN" sz="1100" b="1" dirty="0" err="1">
                <a:latin typeface="+mn-ea"/>
              </a:rPr>
              <a:t>setw</a:t>
            </a:r>
            <a:r>
              <a:rPr lang="en-US" altLang="zh-CN" sz="1100" b="1" dirty="0">
                <a:latin typeface="+mn-ea"/>
              </a:rPr>
              <a:t>(10) &lt;&lt; a + 1 &lt;&lt; '*'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</a:p>
          <a:p>
            <a:r>
              <a:rPr lang="en-US" altLang="zh-CN" sz="1100" b="1" dirty="0">
                <a:latin typeface="+mn-ea"/>
              </a:rPr>
              <a:t>    return 0;</a:t>
            </a:r>
          </a:p>
          <a:p>
            <a:r>
              <a:rPr lang="en-US" altLang="zh-CN" sz="1100" b="1" dirty="0">
                <a:latin typeface="+mn-ea"/>
              </a:rPr>
              <a:t>}</a:t>
            </a:r>
          </a:p>
        </p:txBody>
      </p:sp>
      <p:pic>
        <p:nvPicPr>
          <p:cNvPr id="4" name="Picture 3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9CCAB6AF-0DB7-D0C2-25CE-AA3F94969F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9838" y="1973755"/>
            <a:ext cx="3345574" cy="1255877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7C42502-378A-E82B-8233-3972763464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5800" y="4767672"/>
            <a:ext cx="3345574" cy="110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4502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sz="1200" b="1" dirty="0">
              <a:latin typeface="+mn-ea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en-US" altLang="zh-CN" sz="1600" b="1" dirty="0" err="1">
                <a:latin typeface="+mn-ea"/>
              </a:rPr>
              <a:t>L.setw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en-US" altLang="zh-CN" sz="1600" b="1" dirty="0" err="1">
                <a:latin typeface="+mn-ea"/>
              </a:rPr>
              <a:t>setfill</a:t>
            </a:r>
            <a:r>
              <a:rPr lang="zh-CN" altLang="en-US" sz="1600" b="1" dirty="0">
                <a:latin typeface="+mn-ea"/>
              </a:rPr>
              <a:t>与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::left/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::right</a:t>
            </a:r>
            <a:r>
              <a:rPr lang="zh-CN" altLang="en-US" sz="1600" b="1" dirty="0">
                <a:latin typeface="+mn-ea"/>
              </a:rPr>
              <a:t>的混合使用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在上一页的基础上将程序改正确，并给出截图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CA606D2-55A2-40E0-8D6D-3A0DF7E73037}"/>
              </a:ext>
            </a:extLst>
          </p:cNvPr>
          <p:cNvSpPr/>
          <p:nvPr/>
        </p:nvSpPr>
        <p:spPr bwMode="auto">
          <a:xfrm>
            <a:off x="592115" y="1323973"/>
            <a:ext cx="6897723" cy="278557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100" b="1" dirty="0">
                <a:latin typeface="+mn-ea"/>
              </a:rPr>
              <a:t>#include &lt;iostream&gt;</a:t>
            </a:r>
          </a:p>
          <a:p>
            <a:r>
              <a:rPr lang="en-US" altLang="zh-CN" sz="1100" b="1" dirty="0">
                <a:latin typeface="+mn-ea"/>
              </a:rPr>
              <a:t>#include &lt;</a:t>
            </a:r>
            <a:r>
              <a:rPr lang="en-US" altLang="zh-CN" sz="1100" b="1" dirty="0" err="1">
                <a:latin typeface="+mn-ea"/>
              </a:rPr>
              <a:t>iomanip</a:t>
            </a:r>
            <a:r>
              <a:rPr lang="en-US" altLang="zh-CN" sz="1100" b="1" dirty="0">
                <a:latin typeface="+mn-ea"/>
              </a:rPr>
              <a:t>&gt;</a:t>
            </a:r>
          </a:p>
          <a:p>
            <a:r>
              <a:rPr lang="en-US" altLang="zh-CN" sz="1100" b="1" dirty="0">
                <a:latin typeface="+mn-ea"/>
              </a:rPr>
              <a:t>using namespace std;</a:t>
            </a:r>
          </a:p>
          <a:p>
            <a:r>
              <a:rPr lang="en-US" altLang="zh-CN" sz="1100" b="1" dirty="0">
                <a:latin typeface="+mn-ea"/>
              </a:rPr>
              <a:t>int main()</a:t>
            </a:r>
          </a:p>
          <a:p>
            <a:r>
              <a:rPr lang="en-US" altLang="zh-CN" sz="1100" b="1" dirty="0">
                <a:latin typeface="+mn-ea"/>
              </a:rPr>
              <a:t>{</a:t>
            </a:r>
          </a:p>
          <a:p>
            <a:r>
              <a:rPr lang="en-US" altLang="zh-CN" sz="1100" b="1" dirty="0">
                <a:latin typeface="+mn-ea"/>
              </a:rPr>
              <a:t>    int a = 12345;</a:t>
            </a:r>
          </a:p>
          <a:p>
            <a:r>
              <a:rPr lang="fr-FR" altLang="zh-CN" sz="1100" b="1" dirty="0">
                <a:latin typeface="+mn-ea"/>
              </a:rPr>
              <a:t>    cout &lt;&lt; "0         1         2         3" &lt;&lt; endl;</a:t>
            </a: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"0123456789012345678901234567890123456789"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</a:p>
          <a:p>
            <a:r>
              <a:rPr lang="zh-CN" altLang="en-US" sz="1100" b="1" dirty="0">
                <a:latin typeface="+mn-ea"/>
              </a:rPr>
              <a:t>    </a:t>
            </a:r>
            <a:r>
              <a:rPr lang="en-US" altLang="zh-CN" sz="1100" b="1" dirty="0">
                <a:latin typeface="+mn-ea"/>
              </a:rPr>
              <a:t>/* </a:t>
            </a:r>
            <a:r>
              <a:rPr lang="zh-CN" altLang="en-US" sz="1100" b="1" dirty="0">
                <a:latin typeface="+mn-ea"/>
              </a:rPr>
              <a:t>左对齐 *</a:t>
            </a:r>
            <a:r>
              <a:rPr lang="en-US" altLang="zh-CN" sz="1100" b="1" dirty="0">
                <a:latin typeface="+mn-ea"/>
              </a:rPr>
              <a:t>/</a:t>
            </a:r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setiosflags</a:t>
            </a:r>
            <a:r>
              <a:rPr lang="en-US" altLang="zh-CN" sz="1100" b="1" dirty="0">
                <a:latin typeface="+mn-ea"/>
              </a:rPr>
              <a:t>(</a:t>
            </a:r>
            <a:r>
              <a:rPr lang="en-US" altLang="zh-CN" sz="1100" b="1" dirty="0" err="1">
                <a:latin typeface="+mn-ea"/>
              </a:rPr>
              <a:t>ios</a:t>
            </a:r>
            <a:r>
              <a:rPr lang="en-US" altLang="zh-CN" sz="1100" b="1" dirty="0">
                <a:latin typeface="+mn-ea"/>
              </a:rPr>
              <a:t>::left) &lt;&lt; </a:t>
            </a:r>
            <a:r>
              <a:rPr lang="en-US" altLang="zh-CN" sz="1100" b="1" dirty="0" err="1">
                <a:latin typeface="+mn-ea"/>
              </a:rPr>
              <a:t>setw</a:t>
            </a:r>
            <a:r>
              <a:rPr lang="en-US" altLang="zh-CN" sz="1100" b="1" dirty="0">
                <a:latin typeface="+mn-ea"/>
              </a:rPr>
              <a:t>(10) &lt;&lt; a &lt;&lt; '#' &lt;&lt; </a:t>
            </a:r>
            <a:r>
              <a:rPr lang="en-US" altLang="zh-CN" sz="1100" b="1" dirty="0" err="1">
                <a:latin typeface="+mn-ea"/>
              </a:rPr>
              <a:t>setw</a:t>
            </a:r>
            <a:r>
              <a:rPr lang="en-US" altLang="zh-CN" sz="1100" b="1" dirty="0">
                <a:latin typeface="+mn-ea"/>
              </a:rPr>
              <a:t>(10) &lt;&lt; a + 1 &lt;&lt; '*'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</a:p>
          <a:p>
            <a:r>
              <a:rPr lang="zh-CN" altLang="en-US" sz="1100" b="1" dirty="0">
                <a:latin typeface="+mn-ea"/>
              </a:rPr>
              <a:t>    </a:t>
            </a:r>
            <a:r>
              <a:rPr lang="en-US" altLang="zh-CN" sz="1100" b="1" dirty="0">
                <a:latin typeface="+mn-ea"/>
              </a:rPr>
              <a:t>/* </a:t>
            </a:r>
            <a:r>
              <a:rPr lang="zh-CN" altLang="en-US" sz="1100" b="1" dirty="0">
                <a:latin typeface="+mn-ea"/>
              </a:rPr>
              <a:t>右对齐 *</a:t>
            </a:r>
            <a:r>
              <a:rPr lang="en-US" altLang="zh-CN" sz="1100" b="1" dirty="0">
                <a:latin typeface="+mn-ea"/>
              </a:rPr>
              <a:t>/</a:t>
            </a:r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setiosflags</a:t>
            </a:r>
            <a:r>
              <a:rPr lang="en-US" altLang="zh-CN" sz="1100" b="1" dirty="0">
                <a:latin typeface="+mn-ea"/>
              </a:rPr>
              <a:t>(</a:t>
            </a:r>
            <a:r>
              <a:rPr lang="en-US" altLang="zh-CN" sz="1100" b="1" dirty="0" err="1">
                <a:latin typeface="+mn-ea"/>
              </a:rPr>
              <a:t>ios</a:t>
            </a:r>
            <a:r>
              <a:rPr lang="en-US" altLang="zh-CN" sz="1100" b="1" dirty="0">
                <a:latin typeface="+mn-ea"/>
              </a:rPr>
              <a:t>::right) &lt;&lt; </a:t>
            </a:r>
            <a:r>
              <a:rPr lang="en-US" altLang="zh-CN" sz="1100" b="1" dirty="0" err="1">
                <a:latin typeface="+mn-ea"/>
              </a:rPr>
              <a:t>setw</a:t>
            </a:r>
            <a:r>
              <a:rPr lang="en-US" altLang="zh-CN" sz="1100" b="1" dirty="0">
                <a:latin typeface="+mn-ea"/>
              </a:rPr>
              <a:t>(10) &lt;&lt; a &lt;&lt; '#' &lt;&lt; </a:t>
            </a:r>
            <a:r>
              <a:rPr lang="en-US" altLang="zh-CN" sz="1100" b="1" dirty="0" err="1">
                <a:latin typeface="+mn-ea"/>
              </a:rPr>
              <a:t>setw</a:t>
            </a:r>
            <a:r>
              <a:rPr lang="en-US" altLang="zh-CN" sz="1100" b="1" dirty="0">
                <a:latin typeface="+mn-ea"/>
              </a:rPr>
              <a:t>(10) &lt;&lt; a + 1 &lt;&lt; '*'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</a:p>
          <a:p>
            <a:r>
              <a:rPr lang="zh-CN" altLang="en-US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resetiosflags</a:t>
            </a:r>
            <a:r>
              <a:rPr lang="en-US" altLang="zh-CN" sz="1100" b="1" dirty="0">
                <a:latin typeface="+mn-ea"/>
              </a:rPr>
              <a:t>(</a:t>
            </a:r>
            <a:r>
              <a:rPr lang="en-US" altLang="zh-CN" sz="1100" b="1" dirty="0" err="1">
                <a:latin typeface="+mn-ea"/>
              </a:rPr>
              <a:t>ios</a:t>
            </a:r>
            <a:r>
              <a:rPr lang="en-US" altLang="zh-CN" sz="1100" b="1" dirty="0">
                <a:latin typeface="+mn-ea"/>
              </a:rPr>
              <a:t>::right);</a:t>
            </a:r>
          </a:p>
          <a:p>
            <a:r>
              <a:rPr lang="zh-CN" altLang="en-US" sz="1100" b="1" dirty="0">
                <a:latin typeface="+mn-ea"/>
              </a:rPr>
              <a:t>    </a:t>
            </a:r>
            <a:r>
              <a:rPr lang="en-US" altLang="zh-CN" sz="1100" b="1" dirty="0">
                <a:latin typeface="+mn-ea"/>
              </a:rPr>
              <a:t>/* </a:t>
            </a:r>
            <a:r>
              <a:rPr lang="zh-CN" altLang="en-US" sz="1100" b="1" dirty="0">
                <a:latin typeface="+mn-ea"/>
              </a:rPr>
              <a:t>左对齐 *</a:t>
            </a:r>
            <a:r>
              <a:rPr lang="en-US" altLang="zh-CN" sz="1100" b="1" dirty="0">
                <a:latin typeface="+mn-ea"/>
              </a:rPr>
              <a:t>/</a:t>
            </a:r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setiosflags</a:t>
            </a:r>
            <a:r>
              <a:rPr lang="en-US" altLang="zh-CN" sz="1100" b="1" dirty="0">
                <a:latin typeface="+mn-ea"/>
              </a:rPr>
              <a:t>(</a:t>
            </a:r>
            <a:r>
              <a:rPr lang="en-US" altLang="zh-CN" sz="1100" b="1" dirty="0" err="1">
                <a:latin typeface="+mn-ea"/>
              </a:rPr>
              <a:t>ios</a:t>
            </a:r>
            <a:r>
              <a:rPr lang="en-US" altLang="zh-CN" sz="1100" b="1" dirty="0">
                <a:latin typeface="+mn-ea"/>
              </a:rPr>
              <a:t>::left) &lt;&lt; </a:t>
            </a:r>
            <a:r>
              <a:rPr lang="en-US" altLang="zh-CN" sz="1100" b="1" dirty="0" err="1">
                <a:latin typeface="+mn-ea"/>
              </a:rPr>
              <a:t>setw</a:t>
            </a:r>
            <a:r>
              <a:rPr lang="en-US" altLang="zh-CN" sz="1100" b="1" dirty="0">
                <a:latin typeface="+mn-ea"/>
              </a:rPr>
              <a:t>(10) &lt;&lt; a &lt;&lt; '#' &lt;&lt; </a:t>
            </a:r>
            <a:r>
              <a:rPr lang="en-US" altLang="zh-CN" sz="1100" b="1" dirty="0" err="1">
                <a:latin typeface="+mn-ea"/>
              </a:rPr>
              <a:t>setw</a:t>
            </a:r>
            <a:r>
              <a:rPr lang="en-US" altLang="zh-CN" sz="1100" b="1" dirty="0">
                <a:latin typeface="+mn-ea"/>
              </a:rPr>
              <a:t>(10) &lt;&lt; a + 1 &lt;&lt; '*'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</a:p>
          <a:p>
            <a:r>
              <a:rPr lang="en-US" altLang="zh-CN" sz="1100" b="1" dirty="0">
                <a:latin typeface="+mn-ea"/>
              </a:rPr>
              <a:t>    return 0;</a:t>
            </a:r>
          </a:p>
          <a:p>
            <a:r>
              <a:rPr lang="en-US" altLang="zh-CN" sz="1100" b="1" dirty="0">
                <a:latin typeface="+mn-ea"/>
              </a:rPr>
              <a:t>}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32164CD-4F8F-4A0F-B90D-84749264FDD1}"/>
              </a:ext>
            </a:extLst>
          </p:cNvPr>
          <p:cNvSpPr/>
          <p:nvPr/>
        </p:nvSpPr>
        <p:spPr bwMode="auto">
          <a:xfrm>
            <a:off x="7489838" y="1323972"/>
            <a:ext cx="3345574" cy="2785571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运行截图：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40BA480-9B03-4433-A2D5-0CAC0E7C79E2}"/>
              </a:ext>
            </a:extLst>
          </p:cNvPr>
          <p:cNvSpPr/>
          <p:nvPr/>
        </p:nvSpPr>
        <p:spPr bwMode="auto">
          <a:xfrm>
            <a:off x="7489838" y="4109545"/>
            <a:ext cx="3345574" cy="242460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运行截图：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A01A248-64DE-4177-A73B-DD4C6923EDAB}"/>
              </a:ext>
            </a:extLst>
          </p:cNvPr>
          <p:cNvSpPr/>
          <p:nvPr/>
        </p:nvSpPr>
        <p:spPr bwMode="auto">
          <a:xfrm>
            <a:off x="592115" y="4109545"/>
            <a:ext cx="6897723" cy="242460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100" b="1" dirty="0">
                <a:latin typeface="+mn-ea"/>
              </a:rPr>
              <a:t>#include &lt;iostream&gt;</a:t>
            </a:r>
          </a:p>
          <a:p>
            <a:r>
              <a:rPr lang="en-US" altLang="zh-CN" sz="1100" b="1" dirty="0">
                <a:latin typeface="+mn-ea"/>
              </a:rPr>
              <a:t>#include &lt;</a:t>
            </a:r>
            <a:r>
              <a:rPr lang="en-US" altLang="zh-CN" sz="1100" b="1" dirty="0" err="1">
                <a:latin typeface="+mn-ea"/>
              </a:rPr>
              <a:t>iomanip</a:t>
            </a:r>
            <a:r>
              <a:rPr lang="en-US" altLang="zh-CN" sz="1100" b="1" dirty="0">
                <a:latin typeface="+mn-ea"/>
              </a:rPr>
              <a:t>&gt;</a:t>
            </a:r>
          </a:p>
          <a:p>
            <a:r>
              <a:rPr lang="en-US" altLang="zh-CN" sz="1100" b="1" dirty="0">
                <a:latin typeface="+mn-ea"/>
              </a:rPr>
              <a:t>using namespace std;</a:t>
            </a:r>
          </a:p>
          <a:p>
            <a:r>
              <a:rPr lang="en-US" altLang="zh-CN" sz="1100" b="1" dirty="0">
                <a:latin typeface="+mn-ea"/>
              </a:rPr>
              <a:t>int main()</a:t>
            </a:r>
          </a:p>
          <a:p>
            <a:r>
              <a:rPr lang="en-US" altLang="zh-CN" sz="1100" b="1" dirty="0">
                <a:latin typeface="+mn-ea"/>
              </a:rPr>
              <a:t>{</a:t>
            </a:r>
          </a:p>
          <a:p>
            <a:r>
              <a:rPr lang="en-US" altLang="zh-CN" sz="1100" b="1" dirty="0">
                <a:latin typeface="+mn-ea"/>
              </a:rPr>
              <a:t>    int a = 12345;</a:t>
            </a:r>
          </a:p>
          <a:p>
            <a:r>
              <a:rPr lang="fr-FR" altLang="zh-CN" sz="1100" b="1" dirty="0">
                <a:latin typeface="+mn-ea"/>
              </a:rPr>
              <a:t>    cout &lt;&lt; "0         1         2         3" &lt;&lt; endl;</a:t>
            </a: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"0123456789012345678901234567890123456789"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</a:p>
          <a:p>
            <a:r>
              <a:rPr lang="zh-CN" altLang="en-US" sz="1100" b="1" dirty="0">
                <a:latin typeface="+mn-ea"/>
              </a:rPr>
              <a:t>    </a:t>
            </a:r>
            <a:r>
              <a:rPr lang="en-US" altLang="zh-CN" sz="1100" b="1" dirty="0">
                <a:latin typeface="+mn-ea"/>
              </a:rPr>
              <a:t>/* </a:t>
            </a:r>
            <a:r>
              <a:rPr lang="zh-CN" altLang="en-US" sz="1100" b="1" dirty="0">
                <a:latin typeface="+mn-ea"/>
              </a:rPr>
              <a:t>右对齐 *</a:t>
            </a:r>
            <a:r>
              <a:rPr lang="en-US" altLang="zh-CN" sz="1100" b="1" dirty="0">
                <a:latin typeface="+mn-ea"/>
              </a:rPr>
              <a:t>/</a:t>
            </a:r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setiosflags</a:t>
            </a:r>
            <a:r>
              <a:rPr lang="en-US" altLang="zh-CN" sz="1100" b="1" dirty="0">
                <a:latin typeface="+mn-ea"/>
              </a:rPr>
              <a:t>(</a:t>
            </a:r>
            <a:r>
              <a:rPr lang="en-US" altLang="zh-CN" sz="1100" b="1" dirty="0" err="1">
                <a:latin typeface="+mn-ea"/>
              </a:rPr>
              <a:t>ios</a:t>
            </a:r>
            <a:r>
              <a:rPr lang="en-US" altLang="zh-CN" sz="1100" b="1" dirty="0">
                <a:latin typeface="+mn-ea"/>
              </a:rPr>
              <a:t>::right) &lt;&lt; </a:t>
            </a:r>
            <a:r>
              <a:rPr lang="en-US" altLang="zh-CN" sz="1100" b="1" dirty="0" err="1">
                <a:latin typeface="+mn-ea"/>
              </a:rPr>
              <a:t>setw</a:t>
            </a:r>
            <a:r>
              <a:rPr lang="en-US" altLang="zh-CN" sz="1100" b="1" dirty="0">
                <a:latin typeface="+mn-ea"/>
              </a:rPr>
              <a:t>(10) &lt;&lt; a &lt;&lt; '#' &lt;&lt; </a:t>
            </a:r>
            <a:r>
              <a:rPr lang="en-US" altLang="zh-CN" sz="1100" b="1" dirty="0" err="1">
                <a:latin typeface="+mn-ea"/>
              </a:rPr>
              <a:t>setw</a:t>
            </a:r>
            <a:r>
              <a:rPr lang="en-US" altLang="zh-CN" sz="1100" b="1" dirty="0">
                <a:latin typeface="+mn-ea"/>
              </a:rPr>
              <a:t>(10) &lt;&lt; a + 1 &lt;&lt; '*'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resetiosflags</a:t>
            </a:r>
            <a:r>
              <a:rPr lang="en-US" altLang="zh-CN" sz="1100" b="1" dirty="0">
                <a:latin typeface="+mn-ea"/>
              </a:rPr>
              <a:t>(</a:t>
            </a:r>
            <a:r>
              <a:rPr lang="en-US" altLang="zh-CN" sz="1100" b="1" dirty="0" err="1">
                <a:latin typeface="+mn-ea"/>
              </a:rPr>
              <a:t>ios</a:t>
            </a:r>
            <a:r>
              <a:rPr lang="en-US" altLang="zh-CN" sz="1100" b="1" dirty="0">
                <a:latin typeface="+mn-ea"/>
              </a:rPr>
              <a:t>::right);</a:t>
            </a:r>
          </a:p>
          <a:p>
            <a:r>
              <a:rPr lang="zh-CN" altLang="en-US" sz="1100" b="1" dirty="0">
                <a:latin typeface="+mn-ea"/>
              </a:rPr>
              <a:t>    </a:t>
            </a:r>
            <a:r>
              <a:rPr lang="en-US" altLang="zh-CN" sz="1100" b="1" dirty="0">
                <a:latin typeface="+mn-ea"/>
              </a:rPr>
              <a:t>/* </a:t>
            </a:r>
            <a:r>
              <a:rPr lang="zh-CN" altLang="en-US" sz="1100" b="1" dirty="0">
                <a:latin typeface="+mn-ea"/>
              </a:rPr>
              <a:t>左对齐 *</a:t>
            </a:r>
            <a:r>
              <a:rPr lang="en-US" altLang="zh-CN" sz="1100" b="1" dirty="0">
                <a:latin typeface="+mn-ea"/>
              </a:rPr>
              <a:t>/</a:t>
            </a:r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setiosflags</a:t>
            </a:r>
            <a:r>
              <a:rPr lang="en-US" altLang="zh-CN" sz="1100" b="1" dirty="0">
                <a:latin typeface="+mn-ea"/>
              </a:rPr>
              <a:t>(</a:t>
            </a:r>
            <a:r>
              <a:rPr lang="en-US" altLang="zh-CN" sz="1100" b="1" dirty="0" err="1">
                <a:latin typeface="+mn-ea"/>
              </a:rPr>
              <a:t>ios</a:t>
            </a:r>
            <a:r>
              <a:rPr lang="en-US" altLang="zh-CN" sz="1100" b="1" dirty="0">
                <a:latin typeface="+mn-ea"/>
              </a:rPr>
              <a:t>::left) &lt;&lt; </a:t>
            </a:r>
            <a:r>
              <a:rPr lang="en-US" altLang="zh-CN" sz="1100" b="1" dirty="0" err="1">
                <a:latin typeface="+mn-ea"/>
              </a:rPr>
              <a:t>setw</a:t>
            </a:r>
            <a:r>
              <a:rPr lang="en-US" altLang="zh-CN" sz="1100" b="1" dirty="0">
                <a:latin typeface="+mn-ea"/>
              </a:rPr>
              <a:t>(10) &lt;&lt; a &lt;&lt; '#' &lt;&lt; </a:t>
            </a:r>
            <a:r>
              <a:rPr lang="en-US" altLang="zh-CN" sz="1100" b="1" dirty="0" err="1">
                <a:latin typeface="+mn-ea"/>
              </a:rPr>
              <a:t>setw</a:t>
            </a:r>
            <a:r>
              <a:rPr lang="en-US" altLang="zh-CN" sz="1100" b="1" dirty="0">
                <a:latin typeface="+mn-ea"/>
              </a:rPr>
              <a:t>(10) &lt;&lt; a + 1 &lt;&lt; '*'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</a:p>
          <a:p>
            <a:r>
              <a:rPr lang="en-US" altLang="zh-CN" sz="1100" b="1" dirty="0">
                <a:latin typeface="+mn-ea"/>
              </a:rPr>
              <a:t>    return 0;</a:t>
            </a:r>
          </a:p>
          <a:p>
            <a:r>
              <a:rPr lang="en-US" altLang="zh-CN" sz="1100" b="1" dirty="0">
                <a:latin typeface="+mn-ea"/>
              </a:rPr>
              <a:t>}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149093D-B3B1-4293-9381-7327E5A68609}"/>
              </a:ext>
            </a:extLst>
          </p:cNvPr>
          <p:cNvSpPr/>
          <p:nvPr/>
        </p:nvSpPr>
        <p:spPr bwMode="auto">
          <a:xfrm>
            <a:off x="2574532" y="4109543"/>
            <a:ext cx="4915306" cy="8408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结论：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如果想要</a:t>
            </a:r>
            <a:r>
              <a:rPr kumimoji="1" lang="en-US" altLang="zh-CN" sz="1200" b="1" dirty="0">
                <a:latin typeface="+mn-ea"/>
              </a:rPr>
              <a:t>right</a:t>
            </a:r>
            <a:r>
              <a:rPr kumimoji="1" lang="zh-CN" altLang="en-US" sz="1200" b="1" dirty="0">
                <a:latin typeface="+mn-ea"/>
              </a:rPr>
              <a:t>对齐后再</a:t>
            </a:r>
            <a:r>
              <a:rPr kumimoji="1" lang="en-US" altLang="zh-CN" sz="1200" b="1" dirty="0">
                <a:latin typeface="+mn-ea"/>
              </a:rPr>
              <a:t>left</a:t>
            </a:r>
            <a:r>
              <a:rPr kumimoji="1" lang="zh-CN" altLang="en-US" sz="1200" b="1" dirty="0">
                <a:latin typeface="+mn-ea"/>
              </a:rPr>
              <a:t>对齐，需要在两者之间加入一句：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_________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resetiosflags</a:t>
            </a:r>
            <a:r>
              <a:rPr lang="en-US" altLang="zh-CN" sz="1200" b="1" dirty="0">
                <a:latin typeface="+mn-ea"/>
              </a:rPr>
              <a:t>(</a:t>
            </a:r>
            <a:r>
              <a:rPr lang="en-US" altLang="zh-CN" sz="1200" b="1" dirty="0" err="1">
                <a:latin typeface="+mn-ea"/>
              </a:rPr>
              <a:t>ios</a:t>
            </a:r>
            <a:r>
              <a:rPr lang="en-US" altLang="zh-CN" sz="1200" b="1" dirty="0">
                <a:latin typeface="+mn-ea"/>
              </a:rPr>
              <a:t>::right);</a:t>
            </a:r>
            <a:r>
              <a:rPr kumimoji="1" lang="en-US" altLang="zh-CN" sz="1200" b="1" dirty="0">
                <a:latin typeface="+mn-ea"/>
              </a:rPr>
              <a:t>_______________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61CA863-144F-82D0-9011-44360EE8B7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2385" y="2234860"/>
            <a:ext cx="3345574" cy="1214701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C46F73D-A485-D38C-146F-FAFC431346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9838" y="4826147"/>
            <a:ext cx="3363027" cy="1066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27355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7221442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基本要求：从键盘输入</a:t>
            </a:r>
            <a:r>
              <a:rPr lang="en-US" altLang="zh-CN" sz="1600" b="1" dirty="0">
                <a:latin typeface="+mn-ea"/>
              </a:rPr>
              <a:t>16</a:t>
            </a:r>
            <a:r>
              <a:rPr lang="zh-CN" altLang="en-US" sz="1600" b="1" dirty="0">
                <a:latin typeface="+mn-ea"/>
              </a:rPr>
              <a:t>进制数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5772F63-C142-43E7-B13D-87DC0D16BE02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#include &lt;</a:t>
            </a:r>
            <a:r>
              <a:rPr lang="en-US" altLang="zh-CN" sz="1600" b="1" dirty="0" err="1">
                <a:latin typeface="+mn-ea"/>
              </a:rPr>
              <a:t>iomanip</a:t>
            </a:r>
            <a:r>
              <a:rPr lang="en-US" altLang="zh-CN" sz="1600" b="1" dirty="0">
                <a:latin typeface="+mn-ea"/>
              </a:rPr>
              <a:t>&gt;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short a;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en-US" altLang="zh-CN" sz="1600" b="1" dirty="0">
                <a:latin typeface="+mn-ea"/>
              </a:rPr>
              <a:t> &gt;&gt; hex &gt;&gt; a;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</a:t>
            </a:r>
            <a:r>
              <a:rPr lang="en-US" altLang="zh-CN" sz="1600" b="1" dirty="0" err="1">
                <a:latin typeface="+mn-ea"/>
              </a:rPr>
              <a:t>dec</a:t>
            </a:r>
            <a:r>
              <a:rPr lang="en-US" altLang="zh-CN" sz="1600" b="1" dirty="0">
                <a:latin typeface="+mn-ea"/>
              </a:rPr>
              <a:t>:" &lt;&lt; </a:t>
            </a:r>
            <a:r>
              <a:rPr lang="en-US" altLang="zh-CN" sz="1600" b="1" dirty="0" err="1">
                <a:latin typeface="+mn-ea"/>
              </a:rPr>
              <a:t>dec</a:t>
            </a:r>
            <a:r>
              <a:rPr lang="en-US" altLang="zh-CN" sz="1600" b="1" dirty="0">
                <a:latin typeface="+mn-ea"/>
              </a:rPr>
              <a:t> &lt;&lt; a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 </a:t>
            </a:r>
            <a:endParaRPr lang="zh-CN" altLang="en-US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"hex:" &lt;&lt; hex &lt;&lt; a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 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"oct:" &lt;&lt; oct &lt;&lt; a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 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D4FF99D-558A-46DC-B3D6-DF68BA966D2E}"/>
              </a:ext>
            </a:extLst>
          </p:cNvPr>
          <p:cNvSpPr/>
          <p:nvPr/>
        </p:nvSpPr>
        <p:spPr bwMode="auto">
          <a:xfrm>
            <a:off x="4953000" y="1323974"/>
            <a:ext cx="5882411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1a2b↙ </a:t>
            </a:r>
            <a:r>
              <a:rPr kumimoji="1" lang="zh-CN" altLang="en-US" sz="1600" b="1" dirty="0">
                <a:latin typeface="+mn-ea"/>
              </a:rPr>
              <a:t>（合理正数）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a1b2↙</a:t>
            </a:r>
            <a:r>
              <a:rPr kumimoji="1" lang="zh-CN" altLang="en-US" sz="1600" b="1" dirty="0">
                <a:latin typeface="+mn-ea"/>
              </a:rPr>
              <a:t> （超上限但未超同类型的</a:t>
            </a:r>
            <a:r>
              <a:rPr kumimoji="1" lang="en-US" altLang="zh-CN" sz="1600" b="1" dirty="0">
                <a:latin typeface="+mn-ea"/>
              </a:rPr>
              <a:t>unsigned</a:t>
            </a:r>
            <a:r>
              <a:rPr kumimoji="1" lang="zh-CN" altLang="en-US" sz="1600" b="1" dirty="0">
                <a:latin typeface="+mn-ea"/>
              </a:rPr>
              <a:t>上限）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 err="1">
                <a:latin typeface="+mn-ea"/>
              </a:rPr>
              <a:t>fffff</a:t>
            </a:r>
            <a:r>
              <a:rPr kumimoji="1" lang="en-US" altLang="zh-CN" sz="1600" b="1" dirty="0">
                <a:latin typeface="+mn-ea"/>
              </a:rPr>
              <a:t>↙</a:t>
            </a:r>
            <a:r>
              <a:rPr kumimoji="1" lang="zh-CN" altLang="en-US" sz="1600" b="1" dirty="0">
                <a:latin typeface="+mn-ea"/>
              </a:rPr>
              <a:t> （超上限且超过同类型的</a:t>
            </a:r>
            <a:r>
              <a:rPr kumimoji="1" lang="en-US" altLang="zh-CN" sz="1600" b="1" dirty="0">
                <a:latin typeface="+mn-ea"/>
              </a:rPr>
              <a:t>unsigned</a:t>
            </a:r>
            <a:r>
              <a:rPr kumimoji="1" lang="zh-CN" altLang="en-US" sz="1600" b="1" dirty="0">
                <a:latin typeface="+mn-ea"/>
              </a:rPr>
              <a:t>上限）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4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-1a2b↙</a:t>
            </a:r>
            <a:r>
              <a:rPr kumimoji="1" lang="zh-CN" altLang="en-US" sz="1600" b="1" dirty="0">
                <a:latin typeface="+mn-ea"/>
              </a:rPr>
              <a:t>（合理负数）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5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-</a:t>
            </a:r>
            <a:r>
              <a:rPr kumimoji="1" lang="en-US" altLang="zh-CN" sz="1600" b="1" dirty="0" err="1">
                <a:latin typeface="+mn-ea"/>
              </a:rPr>
              <a:t>fffff</a:t>
            </a:r>
            <a:r>
              <a:rPr kumimoji="1" lang="en-US" altLang="zh-CN" sz="1600" b="1" dirty="0">
                <a:latin typeface="+mn-ea"/>
              </a:rPr>
              <a:t>↙</a:t>
            </a:r>
            <a:r>
              <a:rPr kumimoji="1" lang="zh-CN" altLang="en-US" sz="1600" b="1" dirty="0">
                <a:latin typeface="+mn-ea"/>
              </a:rPr>
              <a:t>（超下限）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1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、贴图即可，不需要写分析结果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2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、暂不考虑输入错误</a:t>
            </a:r>
            <a:endParaRPr kumimoji="1" lang="en-US" altLang="zh-CN" sz="1600" b="1" dirty="0">
              <a:latin typeface="+mn-ea"/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0CCF3B4-77E2-1A3D-98D7-B5AF504616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7782" y="3633070"/>
            <a:ext cx="1016000" cy="1295400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5D54555-B8DE-777F-D4BD-FB60F1FB26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7223" y="3633070"/>
            <a:ext cx="1041400" cy="1270000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1239A5F-3355-C4EF-F44F-6578CC1F38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2064" y="3633070"/>
            <a:ext cx="1244600" cy="1257300"/>
          </a:xfrm>
          <a:prstGeom prst="rect">
            <a:avLst/>
          </a:prstGeom>
        </p:spPr>
      </p:pic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DCEE01C-1FD6-3EFD-52FD-8322F6F5502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0071" y="3633070"/>
            <a:ext cx="1195668" cy="1257300"/>
          </a:xfrm>
          <a:prstGeom prst="rect">
            <a:avLst/>
          </a:prstGeom>
        </p:spPr>
      </p:pic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54EE201-22EB-E4F6-FFC0-36EA3F34451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0071" y="5058209"/>
            <a:ext cx="1282700" cy="130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27579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基本要求：从键盘输入</a:t>
            </a:r>
            <a:r>
              <a:rPr lang="en-US" altLang="zh-CN" sz="1600" b="1" dirty="0">
                <a:latin typeface="+mn-ea"/>
              </a:rPr>
              <a:t>8</a:t>
            </a:r>
            <a:r>
              <a:rPr lang="zh-CN" altLang="en-US" sz="1600" b="1" dirty="0">
                <a:latin typeface="+mn-ea"/>
              </a:rPr>
              <a:t>进制数（自行构造测试数据）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5772F63-C142-43E7-B13D-87DC0D16BE02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#include &lt;</a:t>
            </a:r>
            <a:r>
              <a:rPr lang="en-US" altLang="zh-CN" sz="1600" b="1" dirty="0" err="1">
                <a:latin typeface="+mn-ea"/>
              </a:rPr>
              <a:t>iomanip</a:t>
            </a:r>
            <a:r>
              <a:rPr lang="en-US" altLang="zh-CN" sz="1600" b="1" dirty="0">
                <a:latin typeface="+mn-ea"/>
              </a:rPr>
              <a:t>&gt;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int a;</a:t>
            </a:r>
          </a:p>
          <a:p>
            <a:r>
              <a:rPr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    </a:t>
            </a:r>
            <a:r>
              <a:rPr lang="en-US" altLang="zh-CN" sz="1600" b="1" dirty="0" err="1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cout</a:t>
            </a:r>
            <a:r>
              <a:rPr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 &lt;&lt; ”2454307" &lt;&lt; </a:t>
            </a:r>
            <a:r>
              <a:rPr lang="en-US" altLang="zh-CN" sz="1600" b="1" dirty="0" err="1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endl</a:t>
            </a:r>
            <a:r>
              <a:rPr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;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//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改学号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en-US" altLang="zh-CN" sz="1600" b="1" dirty="0">
                <a:latin typeface="+mn-ea"/>
              </a:rPr>
              <a:t> &gt;&gt; </a:t>
            </a:r>
            <a:r>
              <a:rPr lang="en-US" altLang="zh-CN" sz="1600" b="1" dirty="0" err="1">
                <a:latin typeface="+mn-ea"/>
              </a:rPr>
              <a:t>setbase</a:t>
            </a:r>
            <a:r>
              <a:rPr lang="en-US" altLang="zh-CN" sz="1600" b="1" dirty="0">
                <a:latin typeface="+mn-ea"/>
              </a:rPr>
              <a:t>(8) &gt;&gt; a;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</a:t>
            </a:r>
            <a:r>
              <a:rPr lang="en-US" altLang="zh-CN" sz="1600" b="1" dirty="0" err="1">
                <a:latin typeface="+mn-ea"/>
              </a:rPr>
              <a:t>dec</a:t>
            </a:r>
            <a:r>
              <a:rPr lang="en-US" altLang="zh-CN" sz="1600" b="1" dirty="0">
                <a:latin typeface="+mn-ea"/>
              </a:rPr>
              <a:t>:" &lt;&lt; </a:t>
            </a:r>
            <a:r>
              <a:rPr lang="en-US" altLang="zh-CN" sz="1600" b="1" dirty="0" err="1">
                <a:latin typeface="+mn-ea"/>
              </a:rPr>
              <a:t>dec</a:t>
            </a:r>
            <a:r>
              <a:rPr lang="en-US" altLang="zh-CN" sz="1600" b="1" dirty="0">
                <a:latin typeface="+mn-ea"/>
              </a:rPr>
              <a:t> &lt;&lt; a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 </a:t>
            </a:r>
            <a:endParaRPr lang="zh-CN" altLang="en-US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"hex:" &lt;&lt; hex &lt;&lt; a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 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"oct:" &lt;&lt; oct &lt;&lt; a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 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D4FF99D-558A-46DC-B3D6-DF68BA966D2E}"/>
              </a:ext>
            </a:extLst>
          </p:cNvPr>
          <p:cNvSpPr/>
          <p:nvPr/>
        </p:nvSpPr>
        <p:spPr bwMode="auto">
          <a:xfrm>
            <a:off x="4953000" y="1323974"/>
            <a:ext cx="5882411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__10000000000__↙ </a:t>
            </a:r>
            <a:r>
              <a:rPr kumimoji="1" lang="zh-CN" altLang="en-US" sz="1600" b="1" dirty="0">
                <a:latin typeface="+mn-ea"/>
              </a:rPr>
              <a:t>（合理正数）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__30000000000__ ↙</a:t>
            </a:r>
            <a:r>
              <a:rPr kumimoji="1" lang="zh-CN" altLang="en-US" sz="1600" b="1" dirty="0">
                <a:latin typeface="+mn-ea"/>
              </a:rPr>
              <a:t> （超上限但未超同类型的</a:t>
            </a:r>
            <a:r>
              <a:rPr kumimoji="1" lang="en-US" altLang="zh-CN" sz="1600" b="1" dirty="0">
                <a:latin typeface="+mn-ea"/>
              </a:rPr>
              <a:t>unsigned</a:t>
            </a:r>
            <a:r>
              <a:rPr kumimoji="1" lang="zh-CN" altLang="en-US" sz="1600" b="1" dirty="0">
                <a:latin typeface="+mn-ea"/>
              </a:rPr>
              <a:t>上限）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__50000000000__ ↙</a:t>
            </a:r>
            <a:r>
              <a:rPr kumimoji="1" lang="zh-CN" altLang="en-US" sz="1600" b="1" dirty="0">
                <a:latin typeface="+mn-ea"/>
              </a:rPr>
              <a:t> （超上限且超过同类型的</a:t>
            </a:r>
            <a:r>
              <a:rPr kumimoji="1" lang="en-US" altLang="zh-CN" sz="1600" b="1" dirty="0">
                <a:latin typeface="+mn-ea"/>
              </a:rPr>
              <a:t>unsigned</a:t>
            </a:r>
            <a:r>
              <a:rPr kumimoji="1" lang="zh-CN" altLang="en-US" sz="1600" b="1" dirty="0">
                <a:latin typeface="+mn-ea"/>
              </a:rPr>
              <a:t>上限）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4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__-10000000000__ ↙</a:t>
            </a:r>
            <a:r>
              <a:rPr kumimoji="1" lang="zh-CN" altLang="en-US" sz="1600" b="1" dirty="0">
                <a:latin typeface="+mn-ea"/>
              </a:rPr>
              <a:t>（合理负数）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5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__-30000000000__↙</a:t>
            </a:r>
            <a:r>
              <a:rPr kumimoji="1" lang="zh-CN" altLang="en-US" sz="1600" b="1" dirty="0">
                <a:latin typeface="+mn-ea"/>
              </a:rPr>
              <a:t>（超下限）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1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、贴图即可，不需要写分析结果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2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、暂不考虑输入错误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6" name="Picture 5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4A104877-1052-5C10-B7C9-05864DDB71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7916" y="4138722"/>
            <a:ext cx="1205523" cy="1034527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0240A1B-48E1-1D39-63BB-930C405761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3439" y="4138722"/>
            <a:ext cx="1109443" cy="1043208"/>
          </a:xfrm>
          <a:prstGeom prst="rect">
            <a:avLst/>
          </a:prstGeom>
        </p:spPr>
      </p:pic>
      <p:pic>
        <p:nvPicPr>
          <p:cNvPr id="10" name="Picture 9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06B3DA2F-CC2E-0261-BBF5-3DF6ACAB39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882" y="4138722"/>
            <a:ext cx="1109443" cy="999346"/>
          </a:xfrm>
          <a:prstGeom prst="rect">
            <a:avLst/>
          </a:prstGeom>
        </p:spPr>
      </p:pic>
      <p:pic>
        <p:nvPicPr>
          <p:cNvPr id="12" name="Picture 11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47AE4BAE-811F-BD11-EBE2-15291481F8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2325" y="4138722"/>
            <a:ext cx="1270502" cy="1043627"/>
          </a:xfrm>
          <a:prstGeom prst="rect">
            <a:avLst/>
          </a:prstGeom>
        </p:spPr>
      </p:pic>
      <p:pic>
        <p:nvPicPr>
          <p:cNvPr id="16" name="Picture 1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42E60AC-6771-6F39-77E9-CF022568BA1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2325" y="5147463"/>
            <a:ext cx="1288700" cy="1152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59935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C.</a:t>
            </a:r>
            <a:r>
              <a:rPr lang="zh-CN" altLang="en-US" sz="1600" b="1" dirty="0">
                <a:latin typeface="+mn-ea"/>
              </a:rPr>
              <a:t>格式控制符</a:t>
            </a:r>
            <a:r>
              <a:rPr lang="en-US" altLang="zh-CN" sz="1600" b="1" dirty="0" err="1">
                <a:latin typeface="+mn-ea"/>
              </a:rPr>
              <a:t>setiosflags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</a:t>
            </a:r>
            <a:r>
              <a:rPr lang="en-US" altLang="zh-CN" sz="1600" b="1" dirty="0" err="1">
                <a:latin typeface="+mn-ea"/>
              </a:rPr>
              <a:t>skipws</a:t>
            </a:r>
            <a:r>
              <a:rPr lang="en-US" altLang="zh-CN" sz="1600" b="1" dirty="0">
                <a:latin typeface="+mn-ea"/>
              </a:rPr>
              <a:t>)</a:t>
            </a:r>
            <a:r>
              <a:rPr lang="zh-CN" altLang="en-US" sz="1600" b="1" dirty="0">
                <a:latin typeface="+mn-ea"/>
              </a:rPr>
              <a:t>的使用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5772F63-C142-43E7-B13D-87DC0D16BE02}"/>
              </a:ext>
            </a:extLst>
          </p:cNvPr>
          <p:cNvSpPr/>
          <p:nvPr/>
        </p:nvSpPr>
        <p:spPr bwMode="auto">
          <a:xfrm>
            <a:off x="592114" y="1323975"/>
            <a:ext cx="2674961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int a, b;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&gt;&gt; a &gt;&gt; b;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b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6B28C72-FA6E-405F-A229-208F8DAB25C0}"/>
              </a:ext>
            </a:extLst>
          </p:cNvPr>
          <p:cNvSpPr/>
          <p:nvPr/>
        </p:nvSpPr>
        <p:spPr bwMode="auto">
          <a:xfrm>
            <a:off x="3267076" y="1323974"/>
            <a:ext cx="4016592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iomanip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int a, b;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cin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 &gt;&gt;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setiosflags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(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ios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::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skipws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);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&gt;&gt; a &gt;&gt; b;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b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10C7E5C-63E8-4246-BCEB-6A5AD344DFA1}"/>
              </a:ext>
            </a:extLst>
          </p:cNvPr>
          <p:cNvSpPr/>
          <p:nvPr/>
        </p:nvSpPr>
        <p:spPr bwMode="auto">
          <a:xfrm>
            <a:off x="7283669" y="1323974"/>
            <a:ext cx="3555782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iomanip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int a, b;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cin.unsetf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(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ios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::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skipws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);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&gt;&gt; a &gt;&gt; b;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b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9BE673F-475D-4829-90D6-5F5404A85144}"/>
              </a:ext>
            </a:extLst>
          </p:cNvPr>
          <p:cNvSpPr/>
          <p:nvPr/>
        </p:nvSpPr>
        <p:spPr bwMode="auto">
          <a:xfrm>
            <a:off x="592113" y="4645572"/>
            <a:ext cx="2674961" cy="1888577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假设键盘输入为：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12 34</a:t>
            </a:r>
            <a:r>
              <a:rPr kumimoji="1" lang="en-US" altLang="zh-CN" sz="1600" b="1" dirty="0">
                <a:latin typeface="宋体"/>
              </a:rPr>
              <a:t>↙</a:t>
            </a: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则输出为：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12</a:t>
            </a:r>
            <a:r>
              <a:rPr kumimoji="1" lang="en-US" altLang="zh-CN" sz="1600" b="1" dirty="0">
                <a:latin typeface="宋体"/>
              </a:rPr>
              <a:t>↙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34</a:t>
            </a:r>
            <a:r>
              <a:rPr kumimoji="1" lang="en-US" altLang="zh-CN" sz="1600" b="1" dirty="0">
                <a:latin typeface="宋体"/>
              </a:rPr>
              <a:t>↙</a:t>
            </a: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9092854-E69B-4D22-8E67-20448F644FD8}"/>
              </a:ext>
            </a:extLst>
          </p:cNvPr>
          <p:cNvSpPr/>
          <p:nvPr/>
        </p:nvSpPr>
        <p:spPr bwMode="auto">
          <a:xfrm>
            <a:off x="3267075" y="4645572"/>
            <a:ext cx="4016592" cy="1888577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假设键盘输入为：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12 34</a:t>
            </a:r>
            <a:r>
              <a:rPr kumimoji="1" lang="en-US" altLang="zh-CN" sz="1600" b="1" dirty="0">
                <a:latin typeface="宋体"/>
              </a:rPr>
              <a:t>↙</a:t>
            </a: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则输出为：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__12</a:t>
            </a:r>
            <a:r>
              <a:rPr kumimoji="1" lang="en-US" altLang="zh-CN" sz="1600" b="1" dirty="0">
                <a:latin typeface="宋体"/>
              </a:rPr>
              <a:t>↙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34</a:t>
            </a:r>
            <a:r>
              <a:rPr kumimoji="1" lang="en-US" altLang="zh-CN" sz="1600" b="1" dirty="0">
                <a:latin typeface="宋体"/>
              </a:rPr>
              <a:t>↙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__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6B18340-B457-4691-BA2A-EDF711533F9E}"/>
              </a:ext>
            </a:extLst>
          </p:cNvPr>
          <p:cNvSpPr/>
          <p:nvPr/>
        </p:nvSpPr>
        <p:spPr bwMode="auto">
          <a:xfrm>
            <a:off x="7283667" y="4645571"/>
            <a:ext cx="3555782" cy="18887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假设键盘输入为：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12 34</a:t>
            </a:r>
            <a:r>
              <a:rPr kumimoji="1" lang="en-US" altLang="zh-CN" sz="1600" b="1" dirty="0">
                <a:latin typeface="宋体"/>
              </a:rPr>
              <a:t>↙</a:t>
            </a: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则输出为：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__ 12</a:t>
            </a:r>
            <a:r>
              <a:rPr kumimoji="1" lang="en-US" altLang="zh-CN" sz="1600" b="1" dirty="0">
                <a:latin typeface="宋体"/>
              </a:rPr>
              <a:t>↙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0</a:t>
            </a:r>
            <a:r>
              <a:rPr kumimoji="1" lang="en-US" altLang="zh-CN" sz="1600" b="1" dirty="0">
                <a:latin typeface="宋体"/>
              </a:rPr>
              <a:t>↙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__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105B215-7B00-48D1-98E3-AAFEAE3A9B5D}"/>
              </a:ext>
            </a:extLst>
          </p:cNvPr>
          <p:cNvSpPr/>
          <p:nvPr/>
        </p:nvSpPr>
        <p:spPr bwMode="auto">
          <a:xfrm>
            <a:off x="592112" y="5423338"/>
            <a:ext cx="10247336" cy="111081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综合以上三个例子可以得到如下结论：</a:t>
            </a: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、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“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忽略前导空格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”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的意思，是空格不作为</a:t>
            </a:r>
            <a:r>
              <a:rPr kumimoji="1" lang="zh-CN" altLang="en-US" sz="1600" b="1" u="sng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有效输入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，而是做为</a:t>
            </a:r>
            <a:r>
              <a:rPr kumimoji="1" lang="zh-CN" altLang="en-US" sz="1600" b="1" u="sng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分隔符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（导致第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3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个例子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b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未取得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34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）</a:t>
            </a: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、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setiosflags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ios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::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skipws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)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在缺省情况下是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有效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_(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有效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/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无效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)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的，即不设置也生效</a:t>
            </a: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3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、如果想取消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"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忽略前导空格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"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的设置，应使用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__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resetiosflags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ios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::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skipws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)__</a:t>
            </a:r>
          </a:p>
        </p:txBody>
      </p:sp>
    </p:spTree>
    <p:extLst>
      <p:ext uri="{BB962C8B-B14F-4D97-AF65-F5344CB8AC3E}">
        <p14:creationId xmlns:p14="http://schemas.microsoft.com/office/powerpoint/2010/main" val="13236235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5989487"/>
      </p:ext>
    </p:extLst>
  </p:cSld>
  <p:clrMapOvr>
    <a:masterClrMapping/>
  </p:clrMapOvr>
</p:sld>
</file>

<file path=ppt/theme/theme1.xml><?xml version="1.0" encoding="utf-8"?>
<a:theme xmlns:a="http://schemas.openxmlformats.org/drawingml/2006/main" name="1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2296</TotalTime>
  <Words>8470</Words>
  <Application>Microsoft Macintosh PowerPoint</Application>
  <PresentationFormat>Widescreen</PresentationFormat>
  <Paragraphs>969</Paragraphs>
  <Slides>36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0" baseType="lpstr">
      <vt:lpstr>等线</vt:lpstr>
      <vt:lpstr>宋体</vt:lpstr>
      <vt:lpstr>Times New Roman</vt:lpstr>
      <vt:lpstr>1_默认设计模板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 Y</dc:creator>
  <cp:lastModifiedBy>Tonhie Xavier</cp:lastModifiedBy>
  <cp:revision>250</cp:revision>
  <dcterms:created xsi:type="dcterms:W3CDTF">2020-08-13T13:39:53Z</dcterms:created>
  <dcterms:modified xsi:type="dcterms:W3CDTF">2025-03-17T06:19:59Z</dcterms:modified>
</cp:coreProperties>
</file>