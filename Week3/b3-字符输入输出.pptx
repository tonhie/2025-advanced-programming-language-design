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1"/>
  </p:notesMasterIdLst>
  <p:sldIdLst>
    <p:sldId id="1236" r:id="rId2"/>
    <p:sldId id="1268" r:id="rId3"/>
    <p:sldId id="1269" r:id="rId4"/>
    <p:sldId id="1230" r:id="rId5"/>
    <p:sldId id="449" r:id="rId6"/>
    <p:sldId id="1182" r:id="rId7"/>
    <p:sldId id="1226" r:id="rId8"/>
    <p:sldId id="1227" r:id="rId9"/>
    <p:sldId id="1198" r:id="rId10"/>
    <p:sldId id="1183" r:id="rId11"/>
    <p:sldId id="1228" r:id="rId12"/>
    <p:sldId id="1229" r:id="rId13"/>
    <p:sldId id="1231" r:id="rId14"/>
    <p:sldId id="1232" r:id="rId15"/>
    <p:sldId id="1233" r:id="rId16"/>
    <p:sldId id="1199" r:id="rId17"/>
    <p:sldId id="1234" r:id="rId18"/>
    <p:sldId id="1235" r:id="rId19"/>
    <p:sldId id="120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667" autoAdjust="0"/>
    <p:restoredTop sz="86364" autoAdjust="0"/>
  </p:normalViewPr>
  <p:slideViewPr>
    <p:cSldViewPr snapToGrid="0">
      <p:cViewPr varScale="1">
        <p:scale>
          <a:sx n="112" d="100"/>
          <a:sy n="112" d="100"/>
        </p:scale>
        <p:origin x="159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545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668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54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19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基本知识点：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的区别：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是按格式读入，到空格、回车、非法为止；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是只读一个字符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、两者的共同点：都有输入缓冲区，输入必须以回车结束，从输入缓冲区去取得需要的内容后，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多余的内容还放在输入缓冲区中，等到下次读入（如果程序结束，则操作系统会清空输入缓冲区）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en-US" altLang="zh-CN" sz="1600" b="1" dirty="0">
                <a:latin typeface="+mn-ea"/>
              </a:rPr>
              <a:t>()/_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是没有输入缓冲区的，输入后不需要按回车键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返回是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型</a:t>
            </a:r>
            <a:r>
              <a:rPr lang="zh-CN" altLang="en-US" sz="1600" b="1" dirty="0">
                <a:latin typeface="+mn-ea"/>
              </a:rPr>
              <a:t>，因为除了正常的</a:t>
            </a:r>
            <a:r>
              <a:rPr lang="en-US" altLang="zh-CN" sz="1600" b="1" dirty="0">
                <a:latin typeface="+mn-ea"/>
              </a:rPr>
              <a:t>256</a:t>
            </a:r>
            <a:r>
              <a:rPr lang="zh-CN" altLang="en-US" sz="1600" b="1" dirty="0">
                <a:latin typeface="+mn-ea"/>
              </a:rPr>
              <a:t>个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字符（含基本和扩展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码、中文、其它语言文字等），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还需要额外考虑一个输入出错情况下的返回，因此无法用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字节返回值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</a:rPr>
              <a:t>、先认真看课件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721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C22382F-6E46-4451-870C-F0803B889691}"/>
              </a:ext>
            </a:extLst>
          </p:cNvPr>
          <p:cNvGrpSpPr/>
          <p:nvPr/>
        </p:nvGrpSpPr>
        <p:grpSpPr>
          <a:xfrm>
            <a:off x="525517" y="998484"/>
            <a:ext cx="10247586" cy="3678620"/>
            <a:chOff x="515007" y="1198180"/>
            <a:chExt cx="10247586" cy="367862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5F13F3-3C2E-451A-BCEB-5CA6DBD88DFB}"/>
                </a:ext>
              </a:extLst>
            </p:cNvPr>
            <p:cNvSpPr/>
            <p:nvPr/>
          </p:nvSpPr>
          <p:spPr bwMode="auto">
            <a:xfrm>
              <a:off x="515007" y="1198180"/>
              <a:ext cx="10247586" cy="36786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字符输出函数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zh-CN" altLang="en-US" sz="1600" b="1" dirty="0">
                  <a:latin typeface="+mn-ea"/>
                </a:rPr>
                <a:t>的基本知识：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4"/>
                </a:spcBef>
              </a:pP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形式：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</a:t>
              </a:r>
              <a:r>
                <a:rPr lang="zh-CN" altLang="en-US" sz="1600" b="1" dirty="0">
                  <a:latin typeface="+mn-ea"/>
                </a:rPr>
                <a:t>字符变量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常量</a:t>
              </a:r>
              <a:r>
                <a:rPr lang="en-US" altLang="zh-CN" sz="1600" b="1" dirty="0">
                  <a:latin typeface="+mn-ea"/>
                </a:rPr>
                <a:t>)</a:t>
              </a:r>
            </a:p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功能：输出一个字符</a:t>
              </a:r>
            </a:p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      </a:t>
              </a:r>
              <a:r>
                <a:rPr lang="en-US" altLang="zh-CN" sz="1600" b="1" dirty="0">
                  <a:latin typeface="+mn-ea"/>
                </a:rPr>
                <a:t>char a='A';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(a);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('A') 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('\x41');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('\101');</a:t>
              </a:r>
            </a:p>
            <a:p>
              <a:pPr>
                <a:spcBef>
                  <a:spcPts val="384"/>
                </a:spcBef>
              </a:pP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★ </a:t>
              </a:r>
              <a:r>
                <a:rPr lang="zh-CN" altLang="en-US" sz="1600" b="1" dirty="0">
                  <a:latin typeface="+mn-ea"/>
                </a:rPr>
                <a:t>某些编译器需要 </a:t>
              </a:r>
              <a:r>
                <a:rPr lang="en-US" altLang="zh-CN" sz="1600" b="1" dirty="0">
                  <a:latin typeface="+mn-ea"/>
                </a:rPr>
                <a:t>#include &lt;</a:t>
              </a:r>
              <a:r>
                <a:rPr lang="en-US" altLang="zh-CN" sz="1600" b="1" dirty="0" err="1">
                  <a:latin typeface="+mn-ea"/>
                </a:rPr>
                <a:t>cstdio</a:t>
              </a:r>
              <a:r>
                <a:rPr lang="en-US" altLang="zh-CN" sz="1600" b="1" dirty="0">
                  <a:latin typeface="+mn-ea"/>
                </a:rPr>
                <a:t>&gt; </a:t>
              </a:r>
              <a:r>
                <a:rPr lang="zh-CN" altLang="en-US" sz="1600" b="1" dirty="0">
                  <a:latin typeface="+mn-ea"/>
                </a:rPr>
                <a:t>或 </a:t>
              </a:r>
              <a:r>
                <a:rPr lang="en-US" altLang="zh-CN" sz="1600" b="1" dirty="0">
                  <a:latin typeface="+mn-ea"/>
                </a:rPr>
                <a:t>#include &lt;</a:t>
              </a:r>
              <a:r>
                <a:rPr lang="en-US" altLang="zh-CN" sz="1600" b="1" dirty="0" err="1">
                  <a:latin typeface="+mn-ea"/>
                </a:rPr>
                <a:t>stdio.h</a:t>
              </a:r>
              <a:r>
                <a:rPr lang="en-US" altLang="zh-CN" sz="1600" b="1" dirty="0">
                  <a:latin typeface="+mn-ea"/>
                </a:rPr>
                <a:t>&gt; 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(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目前所用的双编译器均不需要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)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★ </a:t>
              </a:r>
              <a:r>
                <a:rPr lang="zh-CN" altLang="en-US" sz="1600" b="1" dirty="0">
                  <a:latin typeface="+mn-ea"/>
                </a:rPr>
                <a:t>返回值是</a:t>
              </a:r>
              <a:r>
                <a:rPr lang="en-US" altLang="zh-CN" sz="1600" b="1" dirty="0">
                  <a:latin typeface="+mn-ea"/>
                </a:rPr>
                <a:t>int</a:t>
              </a:r>
              <a:r>
                <a:rPr lang="zh-CN" altLang="en-US" sz="1600" b="1" dirty="0">
                  <a:latin typeface="+mn-ea"/>
                </a:rPr>
                <a:t>型，是输出字符的</a:t>
              </a:r>
              <a:r>
                <a:rPr lang="en-US" altLang="zh-CN" sz="1600" b="1" dirty="0">
                  <a:latin typeface="+mn-ea"/>
                </a:rPr>
                <a:t>ASCII</a:t>
              </a:r>
              <a:r>
                <a:rPr lang="zh-CN" altLang="en-US" sz="1600" b="1" dirty="0">
                  <a:latin typeface="+mn-ea"/>
                </a:rPr>
                <a:t>码，可赋值给字符型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整型变量</a:t>
              </a:r>
              <a:endParaRPr lang="en-US" altLang="zh-CN" sz="1600" b="1" dirty="0">
                <a:latin typeface="+mn-ea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B0CE02B-3593-457B-B4F7-CD0409F679C3}"/>
                </a:ext>
              </a:extLst>
            </p:cNvPr>
            <p:cNvGrpSpPr/>
            <p:nvPr/>
          </p:nvGrpSpPr>
          <p:grpSpPr>
            <a:xfrm>
              <a:off x="2942894" y="2716923"/>
              <a:ext cx="2007476" cy="1082566"/>
              <a:chOff x="2575034" y="2469931"/>
              <a:chExt cx="2007476" cy="1082566"/>
            </a:xfrm>
          </p:grpSpPr>
          <p:sp>
            <p:nvSpPr>
              <p:cNvPr id="2" name="右大括号 1">
                <a:extLst>
                  <a:ext uri="{FF2B5EF4-FFF2-40B4-BE49-F238E27FC236}">
                    <a16:creationId xmlns:a16="http://schemas.microsoft.com/office/drawing/2014/main" id="{32EB0604-C928-4B33-9EBB-3976229256CA}"/>
                  </a:ext>
                </a:extLst>
              </p:cNvPr>
              <p:cNvSpPr/>
              <p:nvPr/>
            </p:nvSpPr>
            <p:spPr bwMode="auto">
              <a:xfrm>
                <a:off x="2575034" y="2469931"/>
                <a:ext cx="210207" cy="1082566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930F164-CA60-4FCA-9A93-A62D4BC319BA}"/>
                  </a:ext>
                </a:extLst>
              </p:cNvPr>
              <p:cNvSpPr/>
              <p:nvPr/>
            </p:nvSpPr>
            <p:spPr bwMode="auto">
              <a:xfrm>
                <a:off x="2858813" y="2853559"/>
                <a:ext cx="1723697" cy="31531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+mn-ea"/>
                  </a:rPr>
                  <a:t>均表示输出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+mn-ea"/>
                  </a:rPr>
                  <a:t>'A'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</a:endParaRPr>
              </a:p>
            </p:txBody>
          </p:sp>
        </p:grp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EF2E77F1-ED0B-4A39-BEEF-33CF244A372F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9748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464203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</a:rPr>
              <a:t>cstdio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&gt;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    char ret1;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(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</a:rPr>
              <a:t>ret1 = </a:t>
            </a:r>
            <a:r>
              <a:rPr kumimoji="1" lang="en-US" altLang="zh-CN" sz="1600" b="1" dirty="0" err="1">
                <a:solidFill>
                  <a:srgbClr val="0000FF"/>
                </a:solidFill>
                <a:latin typeface="宋体"/>
              </a:rPr>
              <a:t>putchar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</a:rPr>
              <a:t>('A')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int ret2;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(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  <a:ea typeface="宋体" pitchFamily="2" charset="-122"/>
              </a:rPr>
              <a:t>ret2 = </a:t>
            </a:r>
            <a:r>
              <a:rPr kumimoji="1" lang="en-US" altLang="zh-CN" sz="1600" b="1" dirty="0" err="1">
                <a:solidFill>
                  <a:srgbClr val="0000FF"/>
                </a:solidFill>
                <a:latin typeface="宋体"/>
                <a:ea typeface="宋体" pitchFamily="2" charset="-122"/>
              </a:rPr>
              <a:t>putchar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  <a:ea typeface="宋体" pitchFamily="2" charset="-122"/>
              </a:rPr>
              <a:t>('B')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234152" y="1323974"/>
            <a:ext cx="560125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、观察运行结果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、分析运行结果中各输出是哪个语句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函数造成的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可选：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en-US" altLang="zh-CN" sz="1600" b="1" dirty="0" err="1">
                <a:latin typeface="+mn-ea"/>
              </a:rPr>
              <a:t>putchar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答：第一个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 err="1">
                <a:latin typeface="+mn-ea"/>
              </a:rPr>
              <a:t>putchar</a:t>
            </a:r>
            <a:r>
              <a:rPr kumimoji="1" lang="zh-CN" altLang="en-US" sz="1600" b="1" dirty="0">
                <a:latin typeface="+mn-ea"/>
              </a:rPr>
              <a:t>造成的，第二个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造成的，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是由</a:t>
            </a:r>
            <a:r>
              <a:rPr kumimoji="1" lang="en-US" altLang="zh-CN" sz="1600" b="1" dirty="0" err="1">
                <a:latin typeface="+mn-ea"/>
              </a:rPr>
              <a:t>putchar</a:t>
            </a:r>
            <a:r>
              <a:rPr kumimoji="1" lang="zh-CN" altLang="en-US" sz="1600" b="1" dirty="0">
                <a:latin typeface="+mn-ea"/>
              </a:rPr>
              <a:t>造成的，</a:t>
            </a:r>
            <a:r>
              <a:rPr kumimoji="1" lang="en-US" altLang="zh-CN" sz="1600" b="1" dirty="0">
                <a:latin typeface="+mn-ea"/>
              </a:rPr>
              <a:t>66</a:t>
            </a:r>
            <a:r>
              <a:rPr kumimoji="1" lang="zh-CN" altLang="en-US" sz="1600" b="1" dirty="0">
                <a:latin typeface="+mn-ea"/>
              </a:rPr>
              <a:t>是由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造成的。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、这个例子能确认上个</a:t>
            </a:r>
            <a:r>
              <a:rPr kumimoji="1" lang="en-US" altLang="zh-CN" sz="1600" b="1" dirty="0">
                <a:latin typeface="+mn-ea"/>
              </a:rPr>
              <a:t>Page</a:t>
            </a:r>
            <a:r>
              <a:rPr kumimoji="1" lang="zh-CN" altLang="en-US" sz="1600" b="1" dirty="0">
                <a:latin typeface="+mn-ea"/>
              </a:rPr>
              <a:t>的基本知识中的说法：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"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返回值是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型，是输出字符的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ASCII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码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"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完全正确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部分正确吗？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答：不能确定返回值类型是否为</a:t>
            </a:r>
            <a:r>
              <a:rPr kumimoji="1" lang="en-US" altLang="zh-CN" sz="1600" b="1" dirty="0">
                <a:latin typeface="+mn-ea"/>
              </a:rPr>
              <a:t>int</a:t>
            </a:r>
          </a:p>
        </p:txBody>
      </p:sp>
      <p:pic>
        <p:nvPicPr>
          <p:cNvPr id="6" name="Picture 5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E61C43BB-61A9-CB89-BFE0-3178B7274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133" y="4208351"/>
            <a:ext cx="1016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6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自行构造测试程序，证明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型而不是</a:t>
            </a:r>
            <a:r>
              <a:rPr lang="en-US" altLang="zh-CN" sz="1600" b="1" dirty="0">
                <a:latin typeface="+mn-ea"/>
              </a:rPr>
              <a:t>char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要求两种方法，可以从课件找，也可以自行构造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0500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</a:rPr>
              <a:t>方法一</a:t>
            </a: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642140" y="1323974"/>
            <a:ext cx="51932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方法</a:t>
            </a:r>
            <a:r>
              <a:rPr kumimoji="1" lang="en-US" altLang="zh-CN" sz="1600" b="1" dirty="0">
                <a:latin typeface="+mn-ea"/>
              </a:rPr>
              <a:t>2</a:t>
            </a:r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BEB2693-A4CA-AF4A-5B6E-F992EBDC2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76" y="2186725"/>
            <a:ext cx="4305300" cy="2819400"/>
          </a:xfrm>
          <a:prstGeom prst="rect">
            <a:avLst/>
          </a:prstGeom>
        </p:spPr>
      </p:pic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83C498A-3894-997A-050E-019D648080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731" y="2186725"/>
            <a:ext cx="4731268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97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669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8BE06C-1167-4CA6-A8A4-89EAB35A31A6}"/>
              </a:ext>
            </a:extLst>
          </p:cNvPr>
          <p:cNvSpPr/>
          <p:nvPr/>
        </p:nvSpPr>
        <p:spPr bwMode="auto">
          <a:xfrm>
            <a:off x="525517" y="998484"/>
            <a:ext cx="10247586" cy="36786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字符输入函数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的基本知识：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形式：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功能：输入一个字符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给指定的变量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某些编译器需要 </a:t>
            </a: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cstdio</a:t>
            </a:r>
            <a:r>
              <a:rPr lang="en-US" altLang="zh-CN" sz="1600" b="1" dirty="0">
                <a:latin typeface="+mn-ea"/>
              </a:rPr>
              <a:t>&gt;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目前所用的双编译器均不需要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型，是输入字符的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码，可赋值给字符型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整型变量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输入有回显，而且不是键盘输入一个字符后立即执行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，必须要等按回车后才执行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  (</a:t>
            </a:r>
            <a:r>
              <a:rPr lang="zh-CN" altLang="en-US" sz="1600" b="1" dirty="0">
                <a:latin typeface="+mn-ea"/>
              </a:rPr>
              <a:t>弄清楚上课课件中的输入缓冲区的概念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可以输入空格，回车等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无法处理的非图形字符，但仍不能处理转义符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等每次仅从输入缓冲区中取需要的字节，多余的字节仍保留在输入缓冲区中供下次读取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815AFA2-89BE-4B1A-A198-5FCA5682287D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704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400444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#include &lt;</a:t>
            </a:r>
            <a:r>
              <a:rPr kumimoji="1" lang="en-US" altLang="zh-CN" sz="1600" b="1" dirty="0" err="1">
                <a:latin typeface="宋体"/>
              </a:rPr>
              <a:t>cstdio</a:t>
            </a:r>
            <a:r>
              <a:rPr kumimoji="1" lang="en-US" altLang="zh-CN" sz="1600" b="1" dirty="0"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    char </a:t>
            </a:r>
            <a:r>
              <a:rPr kumimoji="1" lang="en-US" altLang="zh-CN" sz="1600" b="1" dirty="0" err="1">
                <a:latin typeface="宋体"/>
              </a:rPr>
              <a:t>ch</a:t>
            </a:r>
            <a:r>
              <a:rPr kumimoji="1" lang="en-US" altLang="zh-CN" sz="1600" b="1" dirty="0"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    </a:t>
            </a:r>
            <a:r>
              <a:rPr kumimoji="1" lang="en-US" altLang="zh-CN" sz="1600" b="1" dirty="0" err="1">
                <a:latin typeface="宋体"/>
              </a:rPr>
              <a:t>cout</a:t>
            </a:r>
            <a:r>
              <a:rPr kumimoji="1" lang="en-US" altLang="zh-CN" sz="1600" b="1" dirty="0">
                <a:latin typeface="宋体"/>
              </a:rPr>
              <a:t> &lt;&lt; (</a:t>
            </a:r>
            <a:r>
              <a:rPr kumimoji="1" lang="en-US" altLang="zh-CN" sz="1600" b="1" dirty="0" err="1">
                <a:latin typeface="宋体"/>
              </a:rPr>
              <a:t>ch</a:t>
            </a:r>
            <a:r>
              <a:rPr kumimoji="1" lang="en-US" altLang="zh-CN" sz="1600" b="1" dirty="0">
                <a:latin typeface="宋体"/>
              </a:rPr>
              <a:t> = </a:t>
            </a:r>
            <a:r>
              <a:rPr kumimoji="1" lang="en-US" altLang="zh-CN" sz="1600" b="1" dirty="0" err="1">
                <a:latin typeface="宋体"/>
              </a:rPr>
              <a:t>getchar</a:t>
            </a:r>
            <a:r>
              <a:rPr kumimoji="1" lang="en-US" altLang="zh-CN" sz="1600" b="1" dirty="0">
                <a:latin typeface="宋体"/>
              </a:rPr>
              <a:t>()) &lt;&lt; </a:t>
            </a:r>
            <a:r>
              <a:rPr kumimoji="1" lang="en-US" altLang="zh-CN" sz="1600" b="1" dirty="0" err="1">
                <a:latin typeface="宋体"/>
              </a:rPr>
              <a:t>endl</a:t>
            </a:r>
            <a:r>
              <a:rPr kumimoji="1" lang="en-US" altLang="zh-CN" sz="1600" b="1" dirty="0"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}</a:t>
            </a:r>
            <a:endParaRPr kumimoji="1" lang="zh-CN" altLang="en-US" sz="1600" b="1" dirty="0">
              <a:latin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FDFE6E-92AB-4C0D-BB59-3E8A1961153B}"/>
              </a:ext>
            </a:extLst>
          </p:cNvPr>
          <p:cNvSpPr/>
          <p:nvPr/>
        </p:nvSpPr>
        <p:spPr bwMode="auto">
          <a:xfrm>
            <a:off x="8050924" y="1323974"/>
            <a:ext cx="278448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92113" y="5152127"/>
            <a:ext cx="3450327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____A_____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输出的是：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____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(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C78E6E-56A7-4620-824B-8079A84E6F94}"/>
              </a:ext>
            </a:extLst>
          </p:cNvPr>
          <p:cNvSpPr/>
          <p:nvPr/>
        </p:nvSpPr>
        <p:spPr bwMode="auto">
          <a:xfrm>
            <a:off x="4038399" y="5152127"/>
            <a:ext cx="4008483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____a____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输出的是：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____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(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777592-F44C-4656-8164-DB4DF5D32A2D}"/>
              </a:ext>
            </a:extLst>
          </p:cNvPr>
          <p:cNvSpPr/>
          <p:nvPr/>
        </p:nvSpPr>
        <p:spPr bwMode="auto">
          <a:xfrm>
            <a:off x="8050923" y="5152127"/>
            <a:ext cx="2784487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___97___</a:t>
            </a:r>
          </a:p>
        </p:txBody>
      </p:sp>
    </p:spTree>
    <p:extLst>
      <p:ext uri="{BB962C8B-B14F-4D97-AF65-F5344CB8AC3E}">
        <p14:creationId xmlns:p14="http://schemas.microsoft.com/office/powerpoint/2010/main" val="2276821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自行构造测试程序，证明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型而不是</a:t>
            </a:r>
            <a:r>
              <a:rPr lang="en-US" altLang="zh-CN" sz="1600" b="1" dirty="0">
                <a:latin typeface="+mn-ea"/>
              </a:rPr>
              <a:t>char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要求两种方法，可以从课件找，也可以自行构造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0500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</a:rPr>
              <a:t>方法一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642140" y="1323974"/>
            <a:ext cx="51932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方法</a:t>
            </a:r>
            <a:r>
              <a:rPr kumimoji="1" lang="en-US" altLang="zh-CN" sz="1600" b="1" dirty="0">
                <a:latin typeface="+mn-ea"/>
              </a:rPr>
              <a:t>2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2D72394-D112-03FE-8F46-0273D4C3D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40" y="2054225"/>
            <a:ext cx="4927600" cy="3479800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F385AE6-C878-C047-236E-7F93A46DA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433" y="1967293"/>
            <a:ext cx="42291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16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1</a:t>
            </a:r>
            <a:r>
              <a:rPr kumimoji="1" lang="zh-CN" altLang="en-US" sz="1600" b="1" dirty="0">
                <a:latin typeface="宋体"/>
              </a:rPr>
              <a:t>、键盘输入：</a:t>
            </a:r>
            <a:r>
              <a:rPr kumimoji="1" lang="en-US" altLang="zh-CN" sz="1600" b="1" dirty="0">
                <a:latin typeface="宋体"/>
              </a:rPr>
              <a:t>Hello</a:t>
            </a:r>
            <a:r>
              <a:rPr kumimoji="1" lang="en-US" altLang="zh-CN" sz="1600" b="1" dirty="0">
                <a:latin typeface="+mn-ea"/>
              </a:rPr>
              <a:t>↙ (5</a:t>
            </a:r>
            <a:r>
              <a:rPr kumimoji="1" lang="zh-CN" altLang="en-US" sz="1600" b="1" dirty="0">
                <a:latin typeface="+mn-ea"/>
              </a:rPr>
              <a:t>个字母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↙      (</a:t>
            </a:r>
            <a:r>
              <a:rPr kumimoji="1" lang="zh-CN" altLang="en-US" sz="1600" b="1" dirty="0">
                <a:latin typeface="+mn-ea"/>
              </a:rPr>
              <a:t>空回车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宋体"/>
              </a:rPr>
              <a:t>︺</a:t>
            </a:r>
            <a:r>
              <a:rPr kumimoji="1" lang="en-US" altLang="zh-CN" sz="1600" b="1" dirty="0">
                <a:latin typeface="+mn-ea"/>
              </a:rPr>
              <a:t>↙    (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\n↙    (2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\101↙  (4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b="1" dirty="0">
                <a:latin typeface="+mn-ea"/>
              </a:rPr>
              <a:t>结论：可以输入</a:t>
            </a:r>
            <a:r>
              <a:rPr kumimoji="1" lang="en-US" altLang="zh-CN" sz="1600" b="1" dirty="0">
                <a:latin typeface="+mn-ea"/>
              </a:rPr>
              <a:t>_a)__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__c)__</a:t>
            </a:r>
            <a:r>
              <a:rPr kumimoji="1" lang="zh-CN" altLang="en-US" sz="1600" b="1" dirty="0">
                <a:latin typeface="+mn-ea"/>
              </a:rPr>
              <a:t>等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无法处理的非图形字符，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zh-CN" altLang="en-US" sz="1600" b="1" dirty="0">
                <a:latin typeface="+mn-ea"/>
              </a:rPr>
              <a:t>但仍不能处理</a:t>
            </a:r>
            <a:r>
              <a:rPr kumimoji="1" lang="en-US" altLang="zh-CN" sz="1600" b="1" dirty="0">
                <a:latin typeface="+mn-ea"/>
              </a:rPr>
              <a:t>___b)___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a) </a:t>
            </a:r>
            <a:r>
              <a:rPr kumimoji="1" lang="zh-CN" altLang="en-US" sz="1600" b="1" dirty="0">
                <a:latin typeface="+mn-ea"/>
              </a:rPr>
              <a:t>空格  </a:t>
            </a:r>
            <a:r>
              <a:rPr kumimoji="1" lang="en-US" altLang="zh-CN" sz="1600" b="1" dirty="0">
                <a:latin typeface="+mn-ea"/>
              </a:rPr>
              <a:t>b) </a:t>
            </a:r>
            <a:r>
              <a:rPr kumimoji="1" lang="zh-CN" altLang="en-US" sz="1600" b="1" dirty="0">
                <a:latin typeface="+mn-ea"/>
              </a:rPr>
              <a:t>转义符   </a:t>
            </a:r>
            <a:r>
              <a:rPr kumimoji="1" lang="en-US" altLang="zh-CN" sz="1600" b="1" dirty="0">
                <a:latin typeface="+mn-ea"/>
              </a:rPr>
              <a:t>c) </a:t>
            </a:r>
            <a:r>
              <a:rPr kumimoji="1" lang="zh-CN" altLang="en-US" sz="1600" b="1" dirty="0">
                <a:latin typeface="+mn-ea"/>
              </a:rPr>
              <a:t>回车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1600" b="1" dirty="0">
              <a:latin typeface="宋体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20E446D-8CFD-C871-55B5-ACD99539C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583" y="4768135"/>
            <a:ext cx="965200" cy="8763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1CF6E0-6281-13BA-1F6F-19C81049C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219" y="4768135"/>
            <a:ext cx="990600" cy="8636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D061F5-002C-2E5A-716A-798F012826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891" y="4768135"/>
            <a:ext cx="571500" cy="850900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60C6B7-E8A7-AE22-EC82-E57853B760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684" y="4768135"/>
            <a:ext cx="826931" cy="876300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60D009-1CCC-E4A9-BFCF-2FBBDFBF65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942" y="4768135"/>
            <a:ext cx="826931" cy="92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66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"--Step1--"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"--Step2--"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"--Step3--"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"--Step4--"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本次要求仔细观察运行现象及结果，特别是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Step1~4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出现的时机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、每次输入一个回车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___4__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 1__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Step___2__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Step___3__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Step___4__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、第一次输入一个字母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回车，以后每次停顿，均输入一个字母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___3_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Step___3__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Step___4__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、第一次即输入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个以上的字母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__1__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结论：</a:t>
            </a:r>
            <a:r>
              <a:rPr kumimoji="1" lang="en-US" altLang="zh-CN" sz="1200" b="1" dirty="0" err="1">
                <a:latin typeface="+mn-ea"/>
              </a:rPr>
              <a:t>getchar</a:t>
            </a:r>
            <a:r>
              <a:rPr kumimoji="1" lang="zh-CN" altLang="en-US" sz="1200" b="1" dirty="0">
                <a:latin typeface="+mn-ea"/>
              </a:rPr>
              <a:t>每次仅从输入缓冲区中取需要的字节，多余的字节仍保留在输入缓冲区中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   </a:t>
            </a:r>
            <a:r>
              <a:rPr kumimoji="1" lang="zh-CN" altLang="en-US" sz="1200" b="1" dirty="0">
                <a:latin typeface="+mn-ea"/>
              </a:rPr>
              <a:t>供下次读取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思考：结合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“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与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的基本使用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”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中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3.c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的例子，考虑一下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3.c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中非法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m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对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的影响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错在第几个数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与输入缓冲区的关系，为什么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? </a:t>
            </a:r>
            <a:r>
              <a:rPr kumimoji="1" lang="zh-CN" altLang="en-US" sz="1200" b="1" dirty="0">
                <a:latin typeface="+mn-ea"/>
              </a:rPr>
              <a:t>答：读入非法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后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不再尝试在缓冲区读入而是直接返回。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6293209-5DF2-9E96-7AF3-226D3879E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860" y="4248218"/>
            <a:ext cx="662994" cy="1285807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ADD1FDC-5C31-2460-0845-F5883C5831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352" y="2959168"/>
            <a:ext cx="559471" cy="1276097"/>
          </a:xfrm>
          <a:prstGeom prst="rect">
            <a:avLst/>
          </a:prstGeom>
        </p:spPr>
      </p:pic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15150E2-7CA5-595B-0638-00C891EC11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173" y="1365318"/>
            <a:ext cx="731681" cy="167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21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将</a:t>
            </a:r>
            <a:r>
              <a:rPr lang="en-US" altLang="zh-CN" sz="1600" b="1" dirty="0">
                <a:latin typeface="+mn-ea"/>
              </a:rPr>
              <a:t>2.D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换为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方式的差异比较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"--Step1--"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 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"--Step2--"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 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"--Step3--"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 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"--Step4--"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本次要求仔细观察运行现象及结果，特别是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Step x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出现的时机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因为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不能读取空格、回车（有特殊方法可读，先忽略），因此测试有所不同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、第一次输入两个字母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回车，以后每次停顿，均输入两个字母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___2__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Step___3__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Step___4__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、第一次即输入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个以上的字母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___1__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Step___4__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简单描述一下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和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getchar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在读入字符时的差异：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读入时回车作为空白符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不会将其作为输入内容读入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77B0A2-BE33-F28D-CAB3-4755334FF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764" y="1389061"/>
            <a:ext cx="1181100" cy="2540000"/>
          </a:xfrm>
          <a:prstGeom prst="rect">
            <a:avLst/>
          </a:prstGeom>
        </p:spPr>
      </p:pic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FD8D2BF-8BC7-0E7F-A462-F639AEC40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764" y="3994147"/>
            <a:ext cx="11811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68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1280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1778D4-3869-47E1-B4AF-ED85DD20E55B}"/>
              </a:ext>
            </a:extLst>
          </p:cNvPr>
          <p:cNvSpPr/>
          <p:nvPr/>
        </p:nvSpPr>
        <p:spPr bwMode="auto">
          <a:xfrm>
            <a:off x="4042440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1D705-CED0-483E-A2B5-BE7B6D92D86E}"/>
              </a:ext>
            </a:extLst>
          </p:cNvPr>
          <p:cNvSpPr/>
          <p:nvPr/>
        </p:nvSpPr>
        <p:spPr bwMode="auto">
          <a:xfrm>
            <a:off x="7492767" y="1326603"/>
            <a:ext cx="334668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C1EA6D-E078-4E03-B916-40014A6CF200}"/>
              </a:ext>
            </a:extLst>
          </p:cNvPr>
          <p:cNvSpPr/>
          <p:nvPr/>
        </p:nvSpPr>
        <p:spPr bwMode="auto">
          <a:xfrm>
            <a:off x="7234400" y="681529"/>
            <a:ext cx="3605050" cy="4834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、测试时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cmd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窗口下面不能是中文输入法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&lt;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&gt;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是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()/_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需要的头文件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0474E8-13A1-4EA0-9A3A-C87838C5F9A3}"/>
              </a:ext>
            </a:extLst>
          </p:cNvPr>
          <p:cNvSpPr/>
          <p:nvPr/>
        </p:nvSpPr>
        <p:spPr bwMode="auto">
          <a:xfrm>
            <a:off x="592112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______97______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____10____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5601AF-2D9F-4607-8CE5-7A252F946460}"/>
              </a:ext>
            </a:extLst>
          </p:cNvPr>
          <p:cNvSpPr/>
          <p:nvPr/>
        </p:nvSpPr>
        <p:spPr bwMode="auto">
          <a:xfrm>
            <a:off x="4042439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______97______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____13____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D0A122-61BB-4EE5-859C-432099C8CB6D}"/>
              </a:ext>
            </a:extLst>
          </p:cNvPr>
          <p:cNvSpPr/>
          <p:nvPr/>
        </p:nvSpPr>
        <p:spPr bwMode="auto">
          <a:xfrm>
            <a:off x="7492766" y="4414345"/>
            <a:ext cx="3346684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______97_____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____13____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65AE2D-EA83-441E-AE98-97FBD7CF17EF}"/>
              </a:ext>
            </a:extLst>
          </p:cNvPr>
          <p:cNvSpPr/>
          <p:nvPr/>
        </p:nvSpPr>
        <p:spPr bwMode="auto">
          <a:xfrm>
            <a:off x="592112" y="6239531"/>
            <a:ext cx="10247336" cy="294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注：直接按回车时的差异，了解即可，具体原因有兴趣自己课外查阅，不提供技术支持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508E7A-2335-4A00-82B2-03EC2447EDCA}"/>
              </a:ext>
            </a:extLst>
          </p:cNvPr>
          <p:cNvSpPr/>
          <p:nvPr/>
        </p:nvSpPr>
        <p:spPr bwMode="auto">
          <a:xfrm>
            <a:off x="10839448" y="1683973"/>
            <a:ext cx="1221488" cy="7596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C83835-05A9-4E64-D239-F51638BC4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154" y="3429000"/>
            <a:ext cx="685800" cy="965200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E437DE-02A6-3E75-3C04-F4020BA11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53" y="3431611"/>
            <a:ext cx="733974" cy="962589"/>
          </a:xfrm>
          <a:prstGeom prst="rect">
            <a:avLst/>
          </a:prstGeom>
        </p:spPr>
      </p:pic>
      <p:pic>
        <p:nvPicPr>
          <p:cNvPr id="17" name="Picture 1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7C63B97A-63E1-41A4-24CF-30E21B37D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480" y="3674460"/>
            <a:ext cx="698500" cy="660400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5FA86B-EB8E-C382-FA2F-7CBE3B0FFE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792" y="3659136"/>
            <a:ext cx="914400" cy="673100"/>
          </a:xfrm>
          <a:prstGeom prst="rect">
            <a:avLst/>
          </a:prstGeom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EA2F15-FA69-7998-1187-2FA9DDA5E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807" y="3649444"/>
            <a:ext cx="825500" cy="711200"/>
          </a:xfrm>
          <a:prstGeom prst="rect">
            <a:avLst/>
          </a:prstGeom>
        </p:spPr>
      </p:pic>
      <p:pic>
        <p:nvPicPr>
          <p:cNvPr id="23" name="Picture 22" descr="A close up of a computer screen&#10;&#10;AI-generated content may be incorrect.">
            <a:extLst>
              <a:ext uri="{FF2B5EF4-FFF2-40B4-BE49-F238E27FC236}">
                <a16:creationId xmlns:a16="http://schemas.microsoft.com/office/drawing/2014/main" id="{123A1C9B-49B1-2654-6FE3-C0DB87E869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846" y="3598644"/>
            <a:ext cx="698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44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哪个编译器报错？</a:t>
            </a:r>
            <a:r>
              <a:rPr kumimoji="1" lang="en-US" altLang="zh-CN" sz="2000" b="1" dirty="0">
                <a:latin typeface="宋体" pitchFamily="2" charset="-122"/>
                <a:ea typeface="宋体" pitchFamily="2" charset="-122"/>
              </a:rPr>
              <a:t>VS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哪个编译器下结果同</a:t>
            </a:r>
            <a:r>
              <a:rPr kumimoji="1" lang="en-US" altLang="zh-CN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</a:t>
            </a:r>
            <a:r>
              <a:rPr kumimoji="1" lang="zh-CN" altLang="en-US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？</a:t>
            </a:r>
            <a:r>
              <a:rPr kumimoji="1" lang="en-US" altLang="zh-CN" sz="2000" b="1" dirty="0">
                <a:latin typeface="宋体" pitchFamily="2" charset="-122"/>
                <a:ea typeface="宋体" pitchFamily="2" charset="-122"/>
              </a:rPr>
              <a:t>Dev</a:t>
            </a:r>
            <a:endParaRPr kumimoji="1" lang="zh-CN" altLang="en-US" sz="2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1778D4-3869-47E1-B4AF-ED85DD20E55B}"/>
              </a:ext>
            </a:extLst>
          </p:cNvPr>
          <p:cNvSpPr/>
          <p:nvPr/>
        </p:nvSpPr>
        <p:spPr bwMode="auto">
          <a:xfrm>
            <a:off x="4042440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1D705-CED0-483E-A2B5-BE7B6D92D86E}"/>
              </a:ext>
            </a:extLst>
          </p:cNvPr>
          <p:cNvSpPr/>
          <p:nvPr/>
        </p:nvSpPr>
        <p:spPr bwMode="auto">
          <a:xfrm>
            <a:off x="7492767" y="1326603"/>
            <a:ext cx="334668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C1EA6D-E078-4E03-B916-40014A6CF200}"/>
              </a:ext>
            </a:extLst>
          </p:cNvPr>
          <p:cNvSpPr/>
          <p:nvPr/>
        </p:nvSpPr>
        <p:spPr bwMode="auto">
          <a:xfrm>
            <a:off x="7234400" y="681529"/>
            <a:ext cx="3605050" cy="4834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、测试时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cmd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窗口下面不能是中文输入法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&lt;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&gt;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是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()/_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需要的头文件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5601AF-2D9F-4607-8CE5-7A252F946460}"/>
              </a:ext>
            </a:extLst>
          </p:cNvPr>
          <p:cNvSpPr/>
          <p:nvPr/>
        </p:nvSpPr>
        <p:spPr bwMode="auto">
          <a:xfrm>
            <a:off x="4042439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______97_______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___13____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D0A122-61BB-4EE5-859C-432099C8CB6D}"/>
              </a:ext>
            </a:extLst>
          </p:cNvPr>
          <p:cNvSpPr/>
          <p:nvPr/>
        </p:nvSpPr>
        <p:spPr bwMode="auto">
          <a:xfrm>
            <a:off x="7492766" y="4414345"/>
            <a:ext cx="3346684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______97______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____13____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823A1A-0AA8-4685-B25A-268E4AB4986D}"/>
              </a:ext>
            </a:extLst>
          </p:cNvPr>
          <p:cNvSpPr/>
          <p:nvPr/>
        </p:nvSpPr>
        <p:spPr bwMode="auto">
          <a:xfrm>
            <a:off x="1211971" y="2135918"/>
            <a:ext cx="2340525" cy="4391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A9B3F7-3720-6ACC-D6CE-9DFF3A44B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519" y="2135918"/>
            <a:ext cx="2255247" cy="509249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BAC24F-B970-4C96-A58E-F2595041C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300" y="3665045"/>
            <a:ext cx="838200" cy="749300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DB2112-4FD6-5833-8413-F2A54FE73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677" y="3649320"/>
            <a:ext cx="635000" cy="749300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3721BB-C0F0-3518-3262-50759E156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927" y="3681070"/>
            <a:ext cx="850900" cy="685800"/>
          </a:xfrm>
          <a:prstGeom prst="rect">
            <a:avLst/>
          </a:prstGeom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0012C0-471F-1A58-62E6-9DFAA0C56C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8768" y="3693770"/>
            <a:ext cx="609600" cy="660400"/>
          </a:xfrm>
          <a:prstGeom prst="rect">
            <a:avLst/>
          </a:prstGeom>
        </p:spPr>
      </p:pic>
      <p:pic>
        <p:nvPicPr>
          <p:cNvPr id="23" name="Picture 2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70D6B40-B881-CD46-0870-DC8A51517F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096" y="2131915"/>
            <a:ext cx="2487444" cy="58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83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2116563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1369</TotalTime>
  <Words>3570</Words>
  <Application>Microsoft Macintosh PowerPoint</Application>
  <PresentationFormat>Widescreen</PresentationFormat>
  <Paragraphs>409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等线</vt:lpstr>
      <vt:lpstr>宋体</vt:lpstr>
      <vt:lpstr>Times New Roman</vt:lpstr>
      <vt:lpstr>1_默认设计模板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Tonhie Xavier</cp:lastModifiedBy>
  <cp:revision>193</cp:revision>
  <dcterms:created xsi:type="dcterms:W3CDTF">2020-08-13T13:39:53Z</dcterms:created>
  <dcterms:modified xsi:type="dcterms:W3CDTF">2025-03-17T06:31:36Z</dcterms:modified>
</cp:coreProperties>
</file>