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28"/>
  </p:notesMasterIdLst>
  <p:sldIdLst>
    <p:sldId id="838" r:id="rId2"/>
    <p:sldId id="1309" r:id="rId3"/>
    <p:sldId id="990" r:id="rId4"/>
    <p:sldId id="992" r:id="rId5"/>
    <p:sldId id="993" r:id="rId6"/>
    <p:sldId id="1238" r:id="rId7"/>
    <p:sldId id="1244" r:id="rId8"/>
    <p:sldId id="1245" r:id="rId9"/>
    <p:sldId id="1239" r:id="rId10"/>
    <p:sldId id="1246" r:id="rId11"/>
    <p:sldId id="1247" r:id="rId12"/>
    <p:sldId id="1240" r:id="rId13"/>
    <p:sldId id="1248" r:id="rId14"/>
    <p:sldId id="1249" r:id="rId15"/>
    <p:sldId id="1250" r:id="rId16"/>
    <p:sldId id="1241" r:id="rId17"/>
    <p:sldId id="1251" r:id="rId18"/>
    <p:sldId id="1252" r:id="rId19"/>
    <p:sldId id="1253" r:id="rId20"/>
    <p:sldId id="1254" r:id="rId21"/>
    <p:sldId id="1242" r:id="rId22"/>
    <p:sldId id="1255" r:id="rId23"/>
    <p:sldId id="1256" r:id="rId24"/>
    <p:sldId id="1257" r:id="rId25"/>
    <p:sldId id="1243" r:id="rId26"/>
    <p:sldId id="1258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/>
    <p:restoredTop sz="94682"/>
  </p:normalViewPr>
  <p:slideViewPr>
    <p:cSldViewPr snapToGrid="0">
      <p:cViewPr varScale="1">
        <p:scale>
          <a:sx n="99" d="100"/>
          <a:sy n="99" d="100"/>
        </p:scale>
        <p:origin x="19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2025/5/7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755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109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65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681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8501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426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977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01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892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851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6154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025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93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8B5E3D3-37C4-4BB5-A53A-9A3EE5FD31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8348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、完成本文档中所有的题目并写出分析、运行结果，体会字符数组输入输出时不同用法的差异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>
                <a:solidFill>
                  <a:srgbClr val="FF0000"/>
                </a:solidFill>
                <a:latin typeface="+mn-ea"/>
              </a:rPr>
              <a:t>10</a:t>
            </a:r>
            <a:r>
              <a:rPr lang="zh-CN" altLang="en-US" sz="1600" b="1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09360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</a:t>
            </a:r>
            <a:r>
              <a:rPr lang="zh-CN" altLang="en-US" sz="2800" b="1">
                <a:latin typeface="+mn-ea"/>
              </a:rPr>
              <a:t>知识题 </a:t>
            </a:r>
            <a:r>
              <a:rPr lang="en-US" altLang="zh-CN" sz="2800" b="1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编辑窗的右下角是否为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83A95833-2AE8-4AB2-8186-65B0BE7B5B20}"/>
              </a:ext>
            </a:extLst>
          </p:cNvPr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73DA64-1F34-46A4-9B77-30180EAB9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6" y="1623695"/>
            <a:ext cx="922972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98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总体知识：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常用字符串处理函数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① 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 (const char s[]);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② </a:t>
            </a:r>
            <a:r>
              <a:rPr lang="en-US" altLang="zh-CN" sz="1600" b="1" dirty="0" err="1">
                <a:latin typeface="+mn-ea"/>
              </a:rPr>
              <a:t>strcat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③ </a:t>
            </a:r>
            <a:r>
              <a:rPr lang="en-US" altLang="zh-CN" sz="1600" b="1" dirty="0" err="1">
                <a:latin typeface="+mn-ea"/>
              </a:rPr>
              <a:t>strncat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④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 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⑤ 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⑥ </a:t>
            </a:r>
            <a:r>
              <a:rPr lang="en-US" altLang="zh-CN" sz="1600" b="1" dirty="0" err="1">
                <a:latin typeface="+mn-ea"/>
              </a:rPr>
              <a:t>strcmp</a:t>
            </a:r>
            <a:r>
              <a:rPr lang="en-US" altLang="zh-CN" sz="1600" b="1" dirty="0">
                <a:latin typeface="+mn-ea"/>
              </a:rPr>
              <a:t> (const char s1[], const char s2[]);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⑦ </a:t>
            </a:r>
            <a:r>
              <a:rPr lang="en-US" altLang="zh-CN" sz="1600" b="1" dirty="0" err="1">
                <a:latin typeface="+mn-ea"/>
              </a:rPr>
              <a:t>strncmp</a:t>
            </a:r>
            <a:r>
              <a:rPr lang="en-US" altLang="zh-CN" sz="1600" b="1" dirty="0">
                <a:latin typeface="+mn-ea"/>
              </a:rPr>
              <a:t>(const char s1[], const char s2[], const unsigned int </a:t>
            </a:r>
            <a:r>
              <a:rPr lang="en-US" altLang="zh-CN" sz="1600" b="1" dirty="0" err="1">
                <a:latin typeface="+mn-ea"/>
              </a:rPr>
              <a:t>len</a:t>
            </a:r>
            <a:r>
              <a:rPr lang="en-US" altLang="zh-CN" sz="1600" b="1" dirty="0"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更多的字符串处理函数通过作业完成并理解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教材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参考资料中，很多形式是 </a:t>
            </a:r>
            <a:r>
              <a:rPr lang="en-US" altLang="zh-CN" sz="1600" b="1" dirty="0">
                <a:latin typeface="+mn-ea"/>
              </a:rPr>
              <a:t>const char *s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暂时忽略</a:t>
            </a:r>
            <a:r>
              <a:rPr lang="zh-CN" altLang="en-US" sz="1600" b="1" dirty="0">
                <a:latin typeface="+mn-ea"/>
              </a:rPr>
              <a:t>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●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先不要考虑这些函数的返回值，待学习指针后再进一步理解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97344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能：求字符串的长度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输入参数：存放字符串的字符数组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返 回 值：整型值表示的长度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注意事项：返回第一个</a:t>
            </a:r>
            <a:r>
              <a:rPr lang="en-US" altLang="zh-CN" sz="1600" b="1" dirty="0">
                <a:latin typeface="+mn-ea"/>
              </a:rPr>
              <a:t>'\0'</a:t>
            </a:r>
            <a:r>
              <a:rPr lang="zh-CN" altLang="en-US" sz="1600" b="1" dirty="0">
                <a:latin typeface="+mn-ea"/>
              </a:rPr>
              <a:t>前的字符数量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不含</a:t>
            </a:r>
            <a:r>
              <a:rPr lang="en-US" altLang="zh-CN" sz="1600" b="1" dirty="0">
                <a:latin typeface="+mn-ea"/>
              </a:rPr>
              <a:t>'\0'</a:t>
            </a:r>
          </a:p>
        </p:txBody>
      </p:sp>
    </p:spTree>
    <p:extLst>
      <p:ext uri="{BB962C8B-B14F-4D97-AF65-F5344CB8AC3E}">
        <p14:creationId xmlns:p14="http://schemas.microsoft.com/office/powerpoint/2010/main" val="3125744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1.strlen(const char s[])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：字符数组与字符串长度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90718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str2[]="china\0Hello\0\0";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strlen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读操作，不需要加</a:t>
            </a:r>
            <a:r>
              <a:rPr kumimoji="1" lang="en-US" altLang="zh-CN" sz="1600" b="1" dirty="0">
                <a:solidFill>
                  <a:schemeClr val="accent2"/>
                </a:solidFill>
                <a:latin typeface="宋体" pitchFamily="2" charset="-122"/>
                <a:ea typeface="宋体" pitchFamily="2" charset="-122"/>
              </a:rPr>
              <a:t>_CRT_SECURE_NO_WARNINGS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、求数组长度时，无论是否有显式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，最后一定有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、当含有多个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\0(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显式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隐式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时，字符串长度计算到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第一个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______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为止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012389A-BD8F-4936-BF73-8A73F0345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811" y="1263316"/>
            <a:ext cx="368887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FC2C50-D626-E8C9-C224-6ECD10BE5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998" y="1795618"/>
            <a:ext cx="1379050" cy="161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971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含尾零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两串总长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105053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：字符串连接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不能缺省，至少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18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字节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!!!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问题：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str2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数组的默认长度是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_10_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、结合前面字符数组输入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输出的作业，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strcat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复制时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__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（包含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不包含）</a:t>
            </a:r>
            <a:r>
              <a:rPr lang="en-US" altLang="zh-CN" sz="16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src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en-US" sz="1600" b="1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0B8B460A-C2ED-05CA-355A-03A41DB77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2221" y="163629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06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2.strcat(char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：字符串连接（错误）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6206598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 &lt;&lt; '#'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#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的目的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__18__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)+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)+1___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2221" y="1263316"/>
            <a:ext cx="2389466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AB16F0DB-DF48-4A18-8E11-EE9E32979626}"/>
              </a:ext>
            </a:extLst>
          </p:cNvPr>
          <p:cNvCxnSpPr>
            <a:cxnSpLocks/>
          </p:cNvCxnSpPr>
          <p:nvPr/>
        </p:nvCxnSpPr>
        <p:spPr bwMode="auto">
          <a:xfrm>
            <a:off x="2153653" y="2680138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0C6196C1-1A9C-34E0-65C7-7E567703B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053" y="1878773"/>
            <a:ext cx="41275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1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个字符</a:t>
            </a:r>
            <a:r>
              <a:rPr lang="zh-CN" altLang="en-US" sz="1600" b="1" dirty="0">
                <a:latin typeface="+mn-ea"/>
              </a:rPr>
              <a:t>连接到字符串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的尾部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长度，则只连接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原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dst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+n+1)</a:t>
            </a:r>
          </a:p>
        </p:txBody>
      </p:sp>
    </p:spTree>
    <p:extLst>
      <p:ext uri="{BB962C8B-B14F-4D97-AF65-F5344CB8AC3E}">
        <p14:creationId xmlns:p14="http://schemas.microsoft.com/office/powerpoint/2010/main" val="2804800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str1[30]="Tongji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str2[30]="Tongji 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(str2, str3, 300)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但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表示的字符串的长度时，连接规则是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将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所有有效字符串与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连接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D14C1BC-6D80-3BA3-2161-70DF38D6A4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799" y="1832810"/>
            <a:ext cx="21463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76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3.strncat(char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const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：字符串连接前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个字符（错误）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例：字符串连接前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n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个字符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str1[]="Tongji 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str3[]="University";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缺省长度为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strncat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str3, 3)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数组的大小必须给出，不能默认，其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__14___</a:t>
            </a:r>
            <a:r>
              <a:rPr lang="zh-CN" altLang="en-US" sz="1600" b="1" dirty="0">
                <a:latin typeface="+mn-ea"/>
              </a:rPr>
              <a:t>（针对本例的一个具体数字）。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) + n + 1__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8746F36-5310-4C28-B3A6-F02820454B79}"/>
              </a:ext>
            </a:extLst>
          </p:cNvPr>
          <p:cNvCxnSpPr>
            <a:cxnSpLocks/>
          </p:cNvCxnSpPr>
          <p:nvPr/>
        </p:nvCxnSpPr>
        <p:spPr bwMode="auto">
          <a:xfrm>
            <a:off x="2165685" y="2764359"/>
            <a:ext cx="0" cy="544325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Picture 4" descr="A black and white text&#10;&#10;AI-generated content may be incorrect.">
            <a:extLst>
              <a:ext uri="{FF2B5EF4-FFF2-40B4-BE49-F238E27FC236}">
                <a16:creationId xmlns:a16="http://schemas.microsoft.com/office/drawing/2014/main" id="{FF60C20A-CD5A-CE05-7244-AC76F1F040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59" y="1727111"/>
            <a:ext cx="44069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202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 </a:t>
            </a:r>
            <a:r>
              <a:rPr lang="en-US" altLang="zh-CN" sz="1600" b="1" dirty="0" err="1">
                <a:latin typeface="+mn-ea"/>
              </a:rPr>
              <a:t>strcpy</a:t>
            </a:r>
            <a:r>
              <a:rPr lang="en-US" altLang="zh-CN" sz="1600" b="1" dirty="0">
                <a:latin typeface="+mn-ea"/>
              </a:rPr>
              <a:t>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+1)</a:t>
            </a:r>
          </a:p>
        </p:txBody>
      </p:sp>
    </p:spTree>
    <p:extLst>
      <p:ext uri="{BB962C8B-B14F-4D97-AF65-F5344CB8AC3E}">
        <p14:creationId xmlns:p14="http://schemas.microsoft.com/office/powerpoint/2010/main" val="406667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、字符串复制时，复制到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CN" sz="1600" b="1" dirty="0">
                <a:latin typeface="+mn-ea"/>
              </a:rPr>
              <a:t>终止符</a:t>
            </a:r>
            <a:r>
              <a:rPr lang="en-US" altLang="zh-CN" sz="1600" b="1" dirty="0">
                <a:latin typeface="+mn-ea"/>
              </a:rPr>
              <a:t>\0__</a:t>
            </a:r>
            <a:r>
              <a:rPr lang="zh-CN" altLang="en-US" sz="1600" b="1" dirty="0">
                <a:latin typeface="+mn-ea"/>
              </a:rPr>
              <a:t>为止，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包含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，之后的字符不再复制。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、在运行截图中用箭头指出证明结论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的位置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452E73-E1B5-31BD-85EE-E0824DA85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42" y="1678152"/>
            <a:ext cx="3187700" cy="889000"/>
          </a:xfrm>
          <a:prstGeom prst="rect">
            <a:avLst/>
          </a:prstGeom>
        </p:spPr>
      </p:pic>
      <p:cxnSp>
        <p:nvCxnSpPr>
          <p:cNvPr id="4" name="直接箭头连接符 9">
            <a:extLst>
              <a:ext uri="{FF2B5EF4-FFF2-40B4-BE49-F238E27FC236}">
                <a16:creationId xmlns:a16="http://schemas.microsoft.com/office/drawing/2014/main" id="{3E24AFB6-6A98-478A-F6DF-E5F83F9C6F64}"/>
              </a:ext>
            </a:extLst>
          </p:cNvPr>
          <p:cNvCxnSpPr>
            <a:cxnSpLocks/>
          </p:cNvCxnSpPr>
          <p:nvPr/>
        </p:nvCxnSpPr>
        <p:spPr bwMode="auto">
          <a:xfrm flipV="1">
            <a:off x="7961178" y="2567152"/>
            <a:ext cx="513121" cy="861848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724046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：字符串拷贝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数组的默认大小时</a:t>
            </a:r>
            <a:r>
              <a:rPr lang="en-US" altLang="zh-CN" sz="1600" b="1" dirty="0">
                <a:latin typeface="+mn-ea"/>
              </a:rPr>
              <a:t>_____8______</a:t>
            </a:r>
            <a:r>
              <a:rPr lang="zh-CN" altLang="en-US" sz="1600" b="1" dirty="0">
                <a:latin typeface="+mn-ea"/>
              </a:rPr>
              <a:t>，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数组的默认大小是</a:t>
            </a:r>
            <a:r>
              <a:rPr lang="en-US" altLang="zh-CN" sz="1600" b="1" dirty="0">
                <a:latin typeface="+mn-ea"/>
              </a:rPr>
              <a:t>______12______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数组的大小超过了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数组的大小，为什么运行不出错？答：选取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的时候读到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就停止了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、本例中，复制到</a:t>
            </a:r>
            <a:r>
              <a:rPr lang="en-US" altLang="zh-CN" sz="1600" b="1" dirty="0">
                <a:latin typeface="+mn-ea"/>
              </a:rPr>
              <a:t>b[_5_]</a:t>
            </a:r>
            <a:r>
              <a:rPr lang="zh-CN" altLang="en-US" sz="1600" b="1" dirty="0">
                <a:latin typeface="+mn-ea"/>
              </a:rPr>
              <a:t>就停止复制了？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2355DA-F471-6093-A089-C8C6A2683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0415" y="1636296"/>
            <a:ext cx="31115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90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4.strcpy(char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：字符串拷贝（有错）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11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]="student", b[]="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hellochina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strcpy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a,b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]!='\0';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、本程序为什么会错？答：选取的</a:t>
            </a:r>
            <a:r>
              <a:rPr lang="en-US" altLang="zh-CN" sz="1600" b="1" dirty="0">
                <a:latin typeface="+mn-ea"/>
              </a:rPr>
              <a:t>b</a:t>
            </a:r>
            <a:r>
              <a:rPr lang="zh-CN" altLang="en-US" sz="1600" b="1" dirty="0">
                <a:latin typeface="+mn-ea"/>
              </a:rPr>
              <a:t>的长度超过了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的缺省长度。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、仅改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的定义使正确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如何做？（直接在上面的源程序中用红色写出修改内容即可）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最小</a:t>
            </a:r>
            <a:r>
              <a:rPr lang="zh-CN" altLang="en-US" sz="1600" b="1" dirty="0">
                <a:latin typeface="+mn-ea"/>
              </a:rPr>
              <a:t>长度是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en-US" altLang="zh-CN" sz="1600" b="1" dirty="0" err="1">
                <a:latin typeface="+mn-ea"/>
              </a:rPr>
              <a:t>strlen</a:t>
            </a:r>
            <a:r>
              <a:rPr lang="en-US" altLang="zh-CN" sz="1600" b="1" dirty="0">
                <a:latin typeface="+mn-ea"/>
              </a:rPr>
              <a:t>(b) + 1___</a:t>
            </a:r>
            <a:r>
              <a:rPr lang="zh-CN" altLang="en-US" sz="1600" b="1" dirty="0">
                <a:latin typeface="+mn-ea"/>
              </a:rPr>
              <a:t>（通用规则）才能保证正确。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close up of a text&#10;&#10;AI-generated content may be incorrect.">
            <a:extLst>
              <a:ext uri="{FF2B5EF4-FFF2-40B4-BE49-F238E27FC236}">
                <a16:creationId xmlns:a16="http://schemas.microsoft.com/office/drawing/2014/main" id="{BF22C3D5-3010-C30F-5C16-9EF5C81C2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359" y="1549364"/>
            <a:ext cx="43307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60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能：将字符串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前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个</a:t>
            </a:r>
            <a:r>
              <a:rPr lang="zh-CN" altLang="en-US" sz="1600" b="1" dirty="0">
                <a:latin typeface="+mn-ea"/>
              </a:rPr>
              <a:t>复制到字符串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中</a:t>
            </a:r>
            <a:r>
              <a:rPr lang="en-US" altLang="zh-CN" sz="1600" b="1" dirty="0">
                <a:latin typeface="+mn-ea"/>
              </a:rPr>
              <a:t>,</a:t>
            </a:r>
            <a:r>
              <a:rPr lang="zh-CN" altLang="en-US" sz="1600" b="1" dirty="0">
                <a:latin typeface="+mn-ea"/>
              </a:rPr>
              <a:t>覆盖原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串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输入参数：存放字符串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要复制的长度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只读，如果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n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超过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长度，则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只复制</a:t>
            </a:r>
            <a:r>
              <a:rPr lang="en-US" altLang="zh-CN" sz="1600" b="1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个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值：改变后的字符数组</a:t>
            </a:r>
            <a:r>
              <a:rPr lang="en-US" altLang="zh-CN" sz="1600" b="1" dirty="0" err="1">
                <a:latin typeface="+mn-ea"/>
              </a:rPr>
              <a:t>dst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注意事项：字符数组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要有足够的空间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(min(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串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src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长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,n)+1)</a:t>
            </a:r>
          </a:p>
        </p:txBody>
      </p:sp>
    </p:spTree>
    <p:extLst>
      <p:ext uri="{BB962C8B-B14F-4D97-AF65-F5344CB8AC3E}">
        <p14:creationId xmlns:p14="http://schemas.microsoft.com/office/powerpoint/2010/main" val="235404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(a, b,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本程序证明了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复制时，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不包含</a:t>
            </a:r>
            <a:r>
              <a:rPr lang="en-US" altLang="zh-CN" sz="1600" b="1" dirty="0">
                <a:latin typeface="+mn-ea"/>
              </a:rPr>
              <a:t>____</a:t>
            </a:r>
            <a:r>
              <a:rPr lang="zh-CN" altLang="en-US" sz="1600" b="1" dirty="0">
                <a:latin typeface="+mn-ea"/>
              </a:rPr>
              <a:t>（包含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不包含）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F0A841F4-E6BE-0A9A-53AE-A94C48AEF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814" y="1636296"/>
            <a:ext cx="3060700" cy="7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575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char a[]="student", b[]="hello";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strncpy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(a, __b+2__, 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=0;i&lt;8;i++)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如果想从</a:t>
            </a:r>
            <a:r>
              <a:rPr lang="en-US" altLang="zh-CN" sz="1600" b="1" dirty="0">
                <a:latin typeface="+mn-ea"/>
              </a:rPr>
              <a:t>b[2]</a:t>
            </a:r>
            <a:r>
              <a:rPr lang="zh-CN" altLang="en-US" sz="1600" b="1" dirty="0">
                <a:latin typeface="+mn-ea"/>
              </a:rPr>
              <a:t>开始复制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个字符到</a:t>
            </a:r>
            <a:r>
              <a:rPr lang="en-US" altLang="zh-CN" sz="1600" b="1" dirty="0">
                <a:latin typeface="+mn-ea"/>
              </a:rPr>
              <a:t>a</a:t>
            </a:r>
            <a:r>
              <a:rPr lang="zh-CN" altLang="en-US" sz="1600" b="1" dirty="0">
                <a:latin typeface="+mn-ea"/>
              </a:rPr>
              <a:t>中，如何做？（即期望输出：</a:t>
            </a:r>
            <a:r>
              <a:rPr lang="en-US" altLang="zh-CN" sz="1600" b="1" dirty="0" err="1">
                <a:latin typeface="+mn-ea"/>
              </a:rPr>
              <a:t>lludent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（直接在源程序中修改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CN" sz="1600" b="1" dirty="0">
                <a:latin typeface="+mn-ea"/>
              </a:rPr>
              <a:t>起始位置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位置即可）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F944FA2A-5D9F-CDBA-1804-A3BD40327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921" y="1636296"/>
            <a:ext cx="32639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570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12;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12;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//12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观察两个</a:t>
            </a:r>
            <a:r>
              <a:rPr lang="en-US" altLang="zh-CN" sz="1600" b="1" dirty="0">
                <a:latin typeface="+mn-ea"/>
              </a:rPr>
              <a:t>for</a:t>
            </a:r>
            <a:r>
              <a:rPr lang="zh-CN" altLang="en-US" sz="1600" b="1" dirty="0">
                <a:latin typeface="+mn-ea"/>
              </a:rPr>
              <a:t>循环的后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个数字的输出，能得到什么结论？（提示：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长度是到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为止吗</a:t>
            </a:r>
            <a:r>
              <a:rPr lang="en-US" altLang="zh-CN" sz="1600" b="1" dirty="0">
                <a:latin typeface="+mn-ea"/>
              </a:rPr>
              <a:t>?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答：</a:t>
            </a:r>
            <a:r>
              <a:rPr lang="en-US" altLang="zh-CN" sz="1600" b="1" dirty="0" err="1">
                <a:latin typeface="+mn-ea"/>
              </a:rPr>
              <a:t>strncpy</a:t>
            </a:r>
            <a:r>
              <a:rPr lang="zh-CN" altLang="en-US" sz="1600" b="1" dirty="0">
                <a:latin typeface="+mn-ea"/>
              </a:rPr>
              <a:t>超过</a:t>
            </a:r>
            <a:r>
              <a:rPr lang="en-US" altLang="zh-CN" sz="1600" b="1" dirty="0">
                <a:latin typeface="+mn-ea"/>
              </a:rPr>
              <a:t>200</a:t>
            </a:r>
            <a:r>
              <a:rPr lang="zh-CN" altLang="en-US" sz="1600" b="1" dirty="0">
                <a:latin typeface="+mn-ea"/>
              </a:rPr>
              <a:t>的部分补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替代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and white text&#10;&#10;AI-generated content may be incorrect.">
            <a:extLst>
              <a:ext uri="{FF2B5EF4-FFF2-40B4-BE49-F238E27FC236}">
                <a16:creationId xmlns:a16="http://schemas.microsoft.com/office/drawing/2014/main" id="{C735C7EE-3B27-F023-6D63-B991ECBA8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22" y="1746339"/>
            <a:ext cx="4292600" cy="635000"/>
          </a:xfrm>
          <a:prstGeom prst="rect">
            <a:avLst/>
          </a:prstGeom>
        </p:spPr>
      </p:pic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1F175B3-D970-4330-FDFB-C3099218FC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22" y="3950681"/>
            <a:ext cx="3860800" cy="1117600"/>
          </a:xfrm>
          <a:prstGeom prst="rect">
            <a:avLst/>
          </a:prstGeom>
        </p:spPr>
      </p:pic>
      <p:pic>
        <p:nvPicPr>
          <p:cNvPr id="11" name="Picture 10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8B1CA2-BF77-4E2E-6BC5-022AF9F1BF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922" y="2259415"/>
            <a:ext cx="4159250" cy="98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7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5.strncpy(char 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en-US" altLang="zh-CN" sz="1600" b="1" dirty="0">
                <a:latin typeface="+mn-ea"/>
              </a:rPr>
              <a:t>[], const char 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en-US" altLang="zh-CN" sz="1600" b="1" dirty="0">
                <a:latin typeface="+mn-ea"/>
              </a:rPr>
              <a:t>[], unsigned int 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：字符串拷贝前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个字符（深度讨论）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412513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//VS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需要</a:t>
            </a: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int main()</a:t>
            </a:r>
          </a:p>
          <a:p>
            <a:r>
              <a:rPr lang="en-US" altLang="zh-CN" sz="1200" b="1" dirty="0">
                <a:latin typeface="+mn-ea"/>
              </a:rPr>
              <a:t>{</a:t>
            </a:r>
          </a:p>
          <a:p>
            <a:r>
              <a:rPr lang="en-US" altLang="zh-CN" sz="1200" b="1" dirty="0">
                <a:latin typeface="+mn-ea"/>
              </a:rPr>
              <a:t>    int 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char a[] = "student", b[] = "hello";</a:t>
            </a:r>
          </a:p>
          <a:p>
            <a:r>
              <a:rPr lang="nn-NO" altLang="zh-CN" sz="1200" b="1" dirty="0">
                <a:latin typeface="+mn-ea"/>
              </a:rPr>
              <a:t>    for (i = 0; i &lt; 20; i++) 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en-US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strncpy</a:t>
            </a:r>
            <a:r>
              <a:rPr lang="en-US" altLang="zh-CN" sz="1200" b="1" dirty="0">
                <a:latin typeface="+mn-ea"/>
              </a:rPr>
              <a:t>(a, b, 200);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a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endParaRPr lang="nn-NO" altLang="zh-CN" sz="1200" b="1" dirty="0">
              <a:latin typeface="+mn-ea"/>
            </a:endParaRPr>
          </a:p>
          <a:p>
            <a:r>
              <a:rPr lang="nn-NO" altLang="zh-CN" sz="1200" b="1" dirty="0">
                <a:latin typeface="+mn-ea"/>
              </a:rPr>
              <a:t>    for (i = 0; i &lt; 20; i++)</a:t>
            </a:r>
            <a:r>
              <a:rPr lang="en-US" altLang="zh-CN" sz="1200" b="1" dirty="0">
                <a:solidFill>
                  <a:srgbClr val="FF0000"/>
                </a:solidFill>
                <a:latin typeface="+mn-ea"/>
              </a:rPr>
              <a:t> //20</a:t>
            </a:r>
            <a:r>
              <a:rPr lang="zh-CN" altLang="en-US" sz="1200" b="1" dirty="0">
                <a:solidFill>
                  <a:srgbClr val="FF0000"/>
                </a:solidFill>
                <a:latin typeface="+mn-ea"/>
              </a:rPr>
              <a:t>已越界，目的？</a:t>
            </a:r>
            <a:endParaRPr lang="nn-NO" altLang="zh-CN" sz="1200" b="1" dirty="0">
              <a:latin typeface="+mn-ea"/>
            </a:endParaRPr>
          </a:p>
          <a:p>
            <a:r>
              <a:rPr lang="en-US" altLang="zh-CN" sz="1200" b="1" dirty="0">
                <a:latin typeface="+mn-ea"/>
              </a:rPr>
              <a:t>    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int(a[</a:t>
            </a:r>
            <a:r>
              <a:rPr lang="en-US" altLang="zh-CN" sz="1200" b="1" dirty="0" err="1">
                <a:latin typeface="+mn-ea"/>
              </a:rPr>
              <a:t>i</a:t>
            </a:r>
            <a:r>
              <a:rPr lang="en-US" altLang="zh-CN" sz="1200" b="1" dirty="0">
                <a:latin typeface="+mn-ea"/>
              </a:rPr>
              <a:t>]) &lt;&lt; ' ';</a:t>
            </a:r>
          </a:p>
          <a:p>
            <a:r>
              <a:rPr lang="en-US" altLang="zh-CN" sz="1200" b="1" dirty="0">
                <a:latin typeface="+mn-ea"/>
              </a:rPr>
              <a:t>    </a:t>
            </a:r>
            <a:r>
              <a:rPr lang="en-US" altLang="zh-CN" sz="1200" b="1" dirty="0" err="1">
                <a:latin typeface="+mn-ea"/>
              </a:rPr>
              <a:t>cout</a:t>
            </a:r>
            <a:r>
              <a:rPr lang="en-US" altLang="zh-CN" sz="1200" b="1" dirty="0">
                <a:latin typeface="+mn-ea"/>
              </a:rPr>
              <a:t> &lt;&lt; </a:t>
            </a:r>
            <a:r>
              <a:rPr lang="en-US" altLang="zh-CN" sz="1200" b="1" dirty="0" err="1">
                <a:latin typeface="+mn-ea"/>
              </a:rPr>
              <a:t>endl</a:t>
            </a:r>
            <a:r>
              <a:rPr lang="en-US" altLang="zh-CN" sz="1200" b="1" dirty="0">
                <a:latin typeface="+mn-ea"/>
              </a:rPr>
              <a:t>;</a:t>
            </a:r>
          </a:p>
          <a:p>
            <a:r>
              <a:rPr lang="en-US" altLang="zh-CN" sz="1200" b="1" dirty="0">
                <a:latin typeface="+mn-ea"/>
              </a:rPr>
              <a:t>    return 0;</a:t>
            </a:r>
          </a:p>
          <a:p>
            <a:r>
              <a:rPr lang="en-US" altLang="zh-CN" sz="1200" b="1" dirty="0">
                <a:latin typeface="+mn-ea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超过了</a:t>
            </a:r>
            <a:r>
              <a:rPr lang="en-US" altLang="zh-CN" sz="1600" b="1" dirty="0" err="1">
                <a:latin typeface="+mn-ea"/>
              </a:rPr>
              <a:t>src</a:t>
            </a:r>
            <a:r>
              <a:rPr lang="zh-CN" altLang="en-US" sz="1600" b="1" dirty="0">
                <a:latin typeface="+mn-ea"/>
              </a:rPr>
              <a:t>的长度，则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超出的部份会复制</a:t>
            </a:r>
            <a:r>
              <a:rPr lang="en-US" altLang="zh-CN" sz="1600" b="1" dirty="0">
                <a:latin typeface="+mn-ea"/>
              </a:rPr>
              <a:t>0</a:t>
            </a:r>
            <a:r>
              <a:rPr lang="zh-CN" altLang="en-US" sz="1600" b="1" dirty="0">
                <a:latin typeface="+mn-ea"/>
              </a:rPr>
              <a:t>来载入</a:t>
            </a:r>
            <a:r>
              <a:rPr lang="en-US" altLang="zh-CN" sz="1600" b="1" dirty="0" err="1">
                <a:latin typeface="+mn-ea"/>
              </a:rPr>
              <a:t>dst</a:t>
            </a:r>
            <a:r>
              <a:rPr lang="zh-CN" altLang="en-US" sz="1600" b="1" dirty="0">
                <a:latin typeface="+mn-ea"/>
              </a:rPr>
              <a:t>数组</a:t>
            </a:r>
            <a:r>
              <a:rPr lang="en-US" altLang="zh-CN" sz="1600" b="1" dirty="0">
                <a:latin typeface="+mn-ea"/>
              </a:rPr>
              <a:t>___</a:t>
            </a:r>
            <a:r>
              <a:rPr lang="zh-CN" altLang="en-US" sz="1600" b="1" dirty="0">
                <a:latin typeface="+mn-ea"/>
              </a:rPr>
              <a:t>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en-US" altLang="zh-CN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758" y="1263316"/>
            <a:ext cx="447092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VS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Dev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下程序的运行结果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530A13-2990-44D7-8623-99CF7172416F}"/>
              </a:ext>
            </a:extLst>
          </p:cNvPr>
          <p:cNvSpPr/>
          <p:nvPr/>
        </p:nvSpPr>
        <p:spPr bwMode="auto">
          <a:xfrm>
            <a:off x="2995863" y="1792705"/>
            <a:ext cx="1636295" cy="673769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同上例，</a:t>
            </a:r>
            <a:endParaRPr kumimoji="1" lang="en-US" altLang="zh-CN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数组越界到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20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Picture 3" descr="A black and white text&#10;&#10;AI-generated content may be incorrect.">
            <a:extLst>
              <a:ext uri="{FF2B5EF4-FFF2-40B4-BE49-F238E27FC236}">
                <a16:creationId xmlns:a16="http://schemas.microsoft.com/office/drawing/2014/main" id="{3D3EB600-5B02-4984-40FD-C5830FE36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758" y="1703910"/>
            <a:ext cx="4216400" cy="584200"/>
          </a:xfrm>
          <a:prstGeom prst="rect">
            <a:avLst/>
          </a:prstGeom>
        </p:spPr>
      </p:pic>
      <p:pic>
        <p:nvPicPr>
          <p:cNvPr id="10" name="Picture 9" descr="A black screen with numbers&#10;&#10;AI-generated content may be incorrect.">
            <a:extLst>
              <a:ext uri="{FF2B5EF4-FFF2-40B4-BE49-F238E27FC236}">
                <a16:creationId xmlns:a16="http://schemas.microsoft.com/office/drawing/2014/main" id="{8E2DC826-48D5-8DD4-A7F4-8915073D9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709" y="2259013"/>
            <a:ext cx="6229618" cy="928978"/>
          </a:xfrm>
          <a:prstGeom prst="rect">
            <a:avLst/>
          </a:prstGeom>
        </p:spPr>
      </p:pic>
      <p:pic>
        <p:nvPicPr>
          <p:cNvPr id="12" name="Picture 1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5B6B1C05-4237-05D8-43AA-6CB8E335B1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4709" y="3743094"/>
            <a:ext cx="6337300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140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129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：字符串比较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   char str1[] = "house", str2[]  = 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str3[] = "abcd",  str4[]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str5[]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str6[]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str7[]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str8[] 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str9[]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",  str10[] =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abcd</a:t>
            </a:r>
            <a:r>
              <a:rPr kumimoji="1" lang="en-US" altLang="zh-CN" sz="1600" b="1" dirty="0">
                <a:solidFill>
                  <a:srgbClr val="3333CC"/>
                </a:solidFill>
                <a:latin typeface="+mn-ea"/>
              </a:rPr>
              <a:t>\0efgh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(str3, str4)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(str5, str6)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(str7, str8)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(str9, str10)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问题：两个字符串相等的条件是？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答：字符串中</a:t>
            </a:r>
            <a:r>
              <a:rPr lang="en-US" altLang="zh-CN" sz="1600" b="1" dirty="0">
                <a:latin typeface="+mn-ea"/>
              </a:rPr>
              <a:t>\0</a:t>
            </a:r>
            <a:r>
              <a:rPr lang="zh-CN" altLang="en-US" sz="1600" b="1" dirty="0">
                <a:latin typeface="+mn-ea"/>
              </a:rPr>
              <a:t>前的字符排列种类与数量完全相同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52D88FA6-D121-1D61-9C4C-C28AF7B56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4066" y="1718510"/>
            <a:ext cx="1299928" cy="278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232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：字符串比较（另一种形式）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", str2[]="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abcde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 =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strcmp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(str1, str2);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if (k==0)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=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 if (k&lt;0)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&lt;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else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"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1 &gt;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串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2"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问题：给出两个字符串比较的执行过程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答：先比较第一位字典序大小，</a:t>
            </a:r>
            <a:r>
              <a:rPr lang="en-US" altLang="zh-CN" sz="1600" b="1" dirty="0">
                <a:latin typeface="+mn-ea"/>
              </a:rPr>
              <a:t>a=a,</a:t>
            </a:r>
            <a:r>
              <a:rPr lang="zh-CN" altLang="en-US" sz="1600" b="1" dirty="0">
                <a:latin typeface="+mn-ea"/>
              </a:rPr>
              <a:t>然后第二位</a:t>
            </a:r>
            <a:r>
              <a:rPr lang="en-US" altLang="zh-CN" sz="1600" b="1" dirty="0">
                <a:latin typeface="+mn-ea"/>
              </a:rPr>
              <a:t>b=b, </a:t>
            </a:r>
            <a:r>
              <a:rPr lang="zh-CN" altLang="en-US" sz="1600" b="1" dirty="0">
                <a:latin typeface="+mn-ea"/>
              </a:rPr>
              <a:t>第三位</a:t>
            </a:r>
            <a:r>
              <a:rPr lang="en-US" altLang="zh-CN" sz="1600" b="1" dirty="0">
                <a:latin typeface="+mn-ea"/>
              </a:rPr>
              <a:t>c=c</a:t>
            </a:r>
            <a:r>
              <a:rPr lang="zh-CN" altLang="en-US" sz="1600" b="1" dirty="0">
                <a:latin typeface="+mn-ea"/>
              </a:rPr>
              <a:t>，第四位</a:t>
            </a:r>
            <a:r>
              <a:rPr lang="en-US" altLang="zh-CN" sz="1600" b="1" dirty="0">
                <a:latin typeface="+mn-ea"/>
              </a:rPr>
              <a:t>d=d,</a:t>
            </a:r>
            <a:r>
              <a:rPr lang="zh-CN" altLang="en-US" sz="1600" b="1" dirty="0">
                <a:latin typeface="+mn-ea"/>
              </a:rPr>
              <a:t>第五位</a:t>
            </a:r>
            <a:r>
              <a:rPr lang="en-US" altLang="zh-CN" sz="1600" b="1" dirty="0">
                <a:latin typeface="+mn-ea"/>
              </a:rPr>
              <a:t>\0&lt;e,</a:t>
            </a: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因此串</a:t>
            </a:r>
            <a:r>
              <a:rPr lang="en-US" altLang="zh-CN" sz="1600" b="1" dirty="0">
                <a:latin typeface="+mn-ea"/>
              </a:rPr>
              <a:t>1&lt;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2</a:t>
            </a: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97245F-C948-3502-55FE-995BAB2C77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318" y="2017299"/>
            <a:ext cx="2509691" cy="141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528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6.strcmp(const char s1[], const char s2[])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：字符串比较（编译不错，但运行结果与期望不符合）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</a:rPr>
              <a:t>    char str1[]="house", str2[]="horse";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int k;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k = str1 &lt; str2;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&lt;&lt; k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itchFamily="2" charset="-122"/>
                <a:ea typeface="宋体" pitchFamily="2" charset="-122"/>
              </a:rPr>
              <a:t>}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这个程序的运行结果是表示</a:t>
            </a:r>
            <a:r>
              <a:rPr lang="en-US" altLang="zh-CN" sz="1600" b="1" dirty="0">
                <a:latin typeface="+mn-ea"/>
              </a:rPr>
              <a:t>str1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str2</a:t>
            </a:r>
            <a:r>
              <a:rPr lang="zh-CN" altLang="en-US" sz="1600" b="1" dirty="0">
                <a:latin typeface="+mn-ea"/>
              </a:rPr>
              <a:t>的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所在的内存地址</a:t>
            </a:r>
            <a:r>
              <a:rPr lang="en-US" altLang="zh-CN" sz="1600" b="1" dirty="0">
                <a:latin typeface="+mn-ea"/>
              </a:rPr>
              <a:t>__</a:t>
            </a:r>
            <a:r>
              <a:rPr lang="zh-CN" altLang="en-US" sz="1600" b="1" dirty="0">
                <a:latin typeface="+mn-ea"/>
              </a:rPr>
              <a:t>进行比较。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endParaRPr lang="zh-CN" altLang="en-US" sz="1600" b="1" dirty="0">
              <a:latin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的内容互换，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str1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和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都置为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"house",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869779-027F-356B-E47F-6A827738E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664" y="1636296"/>
            <a:ext cx="889000" cy="6223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E7F7AEF-92C4-1B3F-2627-1E319B056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36" y="3028315"/>
            <a:ext cx="660400" cy="749300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13EB295-089E-A687-2552-A61DFC0AA4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836" y="4450956"/>
            <a:ext cx="6985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45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功    能：比较字符串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和字符串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个字符的大小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输入参数：存放字符串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s1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   </a:t>
            </a:r>
            <a:r>
              <a:rPr lang="zh-CN" altLang="en-US" sz="1600" b="1" dirty="0">
                <a:latin typeface="+mn-ea"/>
              </a:rPr>
              <a:t>存放字符串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zh-CN" altLang="en-US" sz="1600" b="1" dirty="0">
                <a:latin typeface="+mn-ea"/>
              </a:rPr>
              <a:t>的字符数组</a:t>
            </a:r>
            <a:r>
              <a:rPr lang="en-US" altLang="zh-CN" sz="1600" b="1" dirty="0">
                <a:latin typeface="+mn-ea"/>
              </a:rPr>
              <a:t>s2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要比较的长度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只读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latin typeface="+mn-ea"/>
              </a:rPr>
              <a:t>返 回 值：整型值</a:t>
            </a:r>
            <a:r>
              <a:rPr lang="en-US" altLang="zh-CN" sz="1600" b="1" dirty="0">
                <a:latin typeface="+mn-ea"/>
              </a:rPr>
              <a:t>(0:</a:t>
            </a:r>
            <a:r>
              <a:rPr lang="zh-CN" altLang="en-US" sz="1600" b="1" dirty="0">
                <a:latin typeface="+mn-ea"/>
              </a:rPr>
              <a:t>相等  </a:t>
            </a:r>
            <a:r>
              <a:rPr lang="en-US" altLang="zh-CN" sz="1600" b="1" dirty="0">
                <a:latin typeface="+mn-ea"/>
              </a:rPr>
              <a:t>&gt;0: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大  </a:t>
            </a:r>
            <a:r>
              <a:rPr lang="en-US" altLang="zh-CN" sz="1600" b="1" dirty="0">
                <a:latin typeface="+mn-ea"/>
              </a:rPr>
              <a:t>&lt;0:</a:t>
            </a:r>
            <a:r>
              <a:rPr lang="zh-CN" altLang="en-US" sz="1600" b="1" dirty="0">
                <a:latin typeface="+mn-ea"/>
              </a:rPr>
              <a:t>串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小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55881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常用的字符串处理函数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7.strncmp(const char s1[], const char s2[],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const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unsigned int</a:t>
            </a:r>
            <a:r>
              <a:rPr lang="zh-CN" altLang="en-US" sz="1600" b="1" dirty="0">
                <a:latin typeface="+mn-ea"/>
              </a:rPr>
              <a:t> </a:t>
            </a:r>
            <a:r>
              <a:rPr lang="en-US" altLang="zh-CN" sz="1600" b="1" dirty="0">
                <a:latin typeface="+mn-ea"/>
              </a:rPr>
              <a:t>n)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：字符串比较前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个字符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D164D51-A4CB-4D32-8D82-EF4E2067E9D6}"/>
              </a:ext>
            </a:extLst>
          </p:cNvPr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charset="0"/>
                <a:ea typeface="宋体" pitchFamily="2" charset="-122"/>
              </a:rPr>
              <a:t>本页需填写答案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22498D5-1DDF-473C-A5FE-9B49A2786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1263316"/>
            <a:ext cx="5605019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cstring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de-DE" altLang="zh-CN" sz="1600" b="1" dirty="0">
                <a:solidFill>
                  <a:srgbClr val="000000"/>
                </a:solidFill>
                <a:latin typeface="+mn-ea"/>
              </a:rPr>
              <a:t>    char str1[] = "abcd",  str2[]  = "abcde";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3)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4)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5)  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strncmp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(str1, str2, 100)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A01A97C-F98F-4774-9B2B-260540420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623" y="5221704"/>
            <a:ext cx="8596064" cy="12682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ts val="672"/>
              </a:spcBef>
            </a:pPr>
            <a:r>
              <a:rPr lang="zh-CN" altLang="en-US" sz="1600" b="1" dirty="0">
                <a:latin typeface="+mn-ea"/>
              </a:rPr>
              <a:t>问题：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小于短串长度时，则比较到</a:t>
            </a:r>
            <a:r>
              <a:rPr lang="en-US" altLang="zh-CN" sz="1600" b="1" dirty="0">
                <a:latin typeface="+mn-ea"/>
              </a:rPr>
              <a:t>_________</a:t>
            </a:r>
            <a:r>
              <a:rPr lang="zh-CN" altLang="en-US" sz="1600" b="1" dirty="0">
                <a:latin typeface="+mn-ea"/>
              </a:rPr>
              <a:t>字符串从左往右第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位</a:t>
            </a:r>
            <a:r>
              <a:rPr lang="en-US" altLang="zh-CN" sz="1600" b="1" dirty="0">
                <a:latin typeface="+mn-ea"/>
              </a:rPr>
              <a:t>_________</a:t>
            </a:r>
            <a:r>
              <a:rPr lang="zh-CN" altLang="en-US" sz="1600" b="1" dirty="0">
                <a:latin typeface="+mn-ea"/>
              </a:rPr>
              <a:t>。</a:t>
            </a: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、当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大于等于短串长度时，则比较到</a:t>
            </a:r>
            <a:r>
              <a:rPr lang="en-US" altLang="zh-CN" sz="1600" b="1" dirty="0">
                <a:latin typeface="+mn-ea"/>
              </a:rPr>
              <a:t>______</a:t>
            </a:r>
            <a:r>
              <a:rPr lang="zh-CN" altLang="en-US" sz="1600" b="1" dirty="0">
                <a:latin typeface="+mn-ea"/>
              </a:rPr>
              <a:t>长串末尾</a:t>
            </a:r>
            <a:r>
              <a:rPr lang="en-US" altLang="zh-CN" sz="1600" b="1" dirty="0">
                <a:latin typeface="+mn-ea"/>
              </a:rPr>
              <a:t>_______</a:t>
            </a:r>
            <a:r>
              <a:rPr lang="zh-CN" altLang="en-US" sz="1600" b="1" dirty="0">
                <a:latin typeface="+mn-ea"/>
              </a:rPr>
              <a:t>为止。</a:t>
            </a:r>
            <a:endParaRPr lang="en-US" altLang="zh-CN" sz="1600" b="1" dirty="0">
              <a:latin typeface="+mn-ea"/>
            </a:endParaRPr>
          </a:p>
          <a:p>
            <a:pPr>
              <a:spcBef>
                <a:spcPts val="672"/>
              </a:spcBef>
            </a:pP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n</a:t>
            </a:r>
            <a:r>
              <a:rPr lang="zh-CN" altLang="en-US" sz="1600" b="1" dirty="0">
                <a:latin typeface="+mn-ea"/>
              </a:rPr>
              <a:t>超过长串的长度，则比较到</a:t>
            </a:r>
            <a:r>
              <a:rPr lang="en-US" altLang="zh-CN" sz="1600" b="1" dirty="0">
                <a:latin typeface="+mn-ea"/>
              </a:rPr>
              <a:t>_______</a:t>
            </a:r>
            <a:r>
              <a:rPr lang="zh-CN" altLang="en-US" sz="1600" b="1">
                <a:latin typeface="+mn-ea"/>
              </a:rPr>
              <a:t>长串末尾</a:t>
            </a:r>
            <a:r>
              <a:rPr lang="en-US" altLang="zh-CN" sz="1600" b="1">
                <a:latin typeface="+mn-ea"/>
              </a:rPr>
              <a:t>________</a:t>
            </a:r>
            <a:r>
              <a:rPr lang="zh-CN" altLang="en-US" sz="1600" b="1" dirty="0">
                <a:latin typeface="+mn-ea"/>
              </a:rPr>
              <a:t>为止。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B2248B6-03E4-4DCC-B63C-E19DF9300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0642" y="1263316"/>
            <a:ext cx="2991045" cy="39583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//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将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str2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也置为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  <a:r>
              <a:rPr kumimoji="1" lang="en-US" altLang="zh-CN" sz="1600" b="1" dirty="0" err="1">
                <a:latin typeface="宋体" pitchFamily="2" charset="-122"/>
                <a:ea typeface="宋体" pitchFamily="2" charset="-122"/>
              </a:rPr>
              <a:t>abcd</a:t>
            </a: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"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宋体" pitchFamily="2" charset="-122"/>
                <a:ea typeface="宋体" pitchFamily="2" charset="-122"/>
              </a:rPr>
              <a:t>  </a:t>
            </a:r>
            <a:r>
              <a:rPr kumimoji="1" lang="zh-CN" altLang="en-US" sz="1600" b="1" dirty="0">
                <a:latin typeface="宋体" pitchFamily="2" charset="-122"/>
                <a:ea typeface="宋体" pitchFamily="2" charset="-122"/>
              </a:rPr>
              <a:t>给出程序的运行结果</a:t>
            </a: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宋体" pitchFamily="2" charset="-122"/>
              <a:ea typeface="宋体" pitchFamily="2" charset="-122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779C5A1-77C5-9552-EA96-E3733332E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5624" y="1731403"/>
            <a:ext cx="774700" cy="12573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1C2DBF-1608-9A39-2971-2B3935078E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624" y="3785581"/>
            <a:ext cx="9017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04186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4432</Words>
  <Application>Microsoft Macintosh PowerPoint</Application>
  <PresentationFormat>Widescreen</PresentationFormat>
  <Paragraphs>670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等线</vt:lpstr>
      <vt:lpstr>宋体</vt:lpstr>
      <vt:lpstr>Times New Roman</vt:lpstr>
      <vt:lpstr>默认设计模板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Tonhie Xavier</cp:lastModifiedBy>
  <cp:revision>77</cp:revision>
  <dcterms:created xsi:type="dcterms:W3CDTF">2020-08-13T13:39:53Z</dcterms:created>
  <dcterms:modified xsi:type="dcterms:W3CDTF">2025-05-07T08:11:58Z</dcterms:modified>
</cp:coreProperties>
</file>