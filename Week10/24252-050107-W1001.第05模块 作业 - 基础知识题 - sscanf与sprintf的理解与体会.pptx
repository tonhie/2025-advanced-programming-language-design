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5"/>
  </p:notesMasterIdLst>
  <p:sldIdLst>
    <p:sldId id="552" r:id="rId2"/>
    <p:sldId id="1309" r:id="rId3"/>
    <p:sldId id="644" r:id="rId4"/>
    <p:sldId id="558" r:id="rId5"/>
    <p:sldId id="1241" r:id="rId6"/>
    <p:sldId id="1240" r:id="rId7"/>
    <p:sldId id="645" r:id="rId8"/>
    <p:sldId id="1242" r:id="rId9"/>
    <p:sldId id="1243" r:id="rId10"/>
    <p:sldId id="1244" r:id="rId11"/>
    <p:sldId id="1245" r:id="rId12"/>
    <p:sldId id="1246" r:id="rId13"/>
    <p:sldId id="124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19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74422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返回值是输出字符的个数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字符数组要有足够空间容纳输出的数据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否则越界错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printf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输入地址表列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返回值是正确读入的输入数据的个数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scanf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21064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"k=%-4d*pi=%.2f#",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5E9536-864A-4E5B-A6D4-1D9845D6239A}"/>
              </a:ext>
            </a:extLst>
          </p:cNvPr>
          <p:cNvSpPr/>
          <p:nvPr/>
        </p:nvSpPr>
        <p:spPr bwMode="auto">
          <a:xfrm>
            <a:off x="7451124" y="1244869"/>
            <a:ext cx="4385741" cy="12511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、本作业的所有程序，均在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.c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方式下运行，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后续不再提示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、认真阅读第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!!!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270E034-F97D-5EDF-8F31-7E130C618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074" y="5266177"/>
            <a:ext cx="23241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"k=%6dpi=%10.2f",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的返回值是：输出字符串的长度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4" name="Picture 3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1148C751-3C91-50CA-4ABD-0FCEC9060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119" y="4711430"/>
            <a:ext cx="30099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2008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"k=%-4d*pi=%.2f#",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1/2/3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使用时对字符数组的要求是：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字符数组容量大小必须大于格式化的字符串所需容量的大小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F3CC3A-8398-420E-B4E4-E7FBDE23FAE0}"/>
              </a:ext>
            </a:extLst>
          </p:cNvPr>
          <p:cNvSpPr/>
          <p:nvPr/>
        </p:nvSpPr>
        <p:spPr bwMode="auto">
          <a:xfrm>
            <a:off x="5295014" y="1244870"/>
            <a:ext cx="1562985" cy="477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VS+Dev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82B2896D-2C55-DD09-A057-7611AAB2B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534" y="4987637"/>
            <a:ext cx="4152900" cy="596900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147A12-C578-D378-A10D-C8521A159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434" y="4835237"/>
            <a:ext cx="22860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762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 = "Hello 123 11.2",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s[10];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"%s %d 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", s,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, &amp;d);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("s=%s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=%d d=%f\n", s,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, d);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C3800EBD-7E0F-2D4F-9482-41A89EEE5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126" y="5187680"/>
            <a:ext cx="27051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5740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的返回值是：正确输入的个数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Picture 2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45001A48-09AF-C541-B0FA-DC5F1B989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281" y="4571781"/>
            <a:ext cx="21209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1313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&amp;j,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);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顺序反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不可以）被重复读取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FE04D9-7397-E877-C8D3-327921134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05" y="4793544"/>
            <a:ext cx="14351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078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ni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str,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=%d j=%d",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("str=\"%s\"\n",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不可以）被替换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5BF509-66AF-A73F-C988-253BBB313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321" y="4660519"/>
            <a:ext cx="1854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024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244870"/>
            <a:ext cx="6312332" cy="41550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x, w;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</a:t>
            </a:r>
            <a:r>
              <a:rPr lang="zh-CN" altLang="en-US" sz="1600" b="1" dirty="0">
                <a:latin typeface="+mn-ea"/>
              </a:rPr>
              <a:t>请输入</a:t>
            </a:r>
            <a:r>
              <a:rPr lang="en-US" altLang="zh-CN" sz="1600" b="1" dirty="0">
                <a:latin typeface="+mn-ea"/>
              </a:rPr>
              <a:t>[1..99999]</a:t>
            </a:r>
            <a:r>
              <a:rPr lang="zh-CN" altLang="en-US" sz="1600" b="1" dirty="0">
                <a:latin typeface="+mn-ea"/>
              </a:rPr>
              <a:t>间的整数及显示宽度</a:t>
            </a:r>
            <a:r>
              <a:rPr lang="en-US" altLang="zh-CN" sz="1600" b="1" dirty="0">
                <a:latin typeface="+mn-ea"/>
              </a:rPr>
              <a:t>[6..10]\n");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("%d %d", &amp;x, &amp;w);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不考虑输入错误</a:t>
            </a: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("01234567890123456789\n");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char 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[16];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"%%%dd*\n", w);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x);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1244869"/>
            <a:ext cx="3470278" cy="41550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3*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123*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12345*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 3*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123*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12345*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AF76D0-226B-4414-9299-F8A2870CE388}"/>
              </a:ext>
            </a:extLst>
          </p:cNvPr>
          <p:cNvSpPr/>
          <p:nvPr/>
        </p:nvSpPr>
        <p:spPr bwMode="auto">
          <a:xfrm>
            <a:off x="3400080" y="5029200"/>
            <a:ext cx="3470278" cy="3707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别去网上瞎查，认真阅读第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</a:p>
        </p:txBody>
      </p:sp>
    </p:spTree>
    <p:extLst>
      <p:ext uri="{BB962C8B-B14F-4D97-AF65-F5344CB8AC3E}">
        <p14:creationId xmlns:p14="http://schemas.microsoft.com/office/powerpoint/2010/main" val="260741634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：键盘输入一个长度</a:t>
            </a:r>
            <a:r>
              <a:rPr lang="en-US" altLang="zh-CN" sz="1600" b="1" dirty="0">
                <a:latin typeface="+mn-ea"/>
              </a:rPr>
              <a:t>[3..12]</a:t>
            </a:r>
            <a:r>
              <a:rPr lang="zh-CN" altLang="en-US" sz="1600" b="1" dirty="0">
                <a:latin typeface="+mn-ea"/>
              </a:rPr>
              <a:t>间字符串，再输入显示宽度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+1..20]</a:t>
            </a:r>
            <a:r>
              <a:rPr lang="zh-CN" altLang="en-US" sz="1600" b="1" dirty="0">
                <a:latin typeface="+mn-ea"/>
              </a:rPr>
              <a:t>，左对齐输出这个字符串（最后加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注：输入宽度小于等于串长则置为串长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，不考虑其它输入错误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#define _CRT_SECURE_NO_WARNINGS</a:t>
            </a:r>
          </a:p>
          <a:p>
            <a:r>
              <a:rPr kumimoji="1" lang="en-US" altLang="zh-CN" sz="1600" b="1" dirty="0">
                <a:latin typeface="+mn-ea"/>
              </a:rPr>
              <a:t>#include &lt;</a:t>
            </a:r>
            <a:r>
              <a:rPr kumimoji="1" lang="en-US" altLang="zh-CN" sz="1600" b="1" dirty="0" err="1">
                <a:latin typeface="+mn-ea"/>
              </a:rPr>
              <a:t>stdio.h</a:t>
            </a:r>
            <a:r>
              <a:rPr kumimoji="1" lang="en-US" altLang="zh-CN" sz="1600" b="1" dirty="0">
                <a:latin typeface="+mn-ea"/>
              </a:rPr>
              <a:t>&gt;</a:t>
            </a:r>
          </a:p>
          <a:p>
            <a:endParaRPr kumimoji="1"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r>
              <a:rPr kumimoji="1" lang="en-US" altLang="zh-CN" sz="1600" b="1" dirty="0">
                <a:latin typeface="+mn-ea"/>
              </a:rPr>
              <a:t>{</a:t>
            </a:r>
          </a:p>
          <a:p>
            <a:r>
              <a:rPr kumimoji="1" lang="en-US" altLang="zh-CN" sz="1600" b="1" dirty="0">
                <a:latin typeface="+mn-ea"/>
              </a:rPr>
              <a:t>    char str[13];</a:t>
            </a:r>
          </a:p>
          <a:p>
            <a:r>
              <a:rPr kumimoji="1" lang="en-US" altLang="zh-CN" sz="1600" b="1" dirty="0">
                <a:latin typeface="+mn-ea"/>
              </a:rPr>
              <a:t>    int w;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</a:t>
            </a:r>
            <a:r>
              <a:rPr kumimoji="1" lang="zh-CN" altLang="en-US" sz="1600" b="1" dirty="0">
                <a:latin typeface="+mn-ea"/>
              </a:rPr>
              <a:t>请输入长度</a:t>
            </a:r>
            <a:r>
              <a:rPr kumimoji="1" lang="en-US" altLang="zh-CN" sz="1600" b="1" dirty="0">
                <a:latin typeface="+mn-ea"/>
              </a:rPr>
              <a:t>[3..12]</a:t>
            </a:r>
            <a:r>
              <a:rPr kumimoji="1" lang="zh-CN" altLang="en-US" sz="1600" b="1" dirty="0">
                <a:latin typeface="+mn-ea"/>
              </a:rPr>
              <a:t>间的字符串及显示宽度</a:t>
            </a:r>
            <a:r>
              <a:rPr kumimoji="1" lang="en-US" altLang="zh-CN" sz="1600" b="1" dirty="0">
                <a:latin typeface="+mn-ea"/>
              </a:rPr>
              <a:t>[len+1..20]\n");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en-US" altLang="zh-CN" sz="1600" b="1" dirty="0">
                <a:latin typeface="+mn-ea"/>
              </a:rPr>
              <a:t>("%</a:t>
            </a:r>
            <a:r>
              <a:rPr kumimoji="1" lang="en-US" altLang="zh-CN" sz="1600" b="1" dirty="0" err="1">
                <a:latin typeface="+mn-ea"/>
              </a:rPr>
              <a:t>s%d</a:t>
            </a:r>
            <a:r>
              <a:rPr kumimoji="1" lang="en-US" altLang="zh-CN" sz="1600" b="1" dirty="0">
                <a:latin typeface="+mn-ea"/>
              </a:rPr>
              <a:t>", str, &amp;w);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("01234567890123456789\n"); //</a:t>
            </a:r>
            <a:r>
              <a:rPr kumimoji="1" lang="zh-CN" altLang="en-US" sz="1600" b="1" dirty="0">
                <a:latin typeface="+mn-ea"/>
              </a:rPr>
              <a:t>标尺</a:t>
            </a:r>
          </a:p>
          <a:p>
            <a:endParaRPr kumimoji="1" lang="zh-CN" altLang="en-US" sz="1600" b="1" dirty="0">
              <a:latin typeface="+mn-ea"/>
            </a:endParaRPr>
          </a:p>
          <a:p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char </a:t>
            </a:r>
            <a:r>
              <a:rPr kumimoji="1" lang="en-US" altLang="zh-CN" sz="1600" b="1" dirty="0" err="1">
                <a:latin typeface="+mn-ea"/>
              </a:rPr>
              <a:t>fmt</a:t>
            </a:r>
            <a:r>
              <a:rPr kumimoji="1" lang="en-US" altLang="zh-CN" sz="1600" b="1" dirty="0">
                <a:latin typeface="+mn-ea"/>
              </a:rPr>
              <a:t>[16];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sprintf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en-US" altLang="zh-CN" sz="1600" b="1" dirty="0" err="1">
                <a:latin typeface="+mn-ea"/>
              </a:rPr>
              <a:t>fmt</a:t>
            </a:r>
            <a:r>
              <a:rPr kumimoji="1" lang="en-US" altLang="zh-CN" sz="1600" b="1" dirty="0">
                <a:latin typeface="+mn-ea"/>
              </a:rPr>
              <a:t>, "%%-%ds*", w);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en-US" altLang="zh-CN" sz="1600" b="1" dirty="0" err="1">
                <a:latin typeface="+mn-ea"/>
              </a:rPr>
              <a:t>fmt</a:t>
            </a:r>
            <a:r>
              <a:rPr kumimoji="1" lang="en-US" altLang="zh-CN" sz="1600" b="1" dirty="0">
                <a:latin typeface="+mn-ea"/>
              </a:rPr>
              <a:t>, str);</a:t>
            </a:r>
          </a:p>
          <a:p>
            <a:endParaRPr kumimoji="1"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r>
              <a:rPr kumimoji="1" lang="en-US" altLang="zh-CN" sz="1600" b="1" dirty="0">
                <a:latin typeface="+mn-ea"/>
              </a:rPr>
              <a:t>}</a:t>
            </a:r>
          </a:p>
          <a:p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2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abced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15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E76143-07C7-4C25-A3BF-0B0ECBF3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911" y="1951251"/>
            <a:ext cx="3714286" cy="65714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30E2FED-4CEE-40A9-9194-01ADD674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612" y="3160745"/>
            <a:ext cx="3685714" cy="64761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9CB0D6-EC2A-BDDE-29E5-B7A6BEE84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911" y="4295721"/>
            <a:ext cx="3019530" cy="780913"/>
          </a:xfrm>
          <a:prstGeom prst="rect">
            <a:avLst/>
          </a:prstGeom>
        </p:spPr>
      </p:pic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6A24163-39CA-B9D5-8029-DE3BBAD44D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911" y="5366682"/>
            <a:ext cx="3386959" cy="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2698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：键盘输入一个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型数据，再输入总显示宽度及小数点后的位数，右对齐输出这个字符串（最后加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#define _CRT_SECURE_NO_WARNINGS</a:t>
            </a:r>
          </a:p>
          <a:p>
            <a:r>
              <a:rPr kumimoji="1" lang="en-US" altLang="zh-CN" sz="1600" b="1" dirty="0">
                <a:latin typeface="+mn-ea"/>
              </a:rPr>
              <a:t>#include &lt;</a:t>
            </a:r>
            <a:r>
              <a:rPr kumimoji="1" lang="en-US" altLang="zh-CN" sz="1600" b="1" dirty="0" err="1">
                <a:latin typeface="+mn-ea"/>
              </a:rPr>
              <a:t>stdio.h</a:t>
            </a:r>
            <a:r>
              <a:rPr kumimoji="1" lang="en-US" altLang="zh-CN" sz="1600" b="1" dirty="0">
                <a:latin typeface="+mn-ea"/>
              </a:rPr>
              <a:t>&gt;</a:t>
            </a:r>
          </a:p>
          <a:p>
            <a:endParaRPr kumimoji="1"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r>
              <a:rPr kumimoji="1" lang="en-US" altLang="zh-CN" sz="1600" b="1" dirty="0">
                <a:latin typeface="+mn-ea"/>
              </a:rPr>
              <a:t>{</a:t>
            </a:r>
          </a:p>
          <a:p>
            <a:r>
              <a:rPr kumimoji="1" lang="en-US" altLang="zh-CN" sz="1600" b="1" dirty="0">
                <a:latin typeface="+mn-ea"/>
              </a:rPr>
              <a:t>    double num;</a:t>
            </a:r>
          </a:p>
          <a:p>
            <a:r>
              <a:rPr kumimoji="1" lang="en-US" altLang="zh-CN" sz="1600" b="1" dirty="0">
                <a:latin typeface="+mn-ea"/>
              </a:rPr>
              <a:t>    int width, precision;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</a:t>
            </a:r>
            <a:r>
              <a:rPr kumimoji="1" lang="zh-CN" altLang="en-US" sz="1600" b="1" dirty="0">
                <a:latin typeface="+mn-ea"/>
              </a:rPr>
              <a:t>请输入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型数据及显示总宽度、小数点后位数</a:t>
            </a:r>
            <a:r>
              <a:rPr kumimoji="1" lang="en-US" altLang="zh-CN" sz="1600" b="1" dirty="0">
                <a:latin typeface="+mn-ea"/>
              </a:rPr>
              <a:t>\n");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scanf</a:t>
            </a:r>
            <a:r>
              <a:rPr kumimoji="1" lang="en-US" altLang="zh-CN" sz="1600" b="1" dirty="0">
                <a:latin typeface="+mn-ea"/>
              </a:rPr>
              <a:t>("%</a:t>
            </a:r>
            <a:r>
              <a:rPr kumimoji="1" lang="en-US" altLang="zh-CN" sz="1600" b="1" dirty="0" err="1">
                <a:latin typeface="+mn-ea"/>
              </a:rPr>
              <a:t>lf%d%d</a:t>
            </a:r>
            <a:r>
              <a:rPr kumimoji="1" lang="en-US" altLang="zh-CN" sz="1600" b="1" dirty="0">
                <a:latin typeface="+mn-ea"/>
              </a:rPr>
              <a:t>", &amp;num, &amp;width, &amp;precision);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("01234567890123456789\n"); //</a:t>
            </a:r>
            <a:r>
              <a:rPr kumimoji="1" lang="zh-CN" altLang="en-US" sz="1600" b="1" dirty="0">
                <a:latin typeface="+mn-ea"/>
              </a:rPr>
              <a:t>标尺</a:t>
            </a:r>
          </a:p>
          <a:p>
            <a:endParaRPr kumimoji="1" lang="zh-CN" altLang="en-US" sz="1600" b="1" dirty="0">
              <a:latin typeface="+mn-ea"/>
            </a:endParaRPr>
          </a:p>
          <a:p>
            <a:r>
              <a:rPr kumimoji="1" lang="zh-CN" altLang="en-US" sz="1600" b="1" dirty="0">
                <a:latin typeface="+mn-ea"/>
              </a:rPr>
              <a:t>    </a:t>
            </a:r>
            <a:r>
              <a:rPr kumimoji="1" lang="en-US" altLang="zh-CN" sz="1600" b="1" dirty="0">
                <a:latin typeface="+mn-ea"/>
              </a:rPr>
              <a:t>char </a:t>
            </a:r>
            <a:r>
              <a:rPr kumimoji="1" lang="en-US" altLang="zh-CN" sz="1600" b="1" dirty="0" err="1">
                <a:latin typeface="+mn-ea"/>
              </a:rPr>
              <a:t>fmt</a:t>
            </a:r>
            <a:r>
              <a:rPr kumimoji="1" lang="en-US" altLang="zh-CN" sz="1600" b="1" dirty="0">
                <a:latin typeface="+mn-ea"/>
              </a:rPr>
              <a:t>[21];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sprintf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en-US" altLang="zh-CN" sz="1600" b="1" dirty="0" err="1">
                <a:latin typeface="+mn-ea"/>
              </a:rPr>
              <a:t>fmt</a:t>
            </a:r>
            <a:r>
              <a:rPr kumimoji="1" lang="en-US" altLang="zh-CN" sz="1600" b="1" dirty="0">
                <a:latin typeface="+mn-ea"/>
              </a:rPr>
              <a:t>, "%%%d.%</a:t>
            </a:r>
            <a:r>
              <a:rPr kumimoji="1" lang="en-US" altLang="zh-CN" sz="1600" b="1" dirty="0" err="1">
                <a:latin typeface="+mn-ea"/>
              </a:rPr>
              <a:t>dlf</a:t>
            </a:r>
            <a:r>
              <a:rPr kumimoji="1" lang="en-US" altLang="zh-CN" sz="1600" b="1" dirty="0">
                <a:latin typeface="+mn-ea"/>
              </a:rPr>
              <a:t>*\n", width, precision);</a:t>
            </a:r>
          </a:p>
          <a:p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printf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en-US" altLang="zh-CN" sz="1600" b="1" dirty="0" err="1">
                <a:latin typeface="+mn-ea"/>
              </a:rPr>
              <a:t>fmt</a:t>
            </a:r>
            <a:r>
              <a:rPr kumimoji="1" lang="en-US" altLang="zh-CN" sz="1600" b="1" dirty="0">
                <a:latin typeface="+mn-ea"/>
              </a:rPr>
              <a:t>, num);</a:t>
            </a:r>
          </a:p>
          <a:p>
            <a:endParaRPr kumimoji="1"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r>
              <a:rPr kumimoji="1" lang="en-US" altLang="zh-CN" sz="1600" b="1" dirty="0">
                <a:latin typeface="+mn-ea"/>
              </a:rPr>
              <a:t>}</a:t>
            </a:r>
          </a:p>
          <a:p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12.34 9 5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123.456789 12 2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(3/4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的答案没问题，想不通去看第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章作业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A95598-F924-42CC-96E8-5B13C902F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683" y="2050577"/>
            <a:ext cx="3361905" cy="6380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B26179-2D6A-4BF8-A454-2DFF0846E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11" y="3160746"/>
            <a:ext cx="3419048" cy="6666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2FD8D1-0D41-4884-B424-3E5B5AB43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683" y="4426380"/>
            <a:ext cx="3438095" cy="6571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28D3B9C-4AEF-41F0-8B3E-AA8AD621E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683" y="5534875"/>
            <a:ext cx="3485714" cy="657143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07658" y="164421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</p:spTree>
    <p:extLst>
      <p:ext uri="{BB962C8B-B14F-4D97-AF65-F5344CB8AC3E}">
        <p14:creationId xmlns:p14="http://schemas.microsoft.com/office/powerpoint/2010/main" val="182973028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</TotalTime>
  <Words>2334</Words>
  <Application>Microsoft Macintosh PowerPoint</Application>
  <PresentationFormat>Widescreen</PresentationFormat>
  <Paragraphs>313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等线</vt:lpstr>
      <vt:lpstr>宋体</vt:lpstr>
      <vt:lpstr>Times New Roman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Tonhie Xavier</cp:lastModifiedBy>
  <cp:revision>70</cp:revision>
  <dcterms:created xsi:type="dcterms:W3CDTF">2020-08-13T13:39:53Z</dcterms:created>
  <dcterms:modified xsi:type="dcterms:W3CDTF">2025-05-07T12:15:13Z</dcterms:modified>
</cp:coreProperties>
</file>