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0"/>
  </p:notesMasterIdLst>
  <p:sldIdLst>
    <p:sldId id="552" r:id="rId2"/>
    <p:sldId id="1309" r:id="rId3"/>
    <p:sldId id="643" r:id="rId4"/>
    <p:sldId id="558" r:id="rId5"/>
    <p:sldId id="1238" r:id="rId6"/>
    <p:sldId id="1251" r:id="rId7"/>
    <p:sldId id="1239" r:id="rId8"/>
    <p:sldId id="1244" r:id="rId9"/>
    <p:sldId id="1240" r:id="rId10"/>
    <p:sldId id="1241" r:id="rId11"/>
    <p:sldId id="1242" r:id="rId12"/>
    <p:sldId id="1243" r:id="rId13"/>
    <p:sldId id="1246" r:id="rId14"/>
    <p:sldId id="1247" r:id="rId15"/>
    <p:sldId id="1245" r:id="rId16"/>
    <p:sldId id="1248" r:id="rId17"/>
    <p:sldId id="1250" r:id="rId18"/>
    <p:sldId id="124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59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22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37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410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068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9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516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60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87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119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64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A4F3C42-5715-4F86-8B48-9F106AD4D4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12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、完成本文档中所有的测试程序并填写运行结果，从而体会这些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的流成员函数的用法及区别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减负，不用提交，里面的成员函数学会了后续也可以用，计科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信安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大数据的同学，后续课程要用</a:t>
            </a:r>
          </a:p>
        </p:txBody>
      </p:sp>
    </p:spTree>
    <p:extLst>
      <p:ext uri="{BB962C8B-B14F-4D97-AF65-F5344CB8AC3E}">
        <p14:creationId xmlns:p14="http://schemas.microsoft.com/office/powerpoint/2010/main" val="237744222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3DA64-1F34-46A4-9B77-30180EAB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用于字符输出的流成员函数 </a:t>
            </a:r>
            <a:br>
              <a:rPr lang="zh-CN" altLang="en-US" sz="1600" b="1" dirty="0">
                <a:latin typeface="+mn-ea"/>
              </a:rPr>
            </a:b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功能：向标准输出设备输出一个字符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字符串常量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变量，输出长度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功能：向标准输出设备输出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超过串长，则输出串长）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273985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用于字符输出的流成员函数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706551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str[] = "Hello";</a:t>
            </a:r>
          </a:p>
          <a:p>
            <a:r>
              <a:rPr lang="en-US" altLang="zh-CN" sz="1600" b="1" dirty="0">
                <a:latin typeface="+mn-ea"/>
              </a:rPr>
              <a:t>    int  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nn-NO" altLang="zh-CN" sz="1600" b="1" dirty="0">
                <a:latin typeface="+mn-ea"/>
              </a:rPr>
              <a:t>    for (i = 0; i &lt; 5; i++)</a:t>
            </a:r>
          </a:p>
          <a:p>
            <a:r>
              <a:rPr lang="en-US" altLang="zh-CN" sz="1600" b="1" dirty="0">
                <a:latin typeface="+mn-ea"/>
              </a:rPr>
              <a:t>    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(str[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]);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('H').put('e').put('l').put('l').put('o').put(0x0A);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运行结果：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</p:spTree>
    <p:extLst>
      <p:ext uri="{BB962C8B-B14F-4D97-AF65-F5344CB8AC3E}">
        <p14:creationId xmlns:p14="http://schemas.microsoft.com/office/powerpoint/2010/main" val="253199926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用于字符输出的流成员函数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(s1, 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(s1, 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s2[] = { 'H', 'e', 'l', 'l', 'o' };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(s2, 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(s2, 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当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的参数是字符串</a:t>
            </a:r>
            <a:r>
              <a:rPr lang="en-US" altLang="zh-CN" sz="1600" b="1" dirty="0">
                <a:latin typeface="+mn-ea"/>
              </a:rPr>
              <a:t>(s1)</a:t>
            </a:r>
            <a:r>
              <a:rPr lang="zh-CN" altLang="en-US" sz="1600" b="1" dirty="0">
                <a:latin typeface="+mn-ea"/>
              </a:rPr>
              <a:t>，且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要写的长度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超过字符串长度时的表现：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当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的参数非字符串</a:t>
            </a:r>
            <a:r>
              <a:rPr lang="en-US" altLang="zh-CN" sz="1600" b="1" dirty="0">
                <a:latin typeface="+mn-ea"/>
              </a:rPr>
              <a:t>(s2)</a:t>
            </a:r>
            <a:r>
              <a:rPr lang="zh-CN" altLang="en-US" sz="1600" b="1" dirty="0">
                <a:latin typeface="+mn-ea"/>
              </a:rPr>
              <a:t>，且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要写的长度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超过字符串长度时的表现：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结论：用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向标准输出设备输出指定个数的字符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</a:t>
            </a:r>
            <a:r>
              <a:rPr lang="zh-CN" altLang="en-US" sz="1600" b="1" dirty="0">
                <a:latin typeface="+mn-ea"/>
              </a:rPr>
              <a:t>时，输出缓冲区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要求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不要求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是字符串</a:t>
            </a:r>
            <a:endParaRPr lang="zh-CN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964323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控制标记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   功能：设置指定的控制标记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右表为常用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cout.unsetf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控制标记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   功能：清除指定的控制标记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右表为常用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宽度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   功能：设置指定的输出宽度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   功能：设置填充字节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精度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   功能：设置浮点数的输出精度</a:t>
            </a:r>
          </a:p>
        </p:txBody>
      </p:sp>
      <p:graphicFrame>
        <p:nvGraphicFramePr>
          <p:cNvPr id="5" name="表格 11">
            <a:extLst>
              <a:ext uri="{FF2B5EF4-FFF2-40B4-BE49-F238E27FC236}">
                <a16:creationId xmlns:a16="http://schemas.microsoft.com/office/drawing/2014/main" id="{0AC3E673-0432-47AA-8DB1-BDD0A1D802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5793537"/>
              </p:ext>
            </p:extLst>
          </p:nvPr>
        </p:nvGraphicFramePr>
        <p:xfrm>
          <a:off x="4566084" y="1278106"/>
          <a:ext cx="7253585" cy="23988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67185">
                  <a:extLst>
                    <a:ext uri="{9D8B030D-6E8A-4147-A177-3AD203B41FA5}">
                      <a16:colId xmlns:a16="http://schemas.microsoft.com/office/drawing/2014/main" val="2298219816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624764447"/>
                    </a:ext>
                  </a:extLst>
                </a:gridCol>
              </a:tblGrid>
              <a:tr h="2998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控制标记</a:t>
                      </a: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作用</a:t>
                      </a: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858551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::fixed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设置浮点数以固定的小数位数显示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3469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::scientific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设置浮点数以科学计数法（即指数形式）显示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854254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::left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输出数据左对齐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189258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::right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输出数据右对齐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628640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skipws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忽略前导的空格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适用于</a:t>
                      </a:r>
                      <a:r>
                        <a:rPr lang="en-US" altLang="zh-CN" sz="1600" b="1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cin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，不适用于</a:t>
                      </a:r>
                      <a:r>
                        <a:rPr lang="en-US" altLang="zh-CN" sz="1600" b="1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cout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431080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::uppercase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在以科学计数法输出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和十六进制输出字母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时，以大写表示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23211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showpos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输出正数时，给出“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+”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号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49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65234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1813532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('$');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(12);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(' 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、默认的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设置是哪个字符？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616877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21978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、不设置默认是</a:t>
            </a:r>
            <a:r>
              <a:rPr lang="en-US" altLang="zh-CN" sz="1600" b="1" dirty="0">
                <a:latin typeface="+mn-ea"/>
              </a:rPr>
              <a:t>_____(</a:t>
            </a:r>
            <a:r>
              <a:rPr lang="zh-CN" altLang="en-US" sz="1600" b="1" dirty="0">
                <a:latin typeface="+mn-ea"/>
              </a:rPr>
              <a:t>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右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对齐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left</a:t>
            </a:r>
            <a:r>
              <a:rPr lang="zh-CN" altLang="en-US" sz="1600" b="1" dirty="0">
                <a:latin typeface="+mn-ea"/>
              </a:rPr>
              <a:t>后设置</a:t>
            </a:r>
            <a:r>
              <a:rPr lang="en-US" altLang="zh-CN" sz="1600" b="1" dirty="0">
                <a:latin typeface="+mn-ea"/>
              </a:rPr>
              <a:t>right</a:t>
            </a:r>
            <a:r>
              <a:rPr lang="zh-CN" altLang="en-US" sz="1600" b="1" dirty="0">
                <a:latin typeface="+mn-ea"/>
              </a:rPr>
              <a:t>是</a:t>
            </a:r>
            <a:r>
              <a:rPr lang="en-US" altLang="zh-CN" sz="1600" b="1" dirty="0">
                <a:latin typeface="+mn-ea"/>
              </a:rPr>
              <a:t>______(</a:t>
            </a:r>
            <a:r>
              <a:rPr lang="zh-CN" altLang="en-US" sz="1600" b="1" dirty="0">
                <a:latin typeface="+mn-ea"/>
              </a:rPr>
              <a:t>有效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无效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的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right</a:t>
            </a:r>
            <a:r>
              <a:rPr lang="zh-CN" altLang="en-US" sz="1600" b="1" dirty="0">
                <a:latin typeface="+mn-ea"/>
              </a:rPr>
              <a:t>后设置</a:t>
            </a:r>
            <a:r>
              <a:rPr lang="en-US" altLang="zh-CN" sz="1600" b="1" dirty="0">
                <a:latin typeface="+mn-ea"/>
              </a:rPr>
              <a:t>left</a:t>
            </a:r>
            <a:r>
              <a:rPr lang="zh-CN" altLang="en-US" sz="1600" b="1" dirty="0">
                <a:latin typeface="+mn-ea"/>
              </a:rPr>
              <a:t>是</a:t>
            </a:r>
            <a:r>
              <a:rPr lang="en-US" altLang="zh-CN" sz="1600" b="1" dirty="0">
                <a:latin typeface="+mn-ea"/>
              </a:rPr>
              <a:t>______(</a:t>
            </a:r>
            <a:r>
              <a:rPr lang="zh-CN" altLang="en-US" sz="1600" b="1" dirty="0">
                <a:latin typeface="+mn-ea"/>
              </a:rPr>
              <a:t>有效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无效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的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656257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cont.unsetf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_______________;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此处添句话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需用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函数名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将程序补充完整，得到期望的运行结果：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所用的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._______</a:t>
            </a:r>
            <a:r>
              <a:rPr lang="zh-CN" altLang="en-US" sz="1600" b="1" dirty="0">
                <a:latin typeface="+mn-ea"/>
              </a:rPr>
              <a:t>等价于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__________________;</a:t>
            </a: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提示：回忆并参考第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章的作业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C9A3C5-52A6-4CFD-9F43-CA2AA3C0F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158" y="1681535"/>
            <a:ext cx="1609524" cy="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6415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(3);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(20);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、不做任何设置的情况下，浮点数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默认为</a:t>
            </a:r>
            <a:r>
              <a:rPr lang="en-US" altLang="zh-CN" sz="1600" b="1" dirty="0">
                <a:latin typeface="+mn-ea"/>
              </a:rPr>
              <a:t>_____(</a:t>
            </a:r>
            <a:r>
              <a:rPr lang="zh-CN" altLang="en-US" sz="1600" b="1" dirty="0">
                <a:latin typeface="+mn-ea"/>
              </a:rPr>
              <a:t>小数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指数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方式；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不设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的输出宽度默认为</a:t>
            </a:r>
            <a:r>
              <a:rPr lang="en-US" altLang="zh-CN" sz="1600" b="1" dirty="0">
                <a:latin typeface="+mn-ea"/>
              </a:rPr>
              <a:t>_____</a:t>
            </a: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、默认情况下，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设定的宽度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是</a:t>
            </a:r>
            <a:r>
              <a:rPr lang="en-US" altLang="zh-CN" sz="1600" b="1" dirty="0">
                <a:latin typeface="+mn-ea"/>
              </a:rPr>
              <a:t>________(</a:t>
            </a:r>
            <a:r>
              <a:rPr lang="zh-CN" altLang="en-US" sz="1600" b="1" dirty="0"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、宽度</a:t>
            </a:r>
            <a:r>
              <a:rPr lang="en-US" altLang="zh-CN" sz="1600" b="1" dirty="0">
                <a:latin typeface="+mn-ea"/>
              </a:rPr>
              <a:t>______(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小数点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、如果宽度超过有效位数，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则</a:t>
            </a:r>
            <a:r>
              <a:rPr lang="en-US" altLang="zh-CN" sz="1600" b="1" dirty="0">
                <a:latin typeface="+mn-ea"/>
              </a:rPr>
              <a:t>__________(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不可以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显示，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超出有效位数</a:t>
            </a:r>
            <a:r>
              <a:rPr lang="en-US" altLang="zh-CN" sz="1600" b="1" dirty="0">
                <a:latin typeface="+mn-ea"/>
              </a:rPr>
              <a:t>________(</a:t>
            </a:r>
            <a:r>
              <a:rPr lang="zh-CN" altLang="en-US" sz="1600" b="1" dirty="0">
                <a:latin typeface="+mn-ea"/>
              </a:rPr>
              <a:t>可信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260012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cout.setf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(3);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(20);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、加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后，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默认的宽度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为</a:t>
            </a:r>
            <a:r>
              <a:rPr lang="en-US" altLang="zh-CN" sz="1600" b="1" dirty="0">
                <a:latin typeface="+mn-ea"/>
              </a:rPr>
              <a:t>___________</a:t>
            </a:r>
            <a:r>
              <a:rPr lang="zh-CN" altLang="en-US" sz="1600" b="1" dirty="0">
                <a:latin typeface="+mn-ea"/>
              </a:rPr>
              <a:t>，设定的宽度是</a:t>
            </a:r>
            <a:r>
              <a:rPr lang="en-US" altLang="zh-CN" sz="1600" b="1" dirty="0">
                <a:latin typeface="+mn-ea"/>
              </a:rPr>
              <a:t>_______</a:t>
            </a:r>
          </a:p>
          <a:p>
            <a:r>
              <a:rPr lang="en-US" altLang="zh-CN" sz="1600" b="1" dirty="0">
                <a:latin typeface="+mn-ea"/>
              </a:rPr>
              <a:t>  (</a:t>
            </a:r>
            <a:r>
              <a:rPr lang="zh-CN" altLang="en-US" sz="1600" b="1" dirty="0"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、宽度</a:t>
            </a:r>
            <a:r>
              <a:rPr lang="en-US" altLang="zh-CN" sz="1600" b="1" dirty="0">
                <a:latin typeface="+mn-ea"/>
              </a:rPr>
              <a:t>______(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小数点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、如果宽度超过有效位数，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则</a:t>
            </a:r>
            <a:r>
              <a:rPr lang="en-US" altLang="zh-CN" sz="1600" b="1" dirty="0">
                <a:latin typeface="+mn-ea"/>
              </a:rPr>
              <a:t>__________(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不可以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显示，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超出有效位数</a:t>
            </a:r>
            <a:r>
              <a:rPr lang="en-US" altLang="zh-CN" sz="1600" b="1" dirty="0">
                <a:latin typeface="+mn-ea"/>
              </a:rPr>
              <a:t>________(</a:t>
            </a:r>
            <a:r>
              <a:rPr lang="zh-CN" altLang="en-US" sz="1600" b="1" dirty="0">
                <a:latin typeface="+mn-ea"/>
              </a:rPr>
              <a:t>可信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7326958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cout.setf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(3);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(20);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、加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</a:t>
            </a:r>
            <a:r>
              <a:rPr lang="zh-CN" altLang="en-US" sz="1600" b="1" dirty="0">
                <a:latin typeface="+mn-ea"/>
              </a:rPr>
              <a:t>后，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默认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的宽度为</a:t>
            </a:r>
            <a:r>
              <a:rPr lang="en-US" altLang="zh-CN" sz="1600" b="1" dirty="0">
                <a:latin typeface="+mn-ea"/>
              </a:rPr>
              <a:t>___________</a:t>
            </a:r>
            <a:r>
              <a:rPr lang="zh-CN" altLang="en-US" sz="1600" b="1" dirty="0">
                <a:latin typeface="+mn-ea"/>
              </a:rPr>
              <a:t>，设定的宽度是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_______(</a:t>
            </a:r>
            <a:r>
              <a:rPr lang="zh-CN" altLang="en-US" sz="1600" b="1" dirty="0"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、宽度</a:t>
            </a:r>
            <a:r>
              <a:rPr lang="en-US" altLang="zh-CN" sz="1600" b="1" dirty="0">
                <a:latin typeface="+mn-ea"/>
              </a:rPr>
              <a:t>______(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小数点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、如果宽度超过有效位数，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则</a:t>
            </a:r>
            <a:r>
              <a:rPr lang="en-US" altLang="zh-CN" sz="1600" b="1" dirty="0">
                <a:latin typeface="+mn-ea"/>
              </a:rPr>
              <a:t>__________(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不可以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显示，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超出有效位数</a:t>
            </a:r>
            <a:r>
              <a:rPr lang="en-US" altLang="zh-CN" sz="1600" b="1" dirty="0">
                <a:latin typeface="+mn-ea"/>
              </a:rPr>
              <a:t>________(</a:t>
            </a:r>
            <a:r>
              <a:rPr lang="zh-CN" altLang="en-US" sz="1600" b="1" dirty="0">
                <a:latin typeface="+mn-ea"/>
              </a:rPr>
              <a:t>可信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8896403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先设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后，再设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</a:t>
            </a:r>
            <a:r>
              <a:rPr lang="zh-CN" altLang="en-US" sz="1600" b="1" dirty="0">
                <a:latin typeface="+mn-ea"/>
              </a:rPr>
              <a:t>，则输出显示</a:t>
            </a:r>
            <a:r>
              <a:rPr lang="en-US" altLang="zh-CN" sz="1600" b="1" dirty="0">
                <a:latin typeface="+mn-ea"/>
              </a:rPr>
              <a:t>________(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415489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先设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</a:t>
            </a:r>
            <a:r>
              <a:rPr lang="zh-CN" altLang="en-US" sz="1600" b="1" dirty="0">
                <a:latin typeface="+mn-ea"/>
              </a:rPr>
              <a:t>后，再设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，则输出显示</a:t>
            </a:r>
            <a:r>
              <a:rPr lang="en-US" altLang="zh-CN" sz="1600" b="1" dirty="0">
                <a:latin typeface="+mn-ea"/>
              </a:rPr>
              <a:t>________(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87761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_______________;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此处添句话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需用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函数名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将程序补充完整，得到期望的运行结果：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提示：回忆并参考第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章的作业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428F6D-22F5-4B60-9808-2A760C8F0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714" y="1586576"/>
            <a:ext cx="1333333" cy="3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9957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_______________;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此处添句话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需用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函数名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将程序补充完整，得到期望的运行结果：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提示：回忆并参考第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章的作业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4A12F9-6882-42BD-BE3B-C4B61636B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550" y="1564695"/>
            <a:ext cx="1352381" cy="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0849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571</TotalTime>
  <Words>3130</Words>
  <Application>Microsoft Office PowerPoint</Application>
  <PresentationFormat>宽屏</PresentationFormat>
  <Paragraphs>488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</vt:lpstr>
      <vt:lpstr>宋体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Larry</cp:lastModifiedBy>
  <cp:revision>70</cp:revision>
  <dcterms:created xsi:type="dcterms:W3CDTF">2020-08-13T13:39:53Z</dcterms:created>
  <dcterms:modified xsi:type="dcterms:W3CDTF">2025-04-30T16:19:57Z</dcterms:modified>
</cp:coreProperties>
</file>